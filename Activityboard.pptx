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85" r:id="rId4"/>
    <p:sldId id="264" r:id="rId5"/>
    <p:sldId id="280" r:id="rId6"/>
    <p:sldId id="279" r:id="rId7"/>
    <p:sldId id="262" r:id="rId8"/>
    <p:sldId id="282" r:id="rId9"/>
    <p:sldId id="263" r:id="rId10"/>
    <p:sldId id="267" r:id="rId11"/>
    <p:sldId id="268" r:id="rId12"/>
    <p:sldId id="269" r:id="rId13"/>
    <p:sldId id="284" r:id="rId14"/>
    <p:sldId id="283" r:id="rId15"/>
    <p:sldId id="259" r:id="rId16"/>
    <p:sldId id="287" r:id="rId17"/>
    <p:sldId id="286" r:id="rId18"/>
    <p:sldId id="276" r:id="rId19"/>
    <p:sldId id="288" r:id="rId20"/>
    <p:sldId id="289" r:id="rId21"/>
    <p:sldId id="291" r:id="rId22"/>
    <p:sldId id="290" r:id="rId23"/>
    <p:sldId id="292" r:id="rId24"/>
    <p:sldId id="274" r:id="rId25"/>
    <p:sldId id="293" r:id="rId26"/>
    <p:sldId id="272" r:id="rId27"/>
    <p:sldId id="271" r:id="rId28"/>
    <p:sldId id="275" r:id="rId29"/>
    <p:sldId id="294" r:id="rId30"/>
    <p:sldId id="265" r:id="rId31"/>
    <p:sldId id="266" r:id="rId32"/>
    <p:sldId id="257" r:id="rId33"/>
    <p:sldId id="258" r:id="rId34"/>
    <p:sldId id="270" r:id="rId35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264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3331391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6577057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992404" y="3114675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Sound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7929120" y="1746247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7929698" y="2240369"/>
            <a:ext cx="680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Volume</a:t>
            </a:r>
            <a:br>
              <a:rPr lang="de-DE" sz="1200"/>
            </a:br>
            <a:r>
              <a:rPr lang="de-DE" sz="1200"/>
              <a:t>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 flipV="1">
            <a:off x="7658100" y="1884746"/>
            <a:ext cx="271020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7658100" y="2471202"/>
            <a:ext cx="2715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  <a:endCxn id="5" idx="0"/>
          </p:cNvCxnSpPr>
          <p:nvPr/>
        </p:nvCxnSpPr>
        <p:spPr>
          <a:xfrm>
            <a:off x="5992404" y="1421564"/>
            <a:ext cx="1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1906845" y="154884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686322" y="152421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3822720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4988723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666555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8836382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714770" y="370782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6881438" y="439867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1826223" y="386621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681491" y="424558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195665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>
            <a:off x="8807807" y="3348345"/>
            <a:ext cx="9255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755990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368132" y="224341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001924" y="236222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645106" y="242348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384975" y="423709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7811542" y="424558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447005" y="338465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755394" y="338465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034421" y="3384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3799771" y="338465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649194" y="465940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594691" y="443498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3838244" y="354624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161861" y="354624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30102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4804529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308036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781154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9FA0F46-CE89-441C-AC20-A5BCDEBF6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Layout Gadget</a:t>
            </a:r>
          </a:p>
        </p:txBody>
      </p:sp>
    </p:spTree>
    <p:extLst>
      <p:ext uri="{BB962C8B-B14F-4D97-AF65-F5344CB8AC3E}">
        <p14:creationId xmlns:p14="http://schemas.microsoft.com/office/powerpoint/2010/main" val="2333306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7" y="1076069"/>
            <a:ext cx="6400362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37830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07657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7" idx="3"/>
          </p:cNvCxnSpPr>
          <p:nvPr/>
        </p:nvCxnSpPr>
        <p:spPr>
          <a:xfrm>
            <a:off x="2457597" y="1872818"/>
            <a:ext cx="6400362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7110955" y="603934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Gadget</a:t>
            </a:r>
            <a:br>
              <a:rPr lang="de-DE" sz="1050"/>
            </a:br>
            <a:r>
              <a:rPr lang="de-DE" sz="1050"/>
              <a:t>Selector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983242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53069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5"/>
          </p:cNvCxnSpPr>
          <p:nvPr/>
        </p:nvCxnSpPr>
        <p:spPr>
          <a:xfrm>
            <a:off x="7891444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7244866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>
            <a:off x="7568155" y="1518334"/>
            <a:ext cx="0" cy="3544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4214649" y="3410403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2269821"/>
            <a:ext cx="6333964" cy="18183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132677" y="4168757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54937" y="4164092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428369" y="450860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021677" y="296061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flipH="1" flipV="1">
            <a:off x="7879253" y="3544702"/>
            <a:ext cx="1" cy="379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724563" y="3383119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025441" y="3376491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1"/>
            <a:endCxn id="208" idx="2"/>
          </p:cNvCxnSpPr>
          <p:nvPr/>
        </p:nvCxnSpPr>
        <p:spPr>
          <a:xfrm rot="10800000">
            <a:off x="7997147" y="4200905"/>
            <a:ext cx="1246269" cy="146721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49674" y="3923905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187395" y="2510178"/>
            <a:ext cx="363734" cy="537138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endCxn id="8" idx="3"/>
          </p:cNvCxnSpPr>
          <p:nvPr/>
        </p:nvCxnSpPr>
        <p:spPr>
          <a:xfrm rot="10800000" flipV="1">
            <a:off x="5456850" y="2525788"/>
            <a:ext cx="3363303" cy="414929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1"/>
            <a:endCxn id="73" idx="0"/>
          </p:cNvCxnSpPr>
          <p:nvPr/>
        </p:nvCxnSpPr>
        <p:spPr>
          <a:xfrm rot="10800000" flipV="1">
            <a:off x="8602691" y="2596879"/>
            <a:ext cx="226861" cy="45148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flipV="1">
            <a:off x="8165749" y="3538074"/>
            <a:ext cx="1558" cy="398356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endCxn id="334" idx="6"/>
          </p:cNvCxnSpPr>
          <p:nvPr/>
        </p:nvCxnSpPr>
        <p:spPr>
          <a:xfrm flipH="1">
            <a:off x="6753356" y="3544702"/>
            <a:ext cx="1116000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86024" y="4210324"/>
            <a:ext cx="1778038" cy="262162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719831" y="2392884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9243415" y="4049309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6849070" y="4219211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8142460" y="5220676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99256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1657628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52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6363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506375" y="1379879"/>
            <a:ext cx="7757726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7797392" y="2812718"/>
            <a:ext cx="8274" cy="116963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7723654" y="3982346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560412" y="1477430"/>
            <a:ext cx="1542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Sound Module Board</a:t>
            </a:r>
          </a:p>
        </p:txBody>
      </p:sp>
      <p:sp>
        <p:nvSpPr>
          <p:cNvPr id="140" name="Ellipse 139">
            <a:extLst>
              <a:ext uri="{FF2B5EF4-FFF2-40B4-BE49-F238E27FC236}">
                <a16:creationId xmlns:a16="http://schemas.microsoft.com/office/drawing/2014/main" id="{E26FDBB4-88AA-471E-898A-9E497082372C}"/>
              </a:ext>
            </a:extLst>
          </p:cNvPr>
          <p:cNvSpPr/>
          <p:nvPr/>
        </p:nvSpPr>
        <p:spPr>
          <a:xfrm>
            <a:off x="7364903" y="3532871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604A2B-2E31-4D01-BA10-ACBA897060F0}"/>
              </a:ext>
            </a:extLst>
          </p:cNvPr>
          <p:cNvCxnSpPr>
            <a:cxnSpLocks/>
            <a:stCxn id="140" idx="6"/>
          </p:cNvCxnSpPr>
          <p:nvPr/>
        </p:nvCxnSpPr>
        <p:spPr>
          <a:xfrm>
            <a:off x="7652656" y="3658403"/>
            <a:ext cx="153010" cy="3239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</p:cNvCxnSpPr>
          <p:nvPr/>
        </p:nvCxnSpPr>
        <p:spPr>
          <a:xfrm>
            <a:off x="8092404" y="2812718"/>
            <a:ext cx="10148" cy="1169628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2EFEC8B-D998-4BB2-9772-3EE5188DE519}"/>
              </a:ext>
            </a:extLst>
          </p:cNvPr>
          <p:cNvCxnSpPr>
            <a:cxnSpLocks/>
            <a:stCxn id="140" idx="2"/>
            <a:endCxn id="357" idx="3"/>
          </p:cNvCxnSpPr>
          <p:nvPr/>
        </p:nvCxnSpPr>
        <p:spPr>
          <a:xfrm flipH="1" flipV="1">
            <a:off x="7083595" y="3648839"/>
            <a:ext cx="281308" cy="956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028423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7723654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633438" y="250542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6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604846" y="2891115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8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551946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517714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2860125" y="1909449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696570" y="801195"/>
            <a:ext cx="22376" cy="2311624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377685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682726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11751" y="3499034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09345" y="3708193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90" name="Textfeld 289">
            <a:extLst>
              <a:ext uri="{FF2B5EF4-FFF2-40B4-BE49-F238E27FC236}">
                <a16:creationId xmlns:a16="http://schemas.microsoft.com/office/drawing/2014/main" id="{FB4FEE0E-8F76-4342-A759-EF8C04797898}"/>
              </a:ext>
            </a:extLst>
          </p:cNvPr>
          <p:cNvSpPr txBox="1"/>
          <p:nvPr/>
        </p:nvSpPr>
        <p:spPr>
          <a:xfrm>
            <a:off x="3194630" y="313196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62433" y="3268642"/>
            <a:ext cx="1084181" cy="31118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4379" y="3268642"/>
            <a:ext cx="1417276" cy="5203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3358146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3661875"/>
            <a:ext cx="2055705" cy="680234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698652" y="3131963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125986" y="2550950"/>
            <a:ext cx="1437562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852903" y="289895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77746" y="2587940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 flipH="1">
            <a:off x="7960890" y="4259345"/>
            <a:ext cx="737" cy="25494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 flipV="1">
            <a:off x="891111" y="2846214"/>
            <a:ext cx="1508105" cy="3052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3499034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408069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sp>
        <p:nvSpPr>
          <p:cNvPr id="357" name="Textfeld 356">
            <a:extLst>
              <a:ext uri="{FF2B5EF4-FFF2-40B4-BE49-F238E27FC236}">
                <a16:creationId xmlns:a16="http://schemas.microsoft.com/office/drawing/2014/main" id="{3259B324-28F6-4CE3-925D-AD7F51F4589E}"/>
              </a:ext>
            </a:extLst>
          </p:cNvPr>
          <p:cNvSpPr txBox="1"/>
          <p:nvPr/>
        </p:nvSpPr>
        <p:spPr>
          <a:xfrm>
            <a:off x="6937721" y="356804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</p:cNvCxnSpPr>
          <p:nvPr/>
        </p:nvCxnSpPr>
        <p:spPr>
          <a:xfrm flipV="1">
            <a:off x="2670358" y="2789063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</p:cNvCxnSpPr>
          <p:nvPr/>
        </p:nvCxnSpPr>
        <p:spPr>
          <a:xfrm flipV="1">
            <a:off x="2670358" y="2893838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156926" y="4185747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5929115" y="3103856"/>
            <a:ext cx="569067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      7 (10)</a:t>
            </a:r>
          </a:p>
        </p:txBody>
      </p:sp>
      <p:sp>
        <p:nvSpPr>
          <p:cNvPr id="445" name="Textfeld 444">
            <a:extLst>
              <a:ext uri="{FF2B5EF4-FFF2-40B4-BE49-F238E27FC236}">
                <a16:creationId xmlns:a16="http://schemas.microsoft.com/office/drawing/2014/main" id="{184794FA-478A-4B54-8587-1D5C3082235D}"/>
              </a:ext>
            </a:extLst>
          </p:cNvPr>
          <p:cNvSpPr txBox="1"/>
          <p:nvPr/>
        </p:nvSpPr>
        <p:spPr>
          <a:xfrm>
            <a:off x="6766013" y="2247663"/>
            <a:ext cx="259686" cy="32316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 b="1"/>
              <a:t>5V</a:t>
            </a:r>
            <a:br>
              <a:rPr lang="de-DE" sz="1050" b="1"/>
            </a:br>
            <a:r>
              <a:rPr lang="de-DE" sz="1050" b="1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250866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222115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447513" y="2812718"/>
            <a:ext cx="3052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374422" y="2651135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5843719" y="3426422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stCxn id="482" idx="1"/>
          </p:cNvCxnSpPr>
          <p:nvPr/>
        </p:nvCxnSpPr>
        <p:spPr>
          <a:xfrm flipV="1">
            <a:off x="5947162" y="3304930"/>
            <a:ext cx="0" cy="172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7"/>
          </p:cNvCxnSpPr>
          <p:nvPr/>
        </p:nvCxnSpPr>
        <p:spPr>
          <a:xfrm flipH="1" flipV="1">
            <a:off x="6441176" y="3288522"/>
            <a:ext cx="0" cy="188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6488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1245516"/>
            <a:ext cx="19320" cy="76169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492466" y="394404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6937721" y="393481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83" idx="3"/>
          </p:cNvCxnSpPr>
          <p:nvPr/>
        </p:nvCxnSpPr>
        <p:spPr>
          <a:xfrm>
            <a:off x="7083595" y="4015602"/>
            <a:ext cx="640059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244021" y="4010295"/>
            <a:ext cx="248445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30B57D2F-5972-43B8-AE11-71DF6CB1BE22}"/>
              </a:ext>
            </a:extLst>
          </p:cNvPr>
          <p:cNvSpPr txBox="1"/>
          <p:nvPr/>
        </p:nvSpPr>
        <p:spPr>
          <a:xfrm>
            <a:off x="6542462" y="2635043"/>
            <a:ext cx="1242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5V and GND connections </a:t>
            </a:r>
            <a:br>
              <a:rPr lang="de-DE" sz="800"/>
            </a:br>
            <a:r>
              <a:rPr lang="de-DE" sz="800"/>
              <a:t>not shown in diagram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348748" y="451429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04E501EB-2BEB-4BB2-9045-F61B45F706F8}"/>
              </a:ext>
            </a:extLst>
          </p:cNvPr>
          <p:cNvSpPr txBox="1"/>
          <p:nvPr/>
        </p:nvSpPr>
        <p:spPr>
          <a:xfrm>
            <a:off x="8704128" y="4472171"/>
            <a:ext cx="2322752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Address: 0x10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Libraries: 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dfrobot</a:t>
            </a:r>
            <a:r>
              <a:rPr lang="de-DE" sz="1050"/>
              <a:t>/DFRobotDFPlayerMini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paulstoffregen/Encoder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arkhipenko/TaskScheduler</a:t>
            </a:r>
          </a:p>
        </p:txBody>
      </p:sp>
    </p:spTree>
    <p:extLst>
      <p:ext uri="{BB962C8B-B14F-4D97-AF65-F5344CB8AC3E}">
        <p14:creationId xmlns:p14="http://schemas.microsoft.com/office/powerpoint/2010/main" val="16849816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nbelegung des DFPlayer Mini">
            <a:extLst>
              <a:ext uri="{FF2B5EF4-FFF2-40B4-BE49-F238E27FC236}">
                <a16:creationId xmlns:a16="http://schemas.microsoft.com/office/drawing/2014/main" id="{802EE27A-3205-44B8-B56B-5C4229C34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6035" y="93133"/>
            <a:ext cx="3224107" cy="237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</p:spTree>
    <p:extLst>
      <p:ext uri="{BB962C8B-B14F-4D97-AF65-F5344CB8AC3E}">
        <p14:creationId xmlns:p14="http://schemas.microsoft.com/office/powerpoint/2010/main" val="1036943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</p:spTree>
    <p:extLst>
      <p:ext uri="{BB962C8B-B14F-4D97-AF65-F5344CB8AC3E}">
        <p14:creationId xmlns:p14="http://schemas.microsoft.com/office/powerpoint/2010/main" val="3429327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C744CD-49AF-4519-BBD3-98DC18C0A490}"/>
              </a:ext>
            </a:extLst>
          </p:cNvPr>
          <p:cNvSpPr/>
          <p:nvPr/>
        </p:nvSpPr>
        <p:spPr>
          <a:xfrm>
            <a:off x="2506375" y="1379879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FAABFF-D107-468E-9DAB-B2C07003CFE1}"/>
              </a:ext>
            </a:extLst>
          </p:cNvPr>
          <p:cNvSpPr/>
          <p:nvPr/>
        </p:nvSpPr>
        <p:spPr>
          <a:xfrm>
            <a:off x="2268402" y="2571204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F72438-2631-498A-93FE-E94A6B407DC9}"/>
              </a:ext>
            </a:extLst>
          </p:cNvPr>
          <p:cNvSpPr txBox="1"/>
          <p:nvPr/>
        </p:nvSpPr>
        <p:spPr>
          <a:xfrm>
            <a:off x="5221704" y="165938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C8980B2-FF0B-49EB-BF73-420EFE0B7D26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1834851" y="2709704"/>
            <a:ext cx="433551" cy="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2E8C89E6-3AE5-4D17-842E-4FD0D3BDA2ED}"/>
              </a:ext>
            </a:extLst>
          </p:cNvPr>
          <p:cNvSpPr/>
          <p:nvPr/>
        </p:nvSpPr>
        <p:spPr>
          <a:xfrm>
            <a:off x="610567" y="2411388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0F2217F-2FA8-4C90-AEF8-5405AC483490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744348" y="2709704"/>
            <a:ext cx="908749" cy="0"/>
          </a:xfrm>
          <a:prstGeom prst="line">
            <a:avLst/>
          </a:prstGeom>
          <a:ln w="73025" cmpd="tri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1F4B38DF-B6F8-4A51-9C54-A11FB8887326}"/>
              </a:ext>
            </a:extLst>
          </p:cNvPr>
          <p:cNvSpPr/>
          <p:nvPr/>
        </p:nvSpPr>
        <p:spPr>
          <a:xfrm>
            <a:off x="3653097" y="247157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PCF8574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1E5E489-8F8A-4158-B3FF-D951437445B8}"/>
              </a:ext>
            </a:extLst>
          </p:cNvPr>
          <p:cNvSpPr txBox="1"/>
          <p:nvPr/>
        </p:nvSpPr>
        <p:spPr>
          <a:xfrm>
            <a:off x="3279233" y="236632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6F1C7A7-94D3-437F-A644-0A536426AF40}"/>
              </a:ext>
            </a:extLst>
          </p:cNvPr>
          <p:cNvSpPr txBox="1"/>
          <p:nvPr/>
        </p:nvSpPr>
        <p:spPr>
          <a:xfrm>
            <a:off x="3296065" y="2184535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DEDB657-E6B6-4B35-8560-BF3A8C0B7922}"/>
              </a:ext>
            </a:extLst>
          </p:cNvPr>
          <p:cNvSpPr/>
          <p:nvPr/>
        </p:nvSpPr>
        <p:spPr>
          <a:xfrm>
            <a:off x="4138179" y="4575110"/>
            <a:ext cx="167007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Numpad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258AE5-2960-40DA-B34D-E13C021B3E83}"/>
              </a:ext>
            </a:extLst>
          </p:cNvPr>
          <p:cNvSpPr txBox="1"/>
          <p:nvPr/>
        </p:nvSpPr>
        <p:spPr>
          <a:xfrm>
            <a:off x="3311293" y="2983347"/>
            <a:ext cx="1907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SCL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A935AFC-07E8-4B54-87EF-A256C6EC14FD}"/>
              </a:ext>
            </a:extLst>
          </p:cNvPr>
          <p:cNvSpPr txBox="1"/>
          <p:nvPr/>
        </p:nvSpPr>
        <p:spPr>
          <a:xfrm>
            <a:off x="3294462" y="2801554"/>
            <a:ext cx="22442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SDA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2FE2C4-1C2E-4C93-9B71-E62C39C97F25}"/>
              </a:ext>
            </a:extLst>
          </p:cNvPr>
          <p:cNvSpPr txBox="1"/>
          <p:nvPr/>
        </p:nvSpPr>
        <p:spPr>
          <a:xfrm>
            <a:off x="956824" y="952545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F19D6DD-8014-42AF-8934-E707A82513EE}"/>
              </a:ext>
            </a:extLst>
          </p:cNvPr>
          <p:cNvSpPr/>
          <p:nvPr/>
        </p:nvSpPr>
        <p:spPr>
          <a:xfrm>
            <a:off x="4138178" y="396856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26E1315-530F-4280-B276-C6F3FE6BAFD8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4294728" y="4245559"/>
            <a:ext cx="0" cy="329551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89763073-C3BA-414E-B6A2-15128BC95EDC}"/>
              </a:ext>
            </a:extLst>
          </p:cNvPr>
          <p:cNvSpPr txBox="1"/>
          <p:nvPr/>
        </p:nvSpPr>
        <p:spPr>
          <a:xfrm>
            <a:off x="3917471" y="3751859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34" name="Verbinder: gewinkelt 470">
            <a:extLst>
              <a:ext uri="{FF2B5EF4-FFF2-40B4-BE49-F238E27FC236}">
                <a16:creationId xmlns:a16="http://schemas.microsoft.com/office/drawing/2014/main" id="{B613DC5D-5139-4BC4-971B-5598FFAA5037}"/>
              </a:ext>
            </a:extLst>
          </p:cNvPr>
          <p:cNvCxnSpPr>
            <a:cxnSpLocks/>
          </p:cNvCxnSpPr>
          <p:nvPr/>
        </p:nvCxnSpPr>
        <p:spPr>
          <a:xfrm>
            <a:off x="4248548" y="3806977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Verbinder: gewinkelt 470">
            <a:extLst>
              <a:ext uri="{FF2B5EF4-FFF2-40B4-BE49-F238E27FC236}">
                <a16:creationId xmlns:a16="http://schemas.microsoft.com/office/drawing/2014/main" id="{E4A80945-05A5-4817-BFC5-9632A7967140}"/>
              </a:ext>
            </a:extLst>
          </p:cNvPr>
          <p:cNvCxnSpPr>
            <a:cxnSpLocks/>
          </p:cNvCxnSpPr>
          <p:nvPr/>
        </p:nvCxnSpPr>
        <p:spPr>
          <a:xfrm>
            <a:off x="4400948" y="3802363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6867D794-AEDF-4514-9C4D-9D81DC9CB0E0}"/>
              </a:ext>
            </a:extLst>
          </p:cNvPr>
          <p:cNvSpPr txBox="1"/>
          <p:nvPr/>
        </p:nvSpPr>
        <p:spPr>
          <a:xfrm>
            <a:off x="4465623" y="374858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D75C4AC-1F3F-4C12-A77F-D41CB60314CD}"/>
              </a:ext>
            </a:extLst>
          </p:cNvPr>
          <p:cNvSpPr/>
          <p:nvPr/>
        </p:nvSpPr>
        <p:spPr>
          <a:xfrm>
            <a:off x="4966252" y="3994836"/>
            <a:ext cx="84200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B09F344-5FD9-452C-81C3-5661EC49E162}"/>
              </a:ext>
            </a:extLst>
          </p:cNvPr>
          <p:cNvCxnSpPr>
            <a:cxnSpLocks/>
          </p:cNvCxnSpPr>
          <p:nvPr/>
        </p:nvCxnSpPr>
        <p:spPr>
          <a:xfrm flipV="1">
            <a:off x="511632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CCC499-2291-4640-959C-98B73FED5412}"/>
              </a:ext>
            </a:extLst>
          </p:cNvPr>
          <p:cNvCxnSpPr>
            <a:cxnSpLocks/>
          </p:cNvCxnSpPr>
          <p:nvPr/>
        </p:nvCxnSpPr>
        <p:spPr>
          <a:xfrm flipV="1">
            <a:off x="520791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E18D386-CC8F-4DD3-BF70-4CF91521B236}"/>
              </a:ext>
            </a:extLst>
          </p:cNvPr>
          <p:cNvCxnSpPr>
            <a:cxnSpLocks/>
          </p:cNvCxnSpPr>
          <p:nvPr/>
        </p:nvCxnSpPr>
        <p:spPr>
          <a:xfrm flipV="1">
            <a:off x="5299508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0411E19-635A-4B91-A219-F7C78F663007}"/>
              </a:ext>
            </a:extLst>
          </p:cNvPr>
          <p:cNvCxnSpPr>
            <a:cxnSpLocks/>
          </p:cNvCxnSpPr>
          <p:nvPr/>
        </p:nvCxnSpPr>
        <p:spPr>
          <a:xfrm flipV="1">
            <a:off x="5391102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303F1C-9C26-4329-9DE1-AFD916272A94}"/>
              </a:ext>
            </a:extLst>
          </p:cNvPr>
          <p:cNvCxnSpPr>
            <a:cxnSpLocks/>
          </p:cNvCxnSpPr>
          <p:nvPr/>
        </p:nvCxnSpPr>
        <p:spPr>
          <a:xfrm flipV="1">
            <a:off x="5482696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7ADD7CC2-BD87-4AF1-9D57-E20B53549320}"/>
              </a:ext>
            </a:extLst>
          </p:cNvPr>
          <p:cNvCxnSpPr>
            <a:cxnSpLocks/>
          </p:cNvCxnSpPr>
          <p:nvPr/>
        </p:nvCxnSpPr>
        <p:spPr>
          <a:xfrm flipV="1">
            <a:off x="557429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616602B-FE5F-4145-AB10-118E3D043CF3}"/>
              </a:ext>
            </a:extLst>
          </p:cNvPr>
          <p:cNvCxnSpPr>
            <a:cxnSpLocks/>
          </p:cNvCxnSpPr>
          <p:nvPr/>
        </p:nvCxnSpPr>
        <p:spPr>
          <a:xfrm flipV="1">
            <a:off x="566588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32A9C08-C11E-46AC-B318-8F22C3BF06AE}"/>
              </a:ext>
            </a:extLst>
          </p:cNvPr>
          <p:cNvCxnSpPr>
            <a:cxnSpLocks/>
          </p:cNvCxnSpPr>
          <p:nvPr/>
        </p:nvCxnSpPr>
        <p:spPr>
          <a:xfrm flipV="1">
            <a:off x="5116320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C13E2FE-0BBC-4449-9A4A-66C5B53AF63B}"/>
              </a:ext>
            </a:extLst>
          </p:cNvPr>
          <p:cNvCxnSpPr>
            <a:cxnSpLocks/>
          </p:cNvCxnSpPr>
          <p:nvPr/>
        </p:nvCxnSpPr>
        <p:spPr>
          <a:xfrm flipV="1">
            <a:off x="5194829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0787AC6F-67EB-4D04-B4A8-6F67D923A3D4}"/>
              </a:ext>
            </a:extLst>
          </p:cNvPr>
          <p:cNvCxnSpPr>
            <a:cxnSpLocks/>
          </p:cNvCxnSpPr>
          <p:nvPr/>
        </p:nvCxnSpPr>
        <p:spPr>
          <a:xfrm flipV="1">
            <a:off x="5273338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ED501F5-9BF5-4FFB-94C3-CF6490DB619F}"/>
              </a:ext>
            </a:extLst>
          </p:cNvPr>
          <p:cNvCxnSpPr>
            <a:cxnSpLocks/>
          </p:cNvCxnSpPr>
          <p:nvPr/>
        </p:nvCxnSpPr>
        <p:spPr>
          <a:xfrm flipV="1">
            <a:off x="5351847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863C53B-A8EE-4690-9B57-40C8D8C9A0A0}"/>
              </a:ext>
            </a:extLst>
          </p:cNvPr>
          <p:cNvCxnSpPr>
            <a:cxnSpLocks/>
          </p:cNvCxnSpPr>
          <p:nvPr/>
        </p:nvCxnSpPr>
        <p:spPr>
          <a:xfrm flipV="1">
            <a:off x="5430356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0383E39-D257-4D02-A8D1-803746C1C597}"/>
              </a:ext>
            </a:extLst>
          </p:cNvPr>
          <p:cNvCxnSpPr>
            <a:cxnSpLocks/>
          </p:cNvCxnSpPr>
          <p:nvPr/>
        </p:nvCxnSpPr>
        <p:spPr>
          <a:xfrm flipV="1">
            <a:off x="5508865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6E6ADC5-D739-405C-8C10-DA0E6BB4D318}"/>
              </a:ext>
            </a:extLst>
          </p:cNvPr>
          <p:cNvCxnSpPr>
            <a:cxnSpLocks/>
          </p:cNvCxnSpPr>
          <p:nvPr/>
        </p:nvCxnSpPr>
        <p:spPr>
          <a:xfrm flipV="1">
            <a:off x="558737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8CAA905D-C85A-4DB4-963F-127C77B7E4EE}"/>
              </a:ext>
            </a:extLst>
          </p:cNvPr>
          <p:cNvCxnSpPr>
            <a:cxnSpLocks/>
          </p:cNvCxnSpPr>
          <p:nvPr/>
        </p:nvCxnSpPr>
        <p:spPr>
          <a:xfrm flipV="1">
            <a:off x="566588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elle 67">
            <a:extLst>
              <a:ext uri="{FF2B5EF4-FFF2-40B4-BE49-F238E27FC236}">
                <a16:creationId xmlns:a16="http://schemas.microsoft.com/office/drawing/2014/main" id="{8890D295-6599-49A6-98D9-6D7BF2CB8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35987"/>
              </p:ext>
            </p:extLst>
          </p:nvPr>
        </p:nvGraphicFramePr>
        <p:xfrm>
          <a:off x="7759900" y="1379879"/>
          <a:ext cx="3682035" cy="2745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345">
                  <a:extLst>
                    <a:ext uri="{9D8B030D-6E8A-4147-A177-3AD203B41FA5}">
                      <a16:colId xmlns:a16="http://schemas.microsoft.com/office/drawing/2014/main" val="212167073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41743724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1433090279"/>
                    </a:ext>
                  </a:extLst>
                </a:gridCol>
              </a:tblGrid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PCF8574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Numpad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46800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1350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91844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352837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9649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785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2189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19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unbelegt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835715"/>
                  </a:ext>
                </a:extLst>
              </a:tr>
            </a:tbl>
          </a:graphicData>
        </a:graphic>
      </p:graphicFrame>
      <p:sp>
        <p:nvSpPr>
          <p:cNvPr id="69" name="Textfeld 68">
            <a:extLst>
              <a:ext uri="{FF2B5EF4-FFF2-40B4-BE49-F238E27FC236}">
                <a16:creationId xmlns:a16="http://schemas.microsoft.com/office/drawing/2014/main" id="{4FF79E60-DFF4-4F8A-9040-1C773E5A11E3}"/>
              </a:ext>
            </a:extLst>
          </p:cNvPr>
          <p:cNvSpPr txBox="1"/>
          <p:nvPr/>
        </p:nvSpPr>
        <p:spPr>
          <a:xfrm>
            <a:off x="454051" y="60689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https://github.com/RobTillaart/I2CKeyPad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D532F82-ED92-4FC2-9A73-E95A422D9C8C}"/>
              </a:ext>
            </a:extLst>
          </p:cNvPr>
          <p:cNvSpPr txBox="1"/>
          <p:nvPr/>
        </p:nvSpPr>
        <p:spPr>
          <a:xfrm>
            <a:off x="801249" y="3198167"/>
            <a:ext cx="1512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I2CKeyPad</a:t>
            </a:r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</p:spTree>
    <p:extLst>
      <p:ext uri="{BB962C8B-B14F-4D97-AF65-F5344CB8AC3E}">
        <p14:creationId xmlns:p14="http://schemas.microsoft.com/office/powerpoint/2010/main" val="4012873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D15DD02-D861-4281-A0CC-4470170CE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  <p:graphicFrame>
        <p:nvGraphicFramePr>
          <p:cNvPr id="4" name="Tabelle 5">
            <a:extLst>
              <a:ext uri="{FF2B5EF4-FFF2-40B4-BE49-F238E27FC236}">
                <a16:creationId xmlns:a16="http://schemas.microsoft.com/office/drawing/2014/main" id="{AFC8D745-6AC8-4DBD-A3EF-7ADC4DC4AF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299609"/>
              </p:ext>
            </p:extLst>
          </p:nvPr>
        </p:nvGraphicFramePr>
        <p:xfrm>
          <a:off x="7255188" y="3327026"/>
          <a:ext cx="4920332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238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013887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2644057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Display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RST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Display Reset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779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Data / Command Selection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86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DIN (SDI, MOSI)</a:t>
                      </a:r>
                      <a:br>
                        <a:rPr lang="de-DE" sz="1200"/>
                      </a:b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SPI-Datenausgang vom ESP32 (MasterOut-SlaveIn)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697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Hardware-Taktleitung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4577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14</a:t>
                      </a:r>
                      <a:br>
                        <a:rPr lang="de-DE" sz="1200"/>
                      </a:br>
                      <a:r>
                        <a:rPr lang="de-DE" sz="1200"/>
                        <a:t>(oder 3V3)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Hintergrundbeleuchtung regelbar</a:t>
                      </a:r>
                      <a:br>
                        <a:rPr lang="de-DE" sz="1200"/>
                      </a:br>
                      <a:r>
                        <a:rPr lang="de-DE" sz="1200"/>
                        <a:t>(oder dauerhaft an)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978468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F8F507F1-D498-48E5-9771-81BFDB849012}"/>
              </a:ext>
            </a:extLst>
          </p:cNvPr>
          <p:cNvSpPr/>
          <p:nvPr/>
        </p:nvSpPr>
        <p:spPr>
          <a:xfrm>
            <a:off x="2501000" y="3400480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04CD02-BE1F-4309-BD86-FCDAE5980022}"/>
              </a:ext>
            </a:extLst>
          </p:cNvPr>
          <p:cNvSpPr txBox="1"/>
          <p:nvPr/>
        </p:nvSpPr>
        <p:spPr>
          <a:xfrm>
            <a:off x="2545977" y="529086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22DE55E-3B8A-4438-ABA2-CC62E4FD6D77}"/>
              </a:ext>
            </a:extLst>
          </p:cNvPr>
          <p:cNvCxnSpPr>
            <a:cxnSpLocks/>
            <a:stCxn id="48" idx="1"/>
            <a:endCxn id="10" idx="3"/>
          </p:cNvCxnSpPr>
          <p:nvPr/>
        </p:nvCxnSpPr>
        <p:spPr>
          <a:xfrm flipH="1">
            <a:off x="1603622" y="3895767"/>
            <a:ext cx="2057018" cy="12133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FDB53882-8286-4CFA-904C-19D4EE07484E}"/>
              </a:ext>
            </a:extLst>
          </p:cNvPr>
          <p:cNvSpPr/>
          <p:nvPr/>
        </p:nvSpPr>
        <p:spPr>
          <a:xfrm>
            <a:off x="379338" y="36095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DA8C39-6ABD-406B-A506-398CB09758DA}"/>
              </a:ext>
            </a:extLst>
          </p:cNvPr>
          <p:cNvSpPr/>
          <p:nvPr/>
        </p:nvSpPr>
        <p:spPr>
          <a:xfrm>
            <a:off x="3653097" y="4497231"/>
            <a:ext cx="3093254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ESP32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7F073FE-87FA-4833-B496-F068FCB58BFF}"/>
              </a:ext>
            </a:extLst>
          </p:cNvPr>
          <p:cNvSpPr/>
          <p:nvPr/>
        </p:nvSpPr>
        <p:spPr>
          <a:xfrm>
            <a:off x="4240770" y="6369944"/>
            <a:ext cx="2140247" cy="351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TFT Display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2EA76CB-2127-44A2-855C-1634E88464C7}"/>
              </a:ext>
            </a:extLst>
          </p:cNvPr>
          <p:cNvSpPr txBox="1"/>
          <p:nvPr/>
        </p:nvSpPr>
        <p:spPr>
          <a:xfrm>
            <a:off x="399292" y="2303081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6B013CE5-1DF6-4EB5-91A7-26B62475F4D6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5310894" y="6297487"/>
            <a:ext cx="3171" cy="72457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B0812AAD-CBFA-4E8F-A386-BEA76F51308F}"/>
              </a:ext>
            </a:extLst>
          </p:cNvPr>
          <p:cNvSpPr txBox="1"/>
          <p:nvPr/>
        </p:nvSpPr>
        <p:spPr>
          <a:xfrm>
            <a:off x="3765071" y="577751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2" name="Verbinder: gewinkelt 470">
            <a:extLst>
              <a:ext uri="{FF2B5EF4-FFF2-40B4-BE49-F238E27FC236}">
                <a16:creationId xmlns:a16="http://schemas.microsoft.com/office/drawing/2014/main" id="{1A6FA0E0-092B-4B84-BE38-EB4929D13568}"/>
              </a:ext>
            </a:extLst>
          </p:cNvPr>
          <p:cNvCxnSpPr>
            <a:cxnSpLocks/>
          </p:cNvCxnSpPr>
          <p:nvPr/>
        </p:nvCxnSpPr>
        <p:spPr>
          <a:xfrm>
            <a:off x="4096148" y="5832629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470">
            <a:extLst>
              <a:ext uri="{FF2B5EF4-FFF2-40B4-BE49-F238E27FC236}">
                <a16:creationId xmlns:a16="http://schemas.microsoft.com/office/drawing/2014/main" id="{617A25EE-C52D-4692-AB4D-437C363028C3}"/>
              </a:ext>
            </a:extLst>
          </p:cNvPr>
          <p:cNvCxnSpPr>
            <a:cxnSpLocks/>
          </p:cNvCxnSpPr>
          <p:nvPr/>
        </p:nvCxnSpPr>
        <p:spPr>
          <a:xfrm>
            <a:off x="4248548" y="5828015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77016147-48C8-45E8-8B0F-303E181D5FD3}"/>
              </a:ext>
            </a:extLst>
          </p:cNvPr>
          <p:cNvSpPr txBox="1"/>
          <p:nvPr/>
        </p:nvSpPr>
        <p:spPr>
          <a:xfrm>
            <a:off x="4316429" y="5774241"/>
            <a:ext cx="21480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55DB2F8-9DD6-4D20-BF0B-F0774C87377D}"/>
              </a:ext>
            </a:extLst>
          </p:cNvPr>
          <p:cNvSpPr/>
          <p:nvPr/>
        </p:nvSpPr>
        <p:spPr>
          <a:xfrm>
            <a:off x="3886201" y="6020488"/>
            <a:ext cx="2855727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E92B6A4-5296-4E53-A2CE-31ACCCCEC8D7}"/>
              </a:ext>
            </a:extLst>
          </p:cNvPr>
          <p:cNvCxnSpPr>
            <a:cxnSpLocks/>
          </p:cNvCxnSpPr>
          <p:nvPr/>
        </p:nvCxnSpPr>
        <p:spPr>
          <a:xfrm flipV="1">
            <a:off x="564606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E073905-9355-4C16-9AFB-B8BE1448A513}"/>
              </a:ext>
            </a:extLst>
          </p:cNvPr>
          <p:cNvCxnSpPr>
            <a:cxnSpLocks/>
          </p:cNvCxnSpPr>
          <p:nvPr/>
        </p:nvCxnSpPr>
        <p:spPr>
          <a:xfrm flipV="1">
            <a:off x="5935420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9359CD09-661F-4172-BE56-F52260A69A8E}"/>
              </a:ext>
            </a:extLst>
          </p:cNvPr>
          <p:cNvSpPr txBox="1"/>
          <p:nvPr/>
        </p:nvSpPr>
        <p:spPr>
          <a:xfrm>
            <a:off x="272992" y="6119736"/>
            <a:ext cx="1369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Adafruit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265C8C5-11ED-42F1-A578-9F5F06A89CFA}"/>
              </a:ext>
            </a:extLst>
          </p:cNvPr>
          <p:cNvCxnSpPr>
            <a:cxnSpLocks/>
          </p:cNvCxnSpPr>
          <p:nvPr/>
        </p:nvCxnSpPr>
        <p:spPr>
          <a:xfrm flipV="1">
            <a:off x="5337803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A17502C7-71F0-4FB8-A248-145A426135B7}"/>
              </a:ext>
            </a:extLst>
          </p:cNvPr>
          <p:cNvCxnSpPr>
            <a:cxnSpLocks/>
          </p:cNvCxnSpPr>
          <p:nvPr/>
        </p:nvCxnSpPr>
        <p:spPr>
          <a:xfrm flipV="1">
            <a:off x="5016411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272EA1E-3C86-46DE-9928-4290DD990E6E}"/>
              </a:ext>
            </a:extLst>
          </p:cNvPr>
          <p:cNvCxnSpPr>
            <a:cxnSpLocks/>
          </p:cNvCxnSpPr>
          <p:nvPr/>
        </p:nvCxnSpPr>
        <p:spPr>
          <a:xfrm flipV="1">
            <a:off x="626664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3975A088-2402-40A9-8D2B-F932A54C91ED}"/>
              </a:ext>
            </a:extLst>
          </p:cNvPr>
          <p:cNvCxnSpPr>
            <a:cxnSpLocks/>
          </p:cNvCxnSpPr>
          <p:nvPr/>
        </p:nvCxnSpPr>
        <p:spPr>
          <a:xfrm flipV="1">
            <a:off x="6602476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B78A2DAF-0EE8-4EC6-8E37-D2B631C60676}"/>
              </a:ext>
            </a:extLst>
          </p:cNvPr>
          <p:cNvSpPr txBox="1"/>
          <p:nvPr/>
        </p:nvSpPr>
        <p:spPr>
          <a:xfrm>
            <a:off x="6360793" y="5782425"/>
            <a:ext cx="2035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DIN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A6719764-41B3-4949-BE00-86D48C4C575F}"/>
              </a:ext>
            </a:extLst>
          </p:cNvPr>
          <p:cNvSpPr txBox="1"/>
          <p:nvPr/>
        </p:nvSpPr>
        <p:spPr>
          <a:xfrm>
            <a:off x="6036876" y="5782425"/>
            <a:ext cx="19877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CLK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2BFAC08A-2D67-4809-836F-597F4351E7C0}"/>
              </a:ext>
            </a:extLst>
          </p:cNvPr>
          <p:cNvSpPr txBox="1"/>
          <p:nvPr/>
        </p:nvSpPr>
        <p:spPr>
          <a:xfrm>
            <a:off x="4837031" y="5782425"/>
            <a:ext cx="1554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DC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59361B07-6436-4CB8-B0FB-F16A1C39D477}"/>
              </a:ext>
            </a:extLst>
          </p:cNvPr>
          <p:cNvSpPr txBox="1"/>
          <p:nvPr/>
        </p:nvSpPr>
        <p:spPr>
          <a:xfrm>
            <a:off x="5119042" y="5782425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RST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B100815-8B0A-4800-A1EA-D32425AE85D7}"/>
              </a:ext>
            </a:extLst>
          </p:cNvPr>
          <p:cNvSpPr txBox="1"/>
          <p:nvPr/>
        </p:nvSpPr>
        <p:spPr>
          <a:xfrm>
            <a:off x="5767848" y="5782425"/>
            <a:ext cx="1298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BL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1480B8F-3F1D-4221-88AC-5D5248048F33}"/>
              </a:ext>
            </a:extLst>
          </p:cNvPr>
          <p:cNvSpPr txBox="1"/>
          <p:nvPr/>
        </p:nvSpPr>
        <p:spPr>
          <a:xfrm>
            <a:off x="638101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F47021C6-E9E7-4481-BF77-04D2312C579D}"/>
              </a:ext>
            </a:extLst>
          </p:cNvPr>
          <p:cNvSpPr txBox="1"/>
          <p:nvPr/>
        </p:nvSpPr>
        <p:spPr>
          <a:xfrm>
            <a:off x="6052291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1A078-C46F-418B-BAE3-753E3D522E29}"/>
              </a:ext>
            </a:extLst>
          </p:cNvPr>
          <p:cNvSpPr txBox="1"/>
          <p:nvPr/>
        </p:nvSpPr>
        <p:spPr>
          <a:xfrm>
            <a:off x="4843629" y="5001375"/>
            <a:ext cx="6893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85BF5CD-20EA-4990-AAFD-87A5952527B1}"/>
              </a:ext>
            </a:extLst>
          </p:cNvPr>
          <p:cNvSpPr txBox="1"/>
          <p:nvPr/>
        </p:nvSpPr>
        <p:spPr>
          <a:xfrm>
            <a:off x="5172127" y="5001375"/>
            <a:ext cx="6893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4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A3A0520-3B62-4DE1-BDA1-DD4CC442EDAF}"/>
              </a:ext>
            </a:extLst>
          </p:cNvPr>
          <p:cNvSpPr txBox="1"/>
          <p:nvPr/>
        </p:nvSpPr>
        <p:spPr>
          <a:xfrm>
            <a:off x="574238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748222F-985D-4DAE-9459-4B07266B26BF}"/>
              </a:ext>
            </a:extLst>
          </p:cNvPr>
          <p:cNvSpPr txBox="1"/>
          <p:nvPr/>
        </p:nvSpPr>
        <p:spPr>
          <a:xfrm>
            <a:off x="5477350" y="5782425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CS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FA71850-1AEE-44C6-B160-994AC1355DBD}"/>
              </a:ext>
            </a:extLst>
          </p:cNvPr>
          <p:cNvSpPr txBox="1"/>
          <p:nvPr/>
        </p:nvSpPr>
        <p:spPr>
          <a:xfrm>
            <a:off x="5491163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EA23F36-8A34-41FA-9EE3-3A4FE46ECDCD}"/>
              </a:ext>
            </a:extLst>
          </p:cNvPr>
          <p:cNvSpPr/>
          <p:nvPr/>
        </p:nvSpPr>
        <p:spPr>
          <a:xfrm>
            <a:off x="3532435" y="462430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32817856-0A3D-4E8F-B680-958FA1249328}"/>
              </a:ext>
            </a:extLst>
          </p:cNvPr>
          <p:cNvSpPr/>
          <p:nvPr/>
        </p:nvSpPr>
        <p:spPr>
          <a:xfrm>
            <a:off x="379338" y="446448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EFF11CA2-8A31-4258-93AC-F458DBB2F73C}"/>
              </a:ext>
            </a:extLst>
          </p:cNvPr>
          <p:cNvCxnSpPr>
            <a:cxnSpLocks/>
            <a:stCxn id="86" idx="3"/>
            <a:endCxn id="85" idx="1"/>
          </p:cNvCxnSpPr>
          <p:nvPr/>
        </p:nvCxnSpPr>
        <p:spPr>
          <a:xfrm>
            <a:off x="1603622" y="4762799"/>
            <a:ext cx="1928813" cy="1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A3575BCE-163B-44C7-86D5-365FB82B730B}"/>
              </a:ext>
            </a:extLst>
          </p:cNvPr>
          <p:cNvSpPr txBox="1"/>
          <p:nvPr/>
        </p:nvSpPr>
        <p:spPr>
          <a:xfrm>
            <a:off x="348245" y="5082166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3714EA3-936D-40E6-947C-6088DD832311}"/>
              </a:ext>
            </a:extLst>
          </p:cNvPr>
          <p:cNvSpPr/>
          <p:nvPr/>
        </p:nvSpPr>
        <p:spPr>
          <a:xfrm>
            <a:off x="3660640" y="3611691"/>
            <a:ext cx="1311578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Pegelwandler </a:t>
            </a:r>
          </a:p>
        </p:txBody>
      </p:sp>
      <p:graphicFrame>
        <p:nvGraphicFramePr>
          <p:cNvPr id="70" name="Tabelle 5">
            <a:extLst>
              <a:ext uri="{FF2B5EF4-FFF2-40B4-BE49-F238E27FC236}">
                <a16:creationId xmlns:a16="http://schemas.microsoft.com/office/drawing/2014/main" id="{90441708-4112-4048-8D1C-B8303C0943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60626"/>
              </p:ext>
            </p:extLst>
          </p:nvPr>
        </p:nvGraphicFramePr>
        <p:xfrm>
          <a:off x="7258050" y="123201"/>
          <a:ext cx="49043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999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170750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1228491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  <a:gridCol w="1677060">
                  <a:extLst>
                    <a:ext uri="{9D8B030D-6E8A-4147-A177-3AD203B41FA5}">
                      <a16:colId xmlns:a16="http://schemas.microsoft.com/office/drawing/2014/main" val="20287319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USB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Pegelwandler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 (5V)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plus 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D- (SDA)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014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D+ (SCL)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092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 3.3V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127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404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592746"/>
                  </a:ext>
                </a:extLst>
              </a:tr>
            </a:tbl>
          </a:graphicData>
        </a:graphic>
      </p:graphicFrame>
      <p:sp>
        <p:nvSpPr>
          <p:cNvPr id="89" name="Rechteck 88">
            <a:extLst>
              <a:ext uri="{FF2B5EF4-FFF2-40B4-BE49-F238E27FC236}">
                <a16:creationId xmlns:a16="http://schemas.microsoft.com/office/drawing/2014/main" id="{F4F7E1FD-ECEC-4588-886D-2EF5598822D3}"/>
              </a:ext>
            </a:extLst>
          </p:cNvPr>
          <p:cNvSpPr/>
          <p:nvPr/>
        </p:nvSpPr>
        <p:spPr>
          <a:xfrm>
            <a:off x="5226978" y="3611691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sd card module 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5D2A68F8-7AC4-4673-A7FB-5C1C0CE6577D}"/>
              </a:ext>
            </a:extLst>
          </p:cNvPr>
          <p:cNvSpPr/>
          <p:nvPr/>
        </p:nvSpPr>
        <p:spPr>
          <a:xfrm>
            <a:off x="5325405" y="2962404"/>
            <a:ext cx="1318525" cy="2981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sd card extender</a:t>
            </a:r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40682CBF-71B1-4578-89F2-785F68D9FFC7}"/>
              </a:ext>
            </a:extLst>
          </p:cNvPr>
          <p:cNvCxnSpPr>
            <a:cxnSpLocks/>
            <a:stCxn id="90" idx="2"/>
            <a:endCxn id="89" idx="0"/>
          </p:cNvCxnSpPr>
          <p:nvPr/>
        </p:nvCxnSpPr>
        <p:spPr>
          <a:xfrm flipH="1">
            <a:off x="5984453" y="3260572"/>
            <a:ext cx="215" cy="35111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2" name="Tabelle 5">
            <a:extLst>
              <a:ext uri="{FF2B5EF4-FFF2-40B4-BE49-F238E27FC236}">
                <a16:creationId xmlns:a16="http://schemas.microsoft.com/office/drawing/2014/main" id="{1BC1CADF-0DC1-4232-90C2-C262F90597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7478954"/>
              </p:ext>
            </p:extLst>
          </p:nvPr>
        </p:nvGraphicFramePr>
        <p:xfrm>
          <a:off x="2183497" y="136937"/>
          <a:ext cx="492033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07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3122379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SD-Modul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Master-In-Slave-Out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Master-Out-Slave-In (parallel to DIN of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966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Clock (parallel to CLK of TFT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61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229880"/>
                  </a:ext>
                </a:extLst>
              </a:tr>
            </a:tbl>
          </a:graphicData>
        </a:graphic>
      </p:graphicFrame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36B87F3-CBBC-48D5-B264-51E206E1C3A3}"/>
              </a:ext>
            </a:extLst>
          </p:cNvPr>
          <p:cNvCxnSpPr>
            <a:cxnSpLocks/>
          </p:cNvCxnSpPr>
          <p:nvPr/>
        </p:nvCxnSpPr>
        <p:spPr>
          <a:xfrm flipV="1">
            <a:off x="3888097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F5DC44C-6243-48FB-8DA4-695533780021}"/>
              </a:ext>
            </a:extLst>
          </p:cNvPr>
          <p:cNvCxnSpPr>
            <a:cxnSpLocks/>
          </p:cNvCxnSpPr>
          <p:nvPr/>
        </p:nvCxnSpPr>
        <p:spPr>
          <a:xfrm flipV="1">
            <a:off x="4127978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211BF9C0-9F84-4DB3-BBD9-FCBFDE3F9124}"/>
              </a:ext>
            </a:extLst>
          </p:cNvPr>
          <p:cNvCxnSpPr>
            <a:cxnSpLocks/>
          </p:cNvCxnSpPr>
          <p:nvPr/>
        </p:nvCxnSpPr>
        <p:spPr>
          <a:xfrm flipV="1">
            <a:off x="4367859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6B949A4-8199-4E60-9D1B-E07050F23A14}"/>
              </a:ext>
            </a:extLst>
          </p:cNvPr>
          <p:cNvCxnSpPr>
            <a:cxnSpLocks/>
          </p:cNvCxnSpPr>
          <p:nvPr/>
        </p:nvCxnSpPr>
        <p:spPr>
          <a:xfrm flipV="1">
            <a:off x="460774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feld 101">
            <a:extLst>
              <a:ext uri="{FF2B5EF4-FFF2-40B4-BE49-F238E27FC236}">
                <a16:creationId xmlns:a16="http://schemas.microsoft.com/office/drawing/2014/main" id="{58397AA8-D918-4E61-B26C-A62B5C3E4A63}"/>
              </a:ext>
            </a:extLst>
          </p:cNvPr>
          <p:cNvSpPr txBox="1"/>
          <p:nvPr/>
        </p:nvSpPr>
        <p:spPr>
          <a:xfrm>
            <a:off x="3654963" y="4178357"/>
            <a:ext cx="16030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HV	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203270C1-9517-4922-87C5-3885167166F9}"/>
              </a:ext>
            </a:extLst>
          </p:cNvPr>
          <p:cNvSpPr txBox="1"/>
          <p:nvPr/>
        </p:nvSpPr>
        <p:spPr>
          <a:xfrm>
            <a:off x="3883974" y="418264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45BA030D-2B5C-471A-8D5B-C388D052FA1D}"/>
              </a:ext>
            </a:extLst>
          </p:cNvPr>
          <p:cNvSpPr txBox="1"/>
          <p:nvPr/>
        </p:nvSpPr>
        <p:spPr>
          <a:xfrm>
            <a:off x="4207563" y="4182648"/>
            <a:ext cx="1330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</a:t>
            </a: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B7AAC378-1880-45B5-827D-F2634567D4E5}"/>
              </a:ext>
            </a:extLst>
          </p:cNvPr>
          <p:cNvSpPr txBox="1"/>
          <p:nvPr/>
        </p:nvSpPr>
        <p:spPr>
          <a:xfrm>
            <a:off x="4409324" y="4182648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LV1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2D032A3-0221-4FB3-8242-AFDD85985971}"/>
              </a:ext>
            </a:extLst>
          </p:cNvPr>
          <p:cNvCxnSpPr>
            <a:cxnSpLocks/>
          </p:cNvCxnSpPr>
          <p:nvPr/>
        </p:nvCxnSpPr>
        <p:spPr>
          <a:xfrm flipV="1">
            <a:off x="484762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61B9D8BB-D3E4-4B92-943E-999532C5919B}"/>
              </a:ext>
            </a:extLst>
          </p:cNvPr>
          <p:cNvSpPr txBox="1"/>
          <p:nvPr/>
        </p:nvSpPr>
        <p:spPr>
          <a:xfrm>
            <a:off x="4680014" y="4177199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LV2</a:t>
            </a:r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E8FEAA29-3AD3-4B9F-AC85-76EB7A892139}"/>
              </a:ext>
            </a:extLst>
          </p:cNvPr>
          <p:cNvSpPr txBox="1"/>
          <p:nvPr/>
        </p:nvSpPr>
        <p:spPr>
          <a:xfrm>
            <a:off x="3671225" y="433837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867A495D-6C30-49F9-A9B1-8132DA81F038}"/>
              </a:ext>
            </a:extLst>
          </p:cNvPr>
          <p:cNvSpPr txBox="1"/>
          <p:nvPr/>
        </p:nvSpPr>
        <p:spPr>
          <a:xfrm>
            <a:off x="3893006" y="434266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723C325B-6830-43E5-9386-DE00C7C79F65}"/>
              </a:ext>
            </a:extLst>
          </p:cNvPr>
          <p:cNvSpPr txBox="1"/>
          <p:nvPr/>
        </p:nvSpPr>
        <p:spPr>
          <a:xfrm>
            <a:off x="4164260" y="4342668"/>
            <a:ext cx="21480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BEC34008-729A-4C94-8080-1E61B56CE21D}"/>
              </a:ext>
            </a:extLst>
          </p:cNvPr>
          <p:cNvSpPr txBox="1"/>
          <p:nvPr/>
        </p:nvSpPr>
        <p:spPr>
          <a:xfrm>
            <a:off x="4474022" y="4342668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21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BDBCFACE-5B90-433D-857D-DA0872BDA0FB}"/>
              </a:ext>
            </a:extLst>
          </p:cNvPr>
          <p:cNvSpPr txBox="1"/>
          <p:nvPr/>
        </p:nvSpPr>
        <p:spPr>
          <a:xfrm>
            <a:off x="4711599" y="4337219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22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40749127-162E-4A32-833F-92902DF73E92}"/>
              </a:ext>
            </a:extLst>
          </p:cNvPr>
          <p:cNvSpPr txBox="1"/>
          <p:nvPr/>
        </p:nvSpPr>
        <p:spPr>
          <a:xfrm>
            <a:off x="2726923" y="3488393"/>
            <a:ext cx="695703" cy="80791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 --- HV</a:t>
            </a:r>
            <a:br>
              <a:rPr lang="de-DE" sz="1050"/>
            </a:br>
            <a:r>
              <a:rPr lang="de-DE" sz="1050"/>
              <a:t>GND --- GND</a:t>
            </a:r>
            <a:br>
              <a:rPr lang="de-DE" sz="1050"/>
            </a:br>
            <a:br>
              <a:rPr lang="de-DE" sz="1050"/>
            </a:br>
            <a:r>
              <a:rPr lang="de-DE" sz="1050"/>
              <a:t>D- --- HV1</a:t>
            </a:r>
            <a:br>
              <a:rPr lang="de-DE" sz="1050"/>
            </a:br>
            <a:r>
              <a:rPr lang="de-DE" sz="1050"/>
              <a:t>D+ --- HV2</a:t>
            </a: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252A2F27-7CE4-4420-A66B-A13F28F6FF02}"/>
              </a:ext>
            </a:extLst>
          </p:cNvPr>
          <p:cNvCxnSpPr>
            <a:cxnSpLocks/>
          </p:cNvCxnSpPr>
          <p:nvPr/>
        </p:nvCxnSpPr>
        <p:spPr>
          <a:xfrm flipV="1">
            <a:off x="5513412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CFA218B4-AC1F-4611-9BF1-AA193ABFF0F4}"/>
              </a:ext>
            </a:extLst>
          </p:cNvPr>
          <p:cNvCxnSpPr>
            <a:cxnSpLocks/>
          </p:cNvCxnSpPr>
          <p:nvPr/>
        </p:nvCxnSpPr>
        <p:spPr>
          <a:xfrm flipV="1">
            <a:off x="5753293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18BCCB18-93BF-42C0-9C66-C6F9ECBB3CC8}"/>
              </a:ext>
            </a:extLst>
          </p:cNvPr>
          <p:cNvCxnSpPr>
            <a:cxnSpLocks/>
          </p:cNvCxnSpPr>
          <p:nvPr/>
        </p:nvCxnSpPr>
        <p:spPr>
          <a:xfrm flipV="1">
            <a:off x="5993174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0F91FC-F03D-4267-B505-C66DD0DFFFDA}"/>
              </a:ext>
            </a:extLst>
          </p:cNvPr>
          <p:cNvCxnSpPr>
            <a:cxnSpLocks/>
          </p:cNvCxnSpPr>
          <p:nvPr/>
        </p:nvCxnSpPr>
        <p:spPr>
          <a:xfrm flipV="1">
            <a:off x="623305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B31A073E-EE0F-490C-96BC-8C2C07AFCE53}"/>
              </a:ext>
            </a:extLst>
          </p:cNvPr>
          <p:cNvSpPr txBox="1"/>
          <p:nvPr/>
        </p:nvSpPr>
        <p:spPr>
          <a:xfrm>
            <a:off x="5249821" y="417266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	</a:t>
            </a:r>
          </a:p>
        </p:txBody>
      </p:sp>
      <p:sp>
        <p:nvSpPr>
          <p:cNvPr id="120" name="Textfeld 119">
            <a:extLst>
              <a:ext uri="{FF2B5EF4-FFF2-40B4-BE49-F238E27FC236}">
                <a16:creationId xmlns:a16="http://schemas.microsoft.com/office/drawing/2014/main" id="{413930A8-3A8C-4199-BE18-9415F978C82B}"/>
              </a:ext>
            </a:extLst>
          </p:cNvPr>
          <p:cNvSpPr txBox="1"/>
          <p:nvPr/>
        </p:nvSpPr>
        <p:spPr>
          <a:xfrm>
            <a:off x="5509289" y="417695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E35654E7-6A78-43B1-8762-D79CA53739D7}"/>
              </a:ext>
            </a:extLst>
          </p:cNvPr>
          <p:cNvSpPr txBox="1"/>
          <p:nvPr/>
        </p:nvSpPr>
        <p:spPr>
          <a:xfrm>
            <a:off x="5824863" y="4176956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MI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6E915538-383C-4BAE-BD61-EF839A345EF9}"/>
              </a:ext>
            </a:extLst>
          </p:cNvPr>
          <p:cNvSpPr txBox="1"/>
          <p:nvPr/>
        </p:nvSpPr>
        <p:spPr>
          <a:xfrm>
            <a:off x="6033036" y="4176956"/>
            <a:ext cx="20518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EC24EB1-F399-4675-9A0F-CDAA9EF0B89C}"/>
              </a:ext>
            </a:extLst>
          </p:cNvPr>
          <p:cNvCxnSpPr>
            <a:cxnSpLocks/>
          </p:cNvCxnSpPr>
          <p:nvPr/>
        </p:nvCxnSpPr>
        <p:spPr>
          <a:xfrm flipV="1">
            <a:off x="647293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612F591D-7AFD-46ED-912A-4E42205601E5}"/>
              </a:ext>
            </a:extLst>
          </p:cNvPr>
          <p:cNvSpPr txBox="1"/>
          <p:nvPr/>
        </p:nvSpPr>
        <p:spPr>
          <a:xfrm>
            <a:off x="6306933" y="4171507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25" name="Textfeld 124">
            <a:extLst>
              <a:ext uri="{FF2B5EF4-FFF2-40B4-BE49-F238E27FC236}">
                <a16:creationId xmlns:a16="http://schemas.microsoft.com/office/drawing/2014/main" id="{A81B31BF-A149-49DC-A4AF-56ACC4431E1D}"/>
              </a:ext>
            </a:extLst>
          </p:cNvPr>
          <p:cNvSpPr txBox="1"/>
          <p:nvPr/>
        </p:nvSpPr>
        <p:spPr>
          <a:xfrm>
            <a:off x="5296540" y="4332685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5039F28C-4612-4872-B82F-2F1EEAA5CF69}"/>
              </a:ext>
            </a:extLst>
          </p:cNvPr>
          <p:cNvSpPr txBox="1"/>
          <p:nvPr/>
        </p:nvSpPr>
        <p:spPr>
          <a:xfrm>
            <a:off x="5518321" y="433697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415FD5B8-CC1E-4518-B0DF-A69948747956}"/>
              </a:ext>
            </a:extLst>
          </p:cNvPr>
          <p:cNvSpPr txBox="1"/>
          <p:nvPr/>
        </p:nvSpPr>
        <p:spPr>
          <a:xfrm>
            <a:off x="582804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19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A000230D-B8EF-4F30-83DD-2501A66DF8A6}"/>
              </a:ext>
            </a:extLst>
          </p:cNvPr>
          <p:cNvSpPr txBox="1"/>
          <p:nvPr/>
        </p:nvSpPr>
        <p:spPr>
          <a:xfrm>
            <a:off x="609933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589A6C81-2769-4FFF-8F7A-EF3080ABBDD3}"/>
              </a:ext>
            </a:extLst>
          </p:cNvPr>
          <p:cNvSpPr txBox="1"/>
          <p:nvPr/>
        </p:nvSpPr>
        <p:spPr>
          <a:xfrm>
            <a:off x="6336914" y="433152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BFC673FF-96A3-47A7-91A8-C8B6FDA82846}"/>
              </a:ext>
            </a:extLst>
          </p:cNvPr>
          <p:cNvCxnSpPr>
            <a:cxnSpLocks/>
          </p:cNvCxnSpPr>
          <p:nvPr/>
        </p:nvCxnSpPr>
        <p:spPr>
          <a:xfrm flipV="1">
            <a:off x="6700396" y="417748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feld 131">
            <a:extLst>
              <a:ext uri="{FF2B5EF4-FFF2-40B4-BE49-F238E27FC236}">
                <a16:creationId xmlns:a16="http://schemas.microsoft.com/office/drawing/2014/main" id="{557D7BEA-01D6-4DCB-B270-2F18FC85E77A}"/>
              </a:ext>
            </a:extLst>
          </p:cNvPr>
          <p:cNvSpPr txBox="1"/>
          <p:nvPr/>
        </p:nvSpPr>
        <p:spPr>
          <a:xfrm>
            <a:off x="6566454" y="4175427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CS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8B5C4F63-C78E-42B8-91E5-F0447CC57B9F}"/>
              </a:ext>
            </a:extLst>
          </p:cNvPr>
          <p:cNvSpPr txBox="1"/>
          <p:nvPr/>
        </p:nvSpPr>
        <p:spPr>
          <a:xfrm>
            <a:off x="6564375" y="433544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2074476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F5CE37-FBE7-42E7-B936-FF56DDAEA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WaveShare Display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8CC5515-30F7-4B2E-AE76-3B6AB2366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667" y="2307204"/>
            <a:ext cx="4205477" cy="335257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AD747A93-5012-4F85-85DF-AEBD4BAD237D}"/>
              </a:ext>
            </a:extLst>
          </p:cNvPr>
          <p:cNvSpPr txBox="1"/>
          <p:nvPr/>
        </p:nvSpPr>
        <p:spPr>
          <a:xfrm>
            <a:off x="719665" y="6033364"/>
            <a:ext cx="909320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/>
              <a:t>https://www.waveshare.com/wiki/2.4inch_LCD_Module?srsltid=AU7gw4Ug1BivuOObfFdi3S9bYER6LLoN1e7hyDFmlCjnGAIi0XQktqKl</a:t>
            </a:r>
          </a:p>
        </p:txBody>
      </p:sp>
    </p:spTree>
    <p:extLst>
      <p:ext uri="{BB962C8B-B14F-4D97-AF65-F5344CB8AC3E}">
        <p14:creationId xmlns:p14="http://schemas.microsoft.com/office/powerpoint/2010/main" val="27142094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378AAF-0BC5-4ABD-A43D-876A4795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Backlight Pin (BL)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650AF52-A8CF-425F-AA34-26BDFC0F4651}"/>
              </a:ext>
            </a:extLst>
          </p:cNvPr>
          <p:cNvSpPr txBox="1"/>
          <p:nvPr/>
        </p:nvSpPr>
        <p:spPr>
          <a:xfrm>
            <a:off x="272992" y="835702"/>
            <a:ext cx="56779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Typsches Setup: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Arduino PWM-Pin → 100–220 Ohm Widerstand → BL-Pin</a:t>
            </a: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Dann mit analogWrite(pin, 0-255) die Helligkeit steuern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9B53105-9887-4633-A2C6-7867BB39B808}"/>
              </a:ext>
            </a:extLst>
          </p:cNvPr>
          <p:cNvSpPr txBox="1"/>
          <p:nvPr/>
        </p:nvSpPr>
        <p:spPr>
          <a:xfrm>
            <a:off x="272992" y="196695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Beim Arduino funktioniert das so: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0); // 0 = komplett aus </a:t>
            </a:r>
            <a:endParaRPr lang="de-DE">
              <a:solidFill>
                <a:srgbClr val="0F1111"/>
              </a:solidFill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128); // 128 = halbe Helligkeit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255); // 255 = volle Helligkeit </a:t>
            </a:r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Für deinen BL-Pin am Display reicht aber auch einfach: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HIGH); // Backlight an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LOW); // Backlight aus </a:t>
            </a:r>
          </a:p>
          <a:p>
            <a:pPr algn="l"/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Wenn du nur an/aus brauchst, ist digitalWrite völlig ausreichend – PWM (</a:t>
            </a:r>
            <a:r>
              <a:rPr lang="de-DE" b="1" i="0">
                <a:solidFill>
                  <a:srgbClr val="0F1111"/>
                </a:solidFill>
                <a:effectLst/>
                <a:latin typeface="Amazon Ember"/>
              </a:rPr>
              <a:t>Pulsweitenmodulation) </a:t>
            </a: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brauchst du nur, wenn du die Helligkeit stufenlos regeln möchtest.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1AA99B-A75E-4518-B2DF-DC16FCC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873" y="923925"/>
            <a:ext cx="5550136" cy="482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9874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122F7-06E5-4A20-A978-08CE3427D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F10E91-03FA-4176-8218-344CD35C4A32}"/>
              </a:ext>
            </a:extLst>
          </p:cNvPr>
          <p:cNvSpPr txBox="1"/>
          <p:nvPr/>
        </p:nvSpPr>
        <p:spPr>
          <a:xfrm>
            <a:off x="550333" y="12449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u="none" strike="noStrike">
                <a:effectLst/>
                <a:latin typeface="Google Sans"/>
              </a:rPr>
              <a:t>Spannungsteiler aus Widerständen:</a:t>
            </a:r>
            <a:r>
              <a:rPr lang="de-DE"/>
              <a:t> Schalte in jede Signalleitung vom Arduino Nano zum Display (MOSI, SCK, CS, D/C, RESET) einen einfachen Spannungsteiler. Ein </a:t>
            </a:r>
            <a:r>
              <a:rPr lang="de-DE" b="1" u="none" strike="noStrike">
                <a:effectLst/>
                <a:latin typeface="Google Sans"/>
              </a:rPr>
              <a:t>1kΩ Widerstand</a:t>
            </a:r>
            <a:r>
              <a:rPr lang="de-DE"/>
              <a:t> in Reihe und ein </a:t>
            </a:r>
            <a:r>
              <a:rPr lang="de-DE" b="1" u="none" strike="noStrike">
                <a:effectLst/>
                <a:latin typeface="Google Sans"/>
              </a:rPr>
              <a:t>2kΩ Widerstand</a:t>
            </a:r>
            <a:r>
              <a:rPr lang="de-DE"/>
              <a:t> gegen Masse (GND) senkt das 5V-Signal des Nano absolut sicher auf displayfreundliche ca. 3,3V ab. Das ist bei SPI-Frequenzen bis zu mehreren Megahertz absolut stabil.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B54BDFC-5608-4071-B1C7-6164B8D59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666" y="3366104"/>
            <a:ext cx="5434484" cy="32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7525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7D3DF3-834B-4D46-95E9-F35E2867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A9057E0-0525-4E91-9150-C4383794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896" y="971549"/>
            <a:ext cx="5703128" cy="550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4089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189647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Würfelähnliches Spiel</a:t>
            </a:r>
          </a:p>
          <a:p>
            <a:pPr lvl="1"/>
            <a:r>
              <a:rPr lang="de-DE"/>
              <a:t>6 LEDs die die Würfelaugen repräsentieren</a:t>
            </a:r>
          </a:p>
          <a:p>
            <a:pPr lvl="1"/>
            <a:r>
              <a:rPr lang="de-DE"/>
              <a:t>Ausgabe Jingle Sound während würfeln</a:t>
            </a:r>
          </a:p>
          <a:p>
            <a:pPr lvl="1"/>
            <a:r>
              <a:rPr lang="de-DE"/>
              <a:t>Ausgabe gewürfelte Ziffer Sound in unterschiedlichen Sprachen</a:t>
            </a:r>
            <a:br>
              <a:rPr lang="de-DE"/>
            </a:br>
            <a:endParaRPr lang="de-DE"/>
          </a:p>
          <a:p>
            <a:r>
              <a:rPr lang="de-DE"/>
              <a:t>Taste : es wird normal gewürfelt</a:t>
            </a:r>
            <a:br>
              <a:rPr lang="de-DE"/>
            </a:br>
            <a:endParaRPr lang="de-DE"/>
          </a:p>
          <a:p>
            <a:r>
              <a:rPr lang="de-DE"/>
              <a:t>Numpad Eingabe : es wird gewürfelt und bei Treffer entsprechend honoriert</a:t>
            </a:r>
          </a:p>
        </p:txBody>
      </p:sp>
    </p:spTree>
    <p:extLst>
      <p:ext uri="{BB962C8B-B14F-4D97-AF65-F5344CB8AC3E}">
        <p14:creationId xmlns:p14="http://schemas.microsoft.com/office/powerpoint/2010/main" val="32563965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4854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347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5507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E2327E2-E680-4673-8507-729A0F01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632863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2937933" y="19187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2303</Words>
  <Application>Microsoft Office PowerPoint</Application>
  <PresentationFormat>Breitbild</PresentationFormat>
  <Paragraphs>672</Paragraphs>
  <Slides>34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34</vt:i4>
      </vt:variant>
    </vt:vector>
  </HeadingPairs>
  <TitlesOfParts>
    <vt:vector size="43" baseType="lpstr">
      <vt:lpstr>Amazon Ember</vt:lpstr>
      <vt:lpstr>Arial</vt:lpstr>
      <vt:lpstr>Calibri</vt:lpstr>
      <vt:lpstr>Consolas</vt:lpstr>
      <vt:lpstr>Google Sans</vt:lpstr>
      <vt:lpstr>Henny Penny</vt:lpstr>
      <vt:lpstr>Milkyway DEMO</vt:lpstr>
      <vt:lpstr>Symbol</vt:lpstr>
      <vt:lpstr>Office</vt:lpstr>
      <vt:lpstr>Activity Board</vt:lpstr>
      <vt:lpstr>Activity Board Übersicht</vt:lpstr>
      <vt:lpstr>Standard Specifications</vt:lpstr>
      <vt:lpstr>Standard Layout Gadget</vt:lpstr>
      <vt:lpstr>Activity Bus Board</vt:lpstr>
      <vt:lpstr>Activity Bus Board</vt:lpstr>
      <vt:lpstr>Connecting Periphericals and Gadgets via Activity Bus Board</vt:lpstr>
      <vt:lpstr>Power Supply Board</vt:lpstr>
      <vt:lpstr>Power Supply Board</vt:lpstr>
      <vt:lpstr>Power Board Panel Laser Template Controls</vt:lpstr>
      <vt:lpstr>Power Board Panel Laser Template Labels</vt:lpstr>
      <vt:lpstr>Power Board Panel Laser Template Frame</vt:lpstr>
      <vt:lpstr>Sound Module</vt:lpstr>
      <vt:lpstr>Sound Module</vt:lpstr>
      <vt:lpstr>PowerPoint-Präsentation</vt:lpstr>
      <vt:lpstr>Numpad Module</vt:lpstr>
      <vt:lpstr>Numpad Module</vt:lpstr>
      <vt:lpstr>Display Module</vt:lpstr>
      <vt:lpstr>Display Module</vt:lpstr>
      <vt:lpstr>WaveShare Display</vt:lpstr>
      <vt:lpstr>Backlight Pin (BL)</vt:lpstr>
      <vt:lpstr>Datenleitungen schützen</vt:lpstr>
      <vt:lpstr>Datenleitungen schützen</vt:lpstr>
      <vt:lpstr>Lingo Bingo</vt:lpstr>
      <vt:lpstr>Lingo Bingo Gadget</vt:lpstr>
      <vt:lpstr>Lingo Bingo Controls</vt:lpstr>
      <vt:lpstr>Lingo Bingo Frame</vt:lpstr>
      <vt:lpstr>PowerPoint-Präsentation</vt:lpstr>
      <vt:lpstr>extras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326</cp:revision>
  <cp:lastPrinted>2026-10-01T17:34:18Z</cp:lastPrinted>
  <dcterms:created xsi:type="dcterms:W3CDTF">2026-09-05T16:43:31Z</dcterms:created>
  <dcterms:modified xsi:type="dcterms:W3CDTF">2026-10-01T17:54:45Z</dcterms:modified>
</cp:coreProperties>
</file>