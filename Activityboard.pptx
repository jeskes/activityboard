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93AAAB-998D-4197-B731-3ED8C50C3E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0EC23BA-766B-4295-BD3A-C755FD23A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58357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FC96E-F736-46CF-8EF7-53BEA2FBD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23AFAB-D930-4CCB-B9D8-5446CF42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2338" y="939567"/>
            <a:ext cx="11001462" cy="57045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559609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FE3D2D-7D0A-470D-9245-2002B9257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71047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0406AB-42CF-477C-A1E4-FD9E69F08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338" y="365125"/>
            <a:ext cx="11001462" cy="4318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57E279-A7BE-4CC2-AA72-666087B16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338" y="939567"/>
            <a:ext cx="11001462" cy="5237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14953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okwi.com/projects/474422651455561729" TargetMode="Externa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117E9-E001-4C32-B1BF-6CE44816C3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Activity Board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59E77AD-301B-4E04-BCEF-AE440AC1C3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953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feld 21">
            <a:extLst>
              <a:ext uri="{FF2B5EF4-FFF2-40B4-BE49-F238E27FC236}">
                <a16:creationId xmlns:a16="http://schemas.microsoft.com/office/drawing/2014/main" id="{2EBD009A-81AB-4F5F-BF7E-1663CDD3784F}"/>
              </a:ext>
            </a:extLst>
          </p:cNvPr>
          <p:cNvSpPr txBox="1"/>
          <p:nvPr/>
        </p:nvSpPr>
        <p:spPr>
          <a:xfrm>
            <a:off x="4624202" y="616999"/>
            <a:ext cx="7147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charging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0E8698D-2D3B-4B8C-8163-F654CD93D6EB}"/>
              </a:ext>
            </a:extLst>
          </p:cNvPr>
          <p:cNvSpPr/>
          <p:nvPr/>
        </p:nvSpPr>
        <p:spPr>
          <a:xfrm>
            <a:off x="4326709" y="1223963"/>
            <a:ext cx="3331391" cy="154781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Master Module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C938D65-1BE4-4179-80EA-FC8DC5C59148}"/>
              </a:ext>
            </a:extLst>
          </p:cNvPr>
          <p:cNvSpPr/>
          <p:nvPr/>
        </p:nvSpPr>
        <p:spPr>
          <a:xfrm>
            <a:off x="4524375" y="13835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Battery</a:t>
            </a:r>
            <a:br>
              <a:rPr lang="de-DE" sz="1200"/>
            </a:br>
            <a:r>
              <a:rPr lang="de-DE" sz="1200"/>
              <a:t>Pack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D979668-5F56-4C75-9AB5-80B691B002C4}"/>
              </a:ext>
            </a:extLst>
          </p:cNvPr>
          <p:cNvSpPr/>
          <p:nvPr/>
        </p:nvSpPr>
        <p:spPr>
          <a:xfrm>
            <a:off x="5550716" y="13835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Master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C628C03-B614-417B-B728-A64183C20FE9}"/>
              </a:ext>
            </a:extLst>
          </p:cNvPr>
          <p:cNvSpPr/>
          <p:nvPr/>
        </p:nvSpPr>
        <p:spPr>
          <a:xfrm>
            <a:off x="6577057" y="13835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Sound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FA81AF0-1752-4212-9AF0-E74E627C0A1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5992404" y="2771775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32F2D68-0C70-44AE-9CA2-9DDD136399AF}"/>
              </a:ext>
            </a:extLst>
          </p:cNvPr>
          <p:cNvCxnSpPr>
            <a:cxnSpLocks/>
          </p:cNvCxnSpPr>
          <p:nvPr/>
        </p:nvCxnSpPr>
        <p:spPr>
          <a:xfrm>
            <a:off x="1862727" y="3260696"/>
            <a:ext cx="8741490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6FB1F866-4D36-4484-B1CB-D035001B65AB}"/>
              </a:ext>
            </a:extLst>
          </p:cNvPr>
          <p:cNvSpPr txBox="1"/>
          <p:nvPr/>
        </p:nvSpPr>
        <p:spPr>
          <a:xfrm>
            <a:off x="8294333" y="2846959"/>
            <a:ext cx="1973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Activity Bus (I2C BUS)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8FD3D4F-299B-4504-A239-2A44EDC79E1C}"/>
              </a:ext>
            </a:extLst>
          </p:cNvPr>
          <p:cNvSpPr/>
          <p:nvPr/>
        </p:nvSpPr>
        <p:spPr>
          <a:xfrm>
            <a:off x="744129" y="3711517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Music Gadget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EA12B4E-E029-472B-B592-80DB66D6F614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2491376" y="3241646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2A7F75B0-28C5-4E3E-A232-4535DA55229A}"/>
              </a:ext>
            </a:extLst>
          </p:cNvPr>
          <p:cNvSpPr txBox="1"/>
          <p:nvPr/>
        </p:nvSpPr>
        <p:spPr>
          <a:xfrm>
            <a:off x="6515110" y="616999"/>
            <a:ext cx="1038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Sound Library</a:t>
            </a:r>
            <a:br>
              <a:rPr lang="de-DE" sz="1200"/>
            </a:br>
            <a:r>
              <a:rPr lang="de-DE" sz="1200"/>
              <a:t>microSD Card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F46BB24-BAAA-469E-8A02-6F9C70AE051D}"/>
              </a:ext>
            </a:extLst>
          </p:cNvPr>
          <p:cNvSpPr txBox="1"/>
          <p:nvPr/>
        </p:nvSpPr>
        <p:spPr>
          <a:xfrm>
            <a:off x="5684467" y="616999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EF8A7A-D886-49FE-A0BA-D736DD48B5DC}"/>
              </a:ext>
            </a:extLst>
          </p:cNvPr>
          <p:cNvSpPr txBox="1"/>
          <p:nvPr/>
        </p:nvSpPr>
        <p:spPr>
          <a:xfrm>
            <a:off x="751553" y="3096731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14B622-EDE4-4969-AB10-85151D4C55C0}"/>
              </a:ext>
            </a:extLst>
          </p:cNvPr>
          <p:cNvSpPr/>
          <p:nvPr/>
        </p:nvSpPr>
        <p:spPr>
          <a:xfrm>
            <a:off x="948327" y="388539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Buttons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73F16B7-29F4-40F2-A401-6F5DF523B204}"/>
              </a:ext>
            </a:extLst>
          </p:cNvPr>
          <p:cNvSpPr txBox="1"/>
          <p:nvPr/>
        </p:nvSpPr>
        <p:spPr>
          <a:xfrm>
            <a:off x="7929120" y="1403347"/>
            <a:ext cx="6814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Speaker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74D6ECF-2E2C-444B-A3B7-FFA49C7723C0}"/>
              </a:ext>
            </a:extLst>
          </p:cNvPr>
          <p:cNvSpPr txBox="1"/>
          <p:nvPr/>
        </p:nvSpPr>
        <p:spPr>
          <a:xfrm>
            <a:off x="7929698" y="1897469"/>
            <a:ext cx="680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Volume</a:t>
            </a:r>
            <a:br>
              <a:rPr lang="de-DE" sz="1200"/>
            </a:br>
            <a:r>
              <a:rPr lang="de-DE" sz="1200"/>
              <a:t>Control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A7D5469-AA34-4980-8319-37191EF72E7F}"/>
              </a:ext>
            </a:extLst>
          </p:cNvPr>
          <p:cNvCxnSpPr>
            <a:stCxn id="31" idx="1"/>
          </p:cNvCxnSpPr>
          <p:nvPr/>
        </p:nvCxnSpPr>
        <p:spPr>
          <a:xfrm flipH="1" flipV="1">
            <a:off x="7658100" y="1541846"/>
            <a:ext cx="271020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86750F9-05A5-41BC-BBFD-BADB9FF7CEA2}"/>
              </a:ext>
            </a:extLst>
          </p:cNvPr>
          <p:cNvCxnSpPr>
            <a:cxnSpLocks/>
            <a:stCxn id="32" idx="1"/>
          </p:cNvCxnSpPr>
          <p:nvPr/>
        </p:nvCxnSpPr>
        <p:spPr>
          <a:xfrm flipH="1">
            <a:off x="7658100" y="2128302"/>
            <a:ext cx="27159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00ECDAAC-81F0-4C7A-9DB9-4D97B640338D}"/>
              </a:ext>
            </a:extLst>
          </p:cNvPr>
          <p:cNvCxnSpPr>
            <a:stCxn id="22" idx="2"/>
          </p:cNvCxnSpPr>
          <p:nvPr/>
        </p:nvCxnSpPr>
        <p:spPr>
          <a:xfrm>
            <a:off x="4981575" y="10786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0868C2-8A5D-455C-8EE3-8ACFC08BBFBC}"/>
              </a:ext>
            </a:extLst>
          </p:cNvPr>
          <p:cNvCxnSpPr>
            <a:cxnSpLocks/>
            <a:stCxn id="24" idx="2"/>
            <a:endCxn id="5" idx="0"/>
          </p:cNvCxnSpPr>
          <p:nvPr/>
        </p:nvCxnSpPr>
        <p:spPr>
          <a:xfrm>
            <a:off x="5992404" y="1078664"/>
            <a:ext cx="1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748AAB4-CF8F-43A6-8DCB-A3168CC8065B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7034259" y="10786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88B4E2E-AA84-4E5F-B9D9-468E3059BC23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1059490" y="3558396"/>
            <a:ext cx="0" cy="1531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A7F8B6FC-0DE5-4A39-B190-48CA1C97DE38}"/>
              </a:ext>
            </a:extLst>
          </p:cNvPr>
          <p:cNvSpPr/>
          <p:nvPr/>
        </p:nvSpPr>
        <p:spPr>
          <a:xfrm>
            <a:off x="2076075" y="386665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err="1"/>
              <a:t>Indicators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1FCA2DEE-06EF-47BD-A879-00EC571B5FB2}"/>
              </a:ext>
            </a:extLst>
          </p:cNvPr>
          <p:cNvSpPr/>
          <p:nvPr/>
        </p:nvSpPr>
        <p:spPr>
          <a:xfrm>
            <a:off x="3203823" y="388539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Music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785F897F-2976-4328-8E2B-68BE455C570E}"/>
              </a:ext>
            </a:extLst>
          </p:cNvPr>
          <p:cNvSpPr txBox="1"/>
          <p:nvPr/>
        </p:nvSpPr>
        <p:spPr>
          <a:xfrm>
            <a:off x="684195" y="5114018"/>
            <a:ext cx="3554429" cy="102816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Music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4 buttons and 4 LED indicators.</a:t>
            </a:r>
            <a:br>
              <a:rPr lang="de-DE" sz="1100"/>
            </a:br>
            <a:r>
              <a:rPr lang="de-DE" sz="1100"/>
              <a:t>Every button is accompanied by a picture and corresponds to an individualsound in the master sound library. If a button is pressed the corresponding sound is played and the LED indicator lights up.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B9706B0-D390-4A16-9A6C-D9E05E6BC9FC}"/>
              </a:ext>
            </a:extLst>
          </p:cNvPr>
          <p:cNvSpPr/>
          <p:nvPr/>
        </p:nvSpPr>
        <p:spPr>
          <a:xfrm>
            <a:off x="4632416" y="3708653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Sun Gadget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4A53DD9-8921-4FAC-9FA6-B486D134BE3A}"/>
              </a:ext>
            </a:extLst>
          </p:cNvPr>
          <p:cNvSpPr txBox="1"/>
          <p:nvPr/>
        </p:nvSpPr>
        <p:spPr>
          <a:xfrm>
            <a:off x="547069" y="513681"/>
            <a:ext cx="3098172" cy="13837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Low"/>
            <a:r>
              <a:rPr lang="de-DE" sz="1100" b="1"/>
              <a:t>Gadgets</a:t>
            </a:r>
            <a:r>
              <a:rPr lang="de-DE" sz="1100"/>
              <a:t> are activity modules with electronic or mechanical parts to play with. Gadgets will be placed independently on a wooden board with a central master module providing power supply and other common features. Gadgets range from simple mechanical knobs to electronic games with OLED display (e.g. tretris, snake, ping-pong).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EDF76EA-E952-40F1-ACDD-411A3131133C}"/>
              </a:ext>
            </a:extLst>
          </p:cNvPr>
          <p:cNvSpPr/>
          <p:nvPr/>
        </p:nvSpPr>
        <p:spPr>
          <a:xfrm>
            <a:off x="4840712" y="3907904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Time of Day Panel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D5552D-4C62-4AE8-859E-78D0E2A357B9}"/>
              </a:ext>
            </a:extLst>
          </p:cNvPr>
          <p:cNvSpPr/>
          <p:nvPr/>
        </p:nvSpPr>
        <p:spPr>
          <a:xfrm>
            <a:off x="5968460" y="3889171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Sunlight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C5C27EE-ED25-4492-A0BC-7D617AC66A77}"/>
              </a:ext>
            </a:extLst>
          </p:cNvPr>
          <p:cNvSpPr/>
          <p:nvPr/>
        </p:nvSpPr>
        <p:spPr>
          <a:xfrm>
            <a:off x="7096208" y="3907902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Sun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B05B823A-F5FA-4F0E-9E56-6D8F58E9506C}"/>
              </a:ext>
            </a:extLst>
          </p:cNvPr>
          <p:cNvSpPr txBox="1"/>
          <p:nvPr/>
        </p:nvSpPr>
        <p:spPr>
          <a:xfrm>
            <a:off x="4624202" y="5035508"/>
            <a:ext cx="3554429" cy="1503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Sun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a "Time of Day" knob to turn and control the "Sunlight". The knob is round and points to phases during a normal day (early morning, late morning, midday, afternoon, evening, night) identified by symbols. Turning this knob controls the brightness of the "Sunlight" represented by a round convex lid illuminated by a white LED. If exact positions are hit a song correspondingt to the phase is played (e.g. at "night" a lullaby).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F72136DB-8B26-4612-B095-CD5F3186124E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6379664" y="3241646"/>
            <a:ext cx="0" cy="4670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D6038EA8-6B7B-457E-B39C-A57000107B35}"/>
              </a:ext>
            </a:extLst>
          </p:cNvPr>
          <p:cNvSpPr/>
          <p:nvPr/>
        </p:nvSpPr>
        <p:spPr>
          <a:xfrm>
            <a:off x="8353773" y="3700451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PingPong Gadget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497109B-FD14-4CD9-8376-4F24AFEBDEB1}"/>
              </a:ext>
            </a:extLst>
          </p:cNvPr>
          <p:cNvSpPr/>
          <p:nvPr/>
        </p:nvSpPr>
        <p:spPr>
          <a:xfrm>
            <a:off x="8562069" y="389970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OLED</a:t>
            </a:r>
            <a:br>
              <a:rPr lang="de-DE" sz="1200"/>
            </a:br>
            <a:r>
              <a:rPr lang="de-DE" sz="1200"/>
              <a:t>Display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24CF40FE-C4F8-4BBD-AE1B-6B5FAB8446D5}"/>
              </a:ext>
            </a:extLst>
          </p:cNvPr>
          <p:cNvSpPr/>
          <p:nvPr/>
        </p:nvSpPr>
        <p:spPr>
          <a:xfrm>
            <a:off x="9689817" y="388096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Controller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7E46CC-0247-4BE6-A1BC-584706DA0E43}"/>
              </a:ext>
            </a:extLst>
          </p:cNvPr>
          <p:cNvSpPr/>
          <p:nvPr/>
        </p:nvSpPr>
        <p:spPr>
          <a:xfrm>
            <a:off x="10817565" y="389970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PingPong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96974BE-7918-46EA-A797-663601FDF2FC}"/>
              </a:ext>
            </a:extLst>
          </p:cNvPr>
          <p:cNvSpPr txBox="1"/>
          <p:nvPr/>
        </p:nvSpPr>
        <p:spPr>
          <a:xfrm>
            <a:off x="8345559" y="5027307"/>
            <a:ext cx="3554429" cy="9763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PingPong Gadget</a:t>
            </a:r>
            <a:r>
              <a:rPr lang="de-DE" sz="1100"/>
              <a:t> is a simple implementation of the ping pong game. It consists of a small OLED display (1 or 2 inch) and a Controller Panel with "start / stop" buttons and a potentiometer to control the racket. It also plays "ping/pong" sounds when rackets hit the "ball".</a:t>
            </a: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52025CF-7768-4FC5-A10B-CF1CAA7A78A0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0101021" y="3219731"/>
            <a:ext cx="0" cy="48072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290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feld 84">
            <a:extLst>
              <a:ext uri="{FF2B5EF4-FFF2-40B4-BE49-F238E27FC236}">
                <a16:creationId xmlns:a16="http://schemas.microsoft.com/office/drawing/2014/main" id="{77B4B0B5-48AE-4138-9B77-164018F4524E}"/>
              </a:ext>
            </a:extLst>
          </p:cNvPr>
          <p:cNvSpPr txBox="1"/>
          <p:nvPr/>
        </p:nvSpPr>
        <p:spPr>
          <a:xfrm>
            <a:off x="7675871" y="860802"/>
            <a:ext cx="2520242" cy="523220"/>
          </a:xfrm>
          <a:prstGeom prst="rect">
            <a:avLst/>
          </a:prstGeom>
          <a:solidFill>
            <a:schemeClr val="accent5"/>
          </a:solidFill>
        </p:spPr>
        <p:txBody>
          <a:bodyPr wrap="none" rtlCol="0">
            <a:spAutoFit/>
          </a:bodyPr>
          <a:lstStyle/>
          <a:p>
            <a:r>
              <a:rPr lang="de-DE" sz="1400">
                <a:solidFill>
                  <a:schemeClr val="bg1"/>
                </a:solidFill>
              </a:rPr>
              <a:t>TF Card, FAT32, Folder "mp3"</a:t>
            </a:r>
          </a:p>
          <a:p>
            <a:r>
              <a:rPr lang="de-DE" sz="1400">
                <a:solidFill>
                  <a:schemeClr val="bg1"/>
                </a:solidFill>
              </a:rPr>
              <a:t>Files "0001.mp3" … "0004.mp3"</a:t>
            </a:r>
          </a:p>
        </p:txBody>
      </p:sp>
      <p:grpSp>
        <p:nvGrpSpPr>
          <p:cNvPr id="145" name="Gruppieren 144">
            <a:extLst>
              <a:ext uri="{FF2B5EF4-FFF2-40B4-BE49-F238E27FC236}">
                <a16:creationId xmlns:a16="http://schemas.microsoft.com/office/drawing/2014/main" id="{E04DF9F9-EF02-4871-B114-AB5BE0CF54E0}"/>
              </a:ext>
            </a:extLst>
          </p:cNvPr>
          <p:cNvGrpSpPr/>
          <p:nvPr/>
        </p:nvGrpSpPr>
        <p:grpSpPr>
          <a:xfrm>
            <a:off x="1098814" y="4256452"/>
            <a:ext cx="2068566" cy="1240575"/>
            <a:chOff x="1100173" y="3438872"/>
            <a:chExt cx="2068566" cy="1240575"/>
          </a:xfrm>
        </p:grpSpPr>
        <p:sp>
          <p:nvSpPr>
            <p:cNvPr id="130" name="Rechteck: abgerundete Ecken 129">
              <a:extLst>
                <a:ext uri="{FF2B5EF4-FFF2-40B4-BE49-F238E27FC236}">
                  <a16:creationId xmlns:a16="http://schemas.microsoft.com/office/drawing/2014/main" id="{F7365A3C-F6EE-4686-AD77-760BDA5A57CB}"/>
                </a:ext>
              </a:extLst>
            </p:cNvPr>
            <p:cNvSpPr/>
            <p:nvPr/>
          </p:nvSpPr>
          <p:spPr>
            <a:xfrm>
              <a:off x="1100173" y="3586027"/>
              <a:ext cx="1638265" cy="109342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/>
                <a:t>Button Field</a:t>
              </a:r>
            </a:p>
          </p:txBody>
        </p:sp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154DB65E-8289-48C8-907E-DB4A697BDC55}"/>
                </a:ext>
              </a:extLst>
            </p:cNvPr>
            <p:cNvSpPr/>
            <p:nvPr/>
          </p:nvSpPr>
          <p:spPr>
            <a:xfrm>
              <a:off x="1333657" y="3674896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T1</a:t>
              </a:r>
            </a:p>
          </p:txBody>
        </p:sp>
        <p:cxnSp>
          <p:nvCxnSpPr>
            <p:cNvPr id="68" name="Gerader Verbinder 67">
              <a:extLst>
                <a:ext uri="{FF2B5EF4-FFF2-40B4-BE49-F238E27FC236}">
                  <a16:creationId xmlns:a16="http://schemas.microsoft.com/office/drawing/2014/main" id="{B002BB39-55E1-4084-A8B3-033671639293}"/>
                </a:ext>
              </a:extLst>
            </p:cNvPr>
            <p:cNvCxnSpPr>
              <a:cxnSpLocks/>
              <a:stCxn id="66" idx="4"/>
              <a:endCxn id="104" idx="2"/>
            </p:cNvCxnSpPr>
            <p:nvPr/>
          </p:nvCxnSpPr>
          <p:spPr>
            <a:xfrm rot="16200000" flipH="1">
              <a:off x="2157264" y="3515536"/>
              <a:ext cx="141958" cy="128117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495A2A6B-51E7-449C-9D04-CD032F2E73BD}"/>
                </a:ext>
              </a:extLst>
            </p:cNvPr>
            <p:cNvSpPr/>
            <p:nvPr/>
          </p:nvSpPr>
          <p:spPr>
            <a:xfrm>
              <a:off x="2077003" y="3693010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T4</a:t>
              </a:r>
            </a:p>
          </p:txBody>
        </p: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5EE502AE-70D7-4F9B-8B22-56360F766339}"/>
                </a:ext>
              </a:extLst>
            </p:cNvPr>
            <p:cNvCxnSpPr>
              <a:cxnSpLocks/>
              <a:stCxn id="75" idx="4"/>
              <a:endCxn id="104" idx="2"/>
            </p:cNvCxnSpPr>
            <p:nvPr/>
          </p:nvCxnSpPr>
          <p:spPr>
            <a:xfrm rot="16200000" flipH="1">
              <a:off x="2537994" y="3896266"/>
              <a:ext cx="123844" cy="537827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DB1E540B-9DDC-4021-95E6-C3A54B9AE9D4}"/>
                </a:ext>
              </a:extLst>
            </p:cNvPr>
            <p:cNvSpPr txBox="1"/>
            <p:nvPr/>
          </p:nvSpPr>
          <p:spPr>
            <a:xfrm>
              <a:off x="2692327" y="391751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1F1C196A-0D11-46AE-B550-20FA477DBF68}"/>
                </a:ext>
              </a:extLst>
            </p:cNvPr>
            <p:cNvSpPr txBox="1"/>
            <p:nvPr/>
          </p:nvSpPr>
          <p:spPr>
            <a:xfrm>
              <a:off x="1816338" y="3701830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D17D3B1D-8CA0-4688-A2B2-99B69C47B065}"/>
                </a:ext>
              </a:extLst>
            </p:cNvPr>
            <p:cNvSpPr/>
            <p:nvPr/>
          </p:nvSpPr>
          <p:spPr>
            <a:xfrm>
              <a:off x="2868830" y="4179568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2" name="Gerader Verbinder 121">
              <a:extLst>
                <a:ext uri="{FF2B5EF4-FFF2-40B4-BE49-F238E27FC236}">
                  <a16:creationId xmlns:a16="http://schemas.microsoft.com/office/drawing/2014/main" id="{4DE9BCC8-F7F0-449D-A874-05F5A5D88814}"/>
                </a:ext>
              </a:extLst>
            </p:cNvPr>
            <p:cNvCxnSpPr>
              <a:cxnSpLocks/>
              <a:stCxn id="66" idx="0"/>
              <a:endCxn id="124" idx="4"/>
            </p:cNvCxnSpPr>
            <p:nvPr/>
          </p:nvCxnSpPr>
          <p:spPr>
            <a:xfrm flipV="1">
              <a:off x="1587657" y="3533939"/>
              <a:ext cx="1" cy="1409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Gerader Verbinder 122">
              <a:extLst>
                <a:ext uri="{FF2B5EF4-FFF2-40B4-BE49-F238E27FC236}">
                  <a16:creationId xmlns:a16="http://schemas.microsoft.com/office/drawing/2014/main" id="{85043E50-DE7C-4B0A-B188-BFF76720049B}"/>
                </a:ext>
              </a:extLst>
            </p:cNvPr>
            <p:cNvCxnSpPr>
              <a:cxnSpLocks/>
              <a:stCxn id="75" idx="0"/>
              <a:endCxn id="125" idx="4"/>
            </p:cNvCxnSpPr>
            <p:nvPr/>
          </p:nvCxnSpPr>
          <p:spPr>
            <a:xfrm flipV="1">
              <a:off x="2331003" y="3533939"/>
              <a:ext cx="1" cy="1590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5A003C98-7791-4A36-97C8-BF2AF5BB2E82}"/>
                </a:ext>
              </a:extLst>
            </p:cNvPr>
            <p:cNvSpPr/>
            <p:nvPr/>
          </p:nvSpPr>
          <p:spPr>
            <a:xfrm>
              <a:off x="1545058" y="3445727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7FDFA12F-DB11-413B-9B42-6120103F15CB}"/>
                </a:ext>
              </a:extLst>
            </p:cNvPr>
            <p:cNvSpPr/>
            <p:nvPr/>
          </p:nvSpPr>
          <p:spPr>
            <a:xfrm>
              <a:off x="2288404" y="3438872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05" name="Gruppieren 204">
            <a:extLst>
              <a:ext uri="{FF2B5EF4-FFF2-40B4-BE49-F238E27FC236}">
                <a16:creationId xmlns:a16="http://schemas.microsoft.com/office/drawing/2014/main" id="{E730267A-C759-4918-AA9F-3703C6A9B1D1}"/>
              </a:ext>
            </a:extLst>
          </p:cNvPr>
          <p:cNvGrpSpPr/>
          <p:nvPr/>
        </p:nvGrpSpPr>
        <p:grpSpPr>
          <a:xfrm>
            <a:off x="4365061" y="4037705"/>
            <a:ext cx="1830514" cy="430887"/>
            <a:chOff x="4365061" y="4762526"/>
            <a:chExt cx="1830514" cy="430887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CC933CA8-D8FA-411B-991A-BA1C0EEDCB4E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brown-black-red</a:t>
              </a:r>
              <a:br>
                <a:rPr lang="de-DE" sz="1400"/>
              </a:br>
              <a:r>
                <a:rPr lang="de-DE" sz="1400"/>
                <a:t>1 k Ohm</a:t>
              </a:r>
            </a:p>
          </p:txBody>
        </p:sp>
        <p:cxnSp>
          <p:nvCxnSpPr>
            <p:cNvPr id="136" name="Gerader Verbinder 135">
              <a:extLst>
                <a:ext uri="{FF2B5EF4-FFF2-40B4-BE49-F238E27FC236}">
                  <a16:creationId xmlns:a16="http://schemas.microsoft.com/office/drawing/2014/main" id="{24243ABE-A079-4D3E-A2A1-10119FD2AC7D}"/>
                </a:ext>
              </a:extLst>
            </p:cNvPr>
            <p:cNvCxnSpPr>
              <a:stCxn id="33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42436CA5-ADB8-4BC5-AB6F-33871AA1ACF5}"/>
                </a:ext>
              </a:extLst>
            </p:cNvPr>
            <p:cNvCxnSpPr>
              <a:stCxn id="33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68B774ED-7FEF-4D7F-8DE6-E90F20E380BA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64231119-DFB1-4218-9730-84AE48FE2E53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16" name="Gruppieren 315">
            <a:extLst>
              <a:ext uri="{FF2B5EF4-FFF2-40B4-BE49-F238E27FC236}">
                <a16:creationId xmlns:a16="http://schemas.microsoft.com/office/drawing/2014/main" id="{38543C81-D2DB-4DB0-BFBF-34B3C3D437A8}"/>
              </a:ext>
            </a:extLst>
          </p:cNvPr>
          <p:cNvGrpSpPr/>
          <p:nvPr/>
        </p:nvGrpSpPr>
        <p:grpSpPr>
          <a:xfrm>
            <a:off x="4847789" y="2295694"/>
            <a:ext cx="3276354" cy="1373344"/>
            <a:chOff x="4847789" y="2295694"/>
            <a:chExt cx="3276354" cy="1373344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A2F04B4-96C3-47C5-972D-638F5427CD5A}"/>
                </a:ext>
              </a:extLst>
            </p:cNvPr>
            <p:cNvSpPr/>
            <p:nvPr/>
          </p:nvSpPr>
          <p:spPr>
            <a:xfrm>
              <a:off x="5740400" y="2395295"/>
              <a:ext cx="13462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DFPlayer</a:t>
              </a:r>
              <a:br>
                <a:rPr lang="de-DE"/>
              </a:br>
              <a:r>
                <a:rPr lang="de-DE"/>
                <a:t>Mini</a:t>
              </a:r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0B78A26-2F7E-4CF6-8747-3143F1B9D9C0}"/>
                </a:ext>
              </a:extLst>
            </p:cNvPr>
            <p:cNvCxnSpPr/>
            <p:nvPr/>
          </p:nvCxnSpPr>
          <p:spPr>
            <a:xfrm flipH="1">
              <a:off x="5564909" y="2652066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9E54D6-9678-470E-B676-4D57FF85276A}"/>
                </a:ext>
              </a:extLst>
            </p:cNvPr>
            <p:cNvSpPr txBox="1"/>
            <p:nvPr/>
          </p:nvSpPr>
          <p:spPr>
            <a:xfrm>
              <a:off x="4847789" y="2295695"/>
              <a:ext cx="7780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Pin 1</a:t>
              </a:r>
            </a:p>
          </p:txBody>
        </p: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CF7DA7A9-0C3F-4641-9E4F-8726B6AD9F77}"/>
                </a:ext>
              </a:extLst>
            </p:cNvPr>
            <p:cNvCxnSpPr/>
            <p:nvPr/>
          </p:nvCxnSpPr>
          <p:spPr>
            <a:xfrm flipH="1">
              <a:off x="5564909" y="3123120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B4BA454E-8595-42B2-8546-B0FC41BED137}"/>
                </a:ext>
              </a:extLst>
            </p:cNvPr>
            <p:cNvSpPr txBox="1"/>
            <p:nvPr/>
          </p:nvSpPr>
          <p:spPr>
            <a:xfrm>
              <a:off x="4873812" y="276295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7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077BE8B0-FB3B-4028-BD29-084023D518CF}"/>
                </a:ext>
              </a:extLst>
            </p:cNvPr>
            <p:cNvCxnSpPr>
              <a:cxnSpLocks/>
            </p:cNvCxnSpPr>
            <p:nvPr/>
          </p:nvCxnSpPr>
          <p:spPr>
            <a:xfrm>
              <a:off x="6687127" y="3309695"/>
              <a:ext cx="0" cy="2247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28F8226D-9C72-4FC1-AAA9-87C39D9E124A}"/>
                </a:ext>
              </a:extLst>
            </p:cNvPr>
            <p:cNvSpPr txBox="1"/>
            <p:nvPr/>
          </p:nvSpPr>
          <p:spPr>
            <a:xfrm>
              <a:off x="6724012" y="3392039"/>
              <a:ext cx="69281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RX Pin 2</a:t>
              </a:r>
            </a:p>
          </p:txBody>
        </p: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57CF89AE-CAC8-4DF6-8ACA-CACD39CB4AB3}"/>
                </a:ext>
              </a:extLst>
            </p:cNvPr>
            <p:cNvCxnSpPr>
              <a:cxnSpLocks/>
            </p:cNvCxnSpPr>
            <p:nvPr/>
          </p:nvCxnSpPr>
          <p:spPr>
            <a:xfrm>
              <a:off x="6050614" y="3309695"/>
              <a:ext cx="0" cy="2080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46BF7B6B-9FEE-4DAC-BD85-C0456790C3B3}"/>
                </a:ext>
              </a:extLst>
            </p:cNvPr>
            <p:cNvSpPr txBox="1"/>
            <p:nvPr/>
          </p:nvSpPr>
          <p:spPr>
            <a:xfrm>
              <a:off x="5287172" y="3366259"/>
              <a:ext cx="6848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TX Pin 3</a:t>
              </a:r>
            </a:p>
          </p:txBody>
        </p: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7194E64F-2B7C-4676-846D-15AD9114CDFB}"/>
                </a:ext>
              </a:extLst>
            </p:cNvPr>
            <p:cNvCxnSpPr/>
            <p:nvPr/>
          </p:nvCxnSpPr>
          <p:spPr>
            <a:xfrm>
              <a:off x="7086600" y="2652066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86D13C5-AA00-4DC9-A15C-9507DA0E6652}"/>
                </a:ext>
              </a:extLst>
            </p:cNvPr>
            <p:cNvSpPr txBox="1"/>
            <p:nvPr/>
          </p:nvSpPr>
          <p:spPr>
            <a:xfrm>
              <a:off x="7208508" y="2295694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SPK_1 Pin 6</a:t>
              </a:r>
              <a:endParaRPr lang="de-DE" sz="1200"/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B7BB4199-68E8-4307-81BC-5302E46FEC80}"/>
                </a:ext>
              </a:extLst>
            </p:cNvPr>
            <p:cNvCxnSpPr/>
            <p:nvPr/>
          </p:nvCxnSpPr>
          <p:spPr>
            <a:xfrm>
              <a:off x="7100706" y="3030707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229DE44-BDDE-45E8-9510-2DAC4B5CDF08}"/>
                </a:ext>
              </a:extLst>
            </p:cNvPr>
            <p:cNvSpPr txBox="1"/>
            <p:nvPr/>
          </p:nvSpPr>
          <p:spPr>
            <a:xfrm>
              <a:off x="7208508" y="2717103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SPK_2 Pin 8</a:t>
              </a:r>
              <a:endParaRPr lang="de-DE" sz="1200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7D6BB96D-E436-4D19-A7E6-74A12657CE20}"/>
                </a:ext>
              </a:extLst>
            </p:cNvPr>
            <p:cNvSpPr/>
            <p:nvPr/>
          </p:nvSpPr>
          <p:spPr>
            <a:xfrm>
              <a:off x="7325826" y="2593516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018E3FFF-BCEB-4561-B909-7CCB9B8EF455}"/>
                </a:ext>
              </a:extLst>
            </p:cNvPr>
            <p:cNvSpPr/>
            <p:nvPr/>
          </p:nvSpPr>
          <p:spPr>
            <a:xfrm>
              <a:off x="7342295" y="297628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Ellipse 92">
              <a:extLst>
                <a:ext uri="{FF2B5EF4-FFF2-40B4-BE49-F238E27FC236}">
                  <a16:creationId xmlns:a16="http://schemas.microsoft.com/office/drawing/2014/main" id="{B370EB6D-2E2F-4812-B7C0-7AFB2668B121}"/>
                </a:ext>
              </a:extLst>
            </p:cNvPr>
            <p:cNvSpPr/>
            <p:nvPr/>
          </p:nvSpPr>
          <p:spPr>
            <a:xfrm>
              <a:off x="5492989" y="2597193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6B56C6C-FE7A-4475-B843-AE6EED5E6A96}"/>
                </a:ext>
              </a:extLst>
            </p:cNvPr>
            <p:cNvSpPr/>
            <p:nvPr/>
          </p:nvSpPr>
          <p:spPr>
            <a:xfrm>
              <a:off x="5519692" y="307852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1" name="Ellipse 140">
              <a:extLst>
                <a:ext uri="{FF2B5EF4-FFF2-40B4-BE49-F238E27FC236}">
                  <a16:creationId xmlns:a16="http://schemas.microsoft.com/office/drawing/2014/main" id="{2D020D8E-38B8-47D9-A486-1D9CA9816E47}"/>
                </a:ext>
              </a:extLst>
            </p:cNvPr>
            <p:cNvSpPr/>
            <p:nvPr/>
          </p:nvSpPr>
          <p:spPr>
            <a:xfrm>
              <a:off x="5999833" y="3453456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87CB467D-EC3C-4BE6-BF4A-DB539CFC2845}"/>
                </a:ext>
              </a:extLst>
            </p:cNvPr>
            <p:cNvSpPr/>
            <p:nvPr/>
          </p:nvSpPr>
          <p:spPr>
            <a:xfrm>
              <a:off x="6648326" y="3483494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1DC74D4B-BEDF-438A-AAA6-AAF31B78F3F9}"/>
              </a:ext>
            </a:extLst>
          </p:cNvPr>
          <p:cNvGrpSpPr/>
          <p:nvPr/>
        </p:nvGrpSpPr>
        <p:grpSpPr>
          <a:xfrm>
            <a:off x="9268309" y="2372205"/>
            <a:ext cx="1705802" cy="914400"/>
            <a:chOff x="9268309" y="1993516"/>
            <a:chExt cx="1705802" cy="914400"/>
          </a:xfrm>
        </p:grpSpPr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8E49DD2F-33D1-443E-9074-93D660172479}"/>
                </a:ext>
              </a:extLst>
            </p:cNvPr>
            <p:cNvSpPr/>
            <p:nvPr/>
          </p:nvSpPr>
          <p:spPr>
            <a:xfrm>
              <a:off x="9592734" y="1993516"/>
              <a:ext cx="1381377" cy="914400"/>
            </a:xfrm>
            <a:prstGeom prst="ellips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Speaker</a:t>
              </a:r>
              <a:br>
                <a:rPr lang="de-DE"/>
              </a:br>
              <a:r>
                <a:rPr lang="de-DE"/>
                <a:t>8 Ohm</a:t>
              </a:r>
            </a:p>
          </p:txBody>
        </p: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BE16164F-D10B-4DD9-B0C7-CCF64BCF9EE2}"/>
                </a:ext>
              </a:extLst>
            </p:cNvPr>
            <p:cNvCxnSpPr>
              <a:stCxn id="63" idx="1"/>
            </p:cNvCxnSpPr>
            <p:nvPr/>
          </p:nvCxnSpPr>
          <p:spPr>
            <a:xfrm flipH="1" flipV="1">
              <a:off x="9337964" y="2123081"/>
              <a:ext cx="457068" cy="43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0B1384F1-7EBC-405C-AFEB-A0340B5C1562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 flipH="1">
              <a:off x="9337964" y="2774005"/>
              <a:ext cx="457068" cy="981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Ellipse 147">
              <a:extLst>
                <a:ext uri="{FF2B5EF4-FFF2-40B4-BE49-F238E27FC236}">
                  <a16:creationId xmlns:a16="http://schemas.microsoft.com/office/drawing/2014/main" id="{1BD5DA24-8881-4CB6-9D20-F8D1925C0C4D}"/>
                </a:ext>
              </a:extLst>
            </p:cNvPr>
            <p:cNvSpPr/>
            <p:nvPr/>
          </p:nvSpPr>
          <p:spPr>
            <a:xfrm>
              <a:off x="9268309" y="2077981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9" name="Ellipse 148">
              <a:extLst>
                <a:ext uri="{FF2B5EF4-FFF2-40B4-BE49-F238E27FC236}">
                  <a16:creationId xmlns:a16="http://schemas.microsoft.com/office/drawing/2014/main" id="{F37B7238-B41F-4EBC-83A8-949085163E53}"/>
                </a:ext>
              </a:extLst>
            </p:cNvPr>
            <p:cNvSpPr/>
            <p:nvPr/>
          </p:nvSpPr>
          <p:spPr>
            <a:xfrm>
              <a:off x="9268309" y="274698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983C1836-866C-4983-8AD1-869B33AB1232}"/>
              </a:ext>
            </a:extLst>
          </p:cNvPr>
          <p:cNvCxnSpPr>
            <a:cxnSpLocks/>
            <a:stCxn id="6" idx="0"/>
            <a:endCxn id="85" idx="2"/>
          </p:cNvCxnSpPr>
          <p:nvPr/>
        </p:nvCxnSpPr>
        <p:spPr>
          <a:xfrm rot="5400000" flipH="1" flipV="1">
            <a:off x="7169110" y="628413"/>
            <a:ext cx="1011273" cy="252249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Rechteck: abgerundete Ecken 180">
            <a:extLst>
              <a:ext uri="{FF2B5EF4-FFF2-40B4-BE49-F238E27FC236}">
                <a16:creationId xmlns:a16="http://schemas.microsoft.com/office/drawing/2014/main" id="{002B488E-F370-437A-8594-10B1DD0FD1F4}"/>
              </a:ext>
            </a:extLst>
          </p:cNvPr>
          <p:cNvSpPr/>
          <p:nvPr/>
        </p:nvSpPr>
        <p:spPr>
          <a:xfrm>
            <a:off x="8686265" y="4615650"/>
            <a:ext cx="2287845" cy="1375356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/>
              <a:t>Battery Box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74DED79-117A-423A-8FD7-61E5D9694582}"/>
              </a:ext>
            </a:extLst>
          </p:cNvPr>
          <p:cNvSpPr/>
          <p:nvPr/>
        </p:nvSpPr>
        <p:spPr>
          <a:xfrm>
            <a:off x="9268309" y="4859583"/>
            <a:ext cx="914400" cy="64064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4,5 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51B5F04-5673-462D-BCFB-A3FE21E47672}"/>
              </a:ext>
            </a:extLst>
          </p:cNvPr>
          <p:cNvSpPr txBox="1"/>
          <p:nvPr/>
        </p:nvSpPr>
        <p:spPr>
          <a:xfrm>
            <a:off x="6950982" y="548622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61B5431-803F-4877-8BF5-599AF02FB173}"/>
              </a:ext>
            </a:extLst>
          </p:cNvPr>
          <p:cNvSpPr txBox="1"/>
          <p:nvPr/>
        </p:nvSpPr>
        <p:spPr>
          <a:xfrm>
            <a:off x="6930843" y="5048468"/>
            <a:ext cx="4686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u="none" strike="noStrike">
                <a:effectLst/>
              </a:rPr>
              <a:t>VCC</a:t>
            </a:r>
            <a:r>
              <a:rPr lang="de-DE" sz="1200"/>
              <a:t> 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FA95AB-0E89-4F21-B547-DCB278C46396}"/>
              </a:ext>
            </a:extLst>
          </p:cNvPr>
          <p:cNvCxnSpPr>
            <a:cxnSpLocks/>
            <a:stCxn id="150" idx="6"/>
            <a:endCxn id="7" idx="1"/>
          </p:cNvCxnSpPr>
          <p:nvPr/>
        </p:nvCxnSpPr>
        <p:spPr>
          <a:xfrm flipV="1">
            <a:off x="8552432" y="5179907"/>
            <a:ext cx="715877" cy="70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3AB841F-96B6-487D-BF9F-0F0BA4C4C4DC}"/>
              </a:ext>
            </a:extLst>
          </p:cNvPr>
          <p:cNvCxnSpPr>
            <a:cxnSpLocks/>
            <a:stCxn id="7" idx="3"/>
            <a:endCxn id="151" idx="6"/>
          </p:cNvCxnSpPr>
          <p:nvPr/>
        </p:nvCxnSpPr>
        <p:spPr>
          <a:xfrm flipH="1">
            <a:off x="8549070" y="5179907"/>
            <a:ext cx="1633639" cy="452860"/>
          </a:xfrm>
          <a:prstGeom prst="bentConnector3">
            <a:avLst>
              <a:gd name="adj1" fmla="val -1399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Ellipse 149">
            <a:extLst>
              <a:ext uri="{FF2B5EF4-FFF2-40B4-BE49-F238E27FC236}">
                <a16:creationId xmlns:a16="http://schemas.microsoft.com/office/drawing/2014/main" id="{06ECDA3E-D5F8-4FCF-85AF-E1303EF62194}"/>
              </a:ext>
            </a:extLst>
          </p:cNvPr>
          <p:cNvSpPr/>
          <p:nvPr/>
        </p:nvSpPr>
        <p:spPr>
          <a:xfrm>
            <a:off x="8467233" y="51429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630E493C-84B4-4E3C-A918-5E2332184EC8}"/>
              </a:ext>
            </a:extLst>
          </p:cNvPr>
          <p:cNvSpPr/>
          <p:nvPr/>
        </p:nvSpPr>
        <p:spPr>
          <a:xfrm>
            <a:off x="8463871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BBFFF5A-C644-455E-AC44-7CE5452D0CDD}"/>
              </a:ext>
            </a:extLst>
          </p:cNvPr>
          <p:cNvSpPr/>
          <p:nvPr/>
        </p:nvSpPr>
        <p:spPr>
          <a:xfrm>
            <a:off x="8837281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+</a:t>
            </a:r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9A822DD4-AFED-43BE-A49C-CB5B28B82F0B}"/>
              </a:ext>
            </a:extLst>
          </p:cNvPr>
          <p:cNvSpPr/>
          <p:nvPr/>
        </p:nvSpPr>
        <p:spPr>
          <a:xfrm>
            <a:off x="10243780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-</a:t>
            </a:r>
          </a:p>
        </p:txBody>
      </p: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1BA226D9-BA35-41BC-83CA-A9B13E61426F}"/>
              </a:ext>
            </a:extLst>
          </p:cNvPr>
          <p:cNvCxnSpPr>
            <a:cxnSpLocks/>
            <a:stCxn id="95" idx="4"/>
            <a:endCxn id="124" idx="0"/>
          </p:cNvCxnSpPr>
          <p:nvPr/>
        </p:nvCxnSpPr>
        <p:spPr>
          <a:xfrm rot="5400000">
            <a:off x="1317035" y="3990224"/>
            <a:ext cx="542347" cy="3818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186">
            <a:extLst>
              <a:ext uri="{FF2B5EF4-FFF2-40B4-BE49-F238E27FC236}">
                <a16:creationId xmlns:a16="http://schemas.microsoft.com/office/drawing/2014/main" id="{296CF01F-8C66-44F5-AFCF-5BE10EF07335}"/>
              </a:ext>
            </a:extLst>
          </p:cNvPr>
          <p:cNvCxnSpPr>
            <a:cxnSpLocks/>
            <a:stCxn id="96" idx="4"/>
            <a:endCxn id="125" idx="0"/>
          </p:cNvCxnSpPr>
          <p:nvPr/>
        </p:nvCxnSpPr>
        <p:spPr>
          <a:xfrm rot="5400000">
            <a:off x="2063907" y="3986698"/>
            <a:ext cx="535493" cy="4015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Verbinder: gewinkelt 191">
            <a:extLst>
              <a:ext uri="{FF2B5EF4-FFF2-40B4-BE49-F238E27FC236}">
                <a16:creationId xmlns:a16="http://schemas.microsoft.com/office/drawing/2014/main" id="{C0A3CB44-A2E1-4B17-9A76-49A6D764A3CC}"/>
              </a:ext>
            </a:extLst>
          </p:cNvPr>
          <p:cNvCxnSpPr>
            <a:stCxn id="102" idx="6"/>
            <a:endCxn id="139" idx="2"/>
          </p:cNvCxnSpPr>
          <p:nvPr/>
        </p:nvCxnSpPr>
        <p:spPr>
          <a:xfrm>
            <a:off x="2971193" y="2986567"/>
            <a:ext cx="1393868" cy="1266581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55136151-0077-40DA-B7AD-59C3DAC8DC00}"/>
              </a:ext>
            </a:extLst>
          </p:cNvPr>
          <p:cNvCxnSpPr>
            <a:stCxn id="101" idx="6"/>
            <a:endCxn id="141" idx="4"/>
          </p:cNvCxnSpPr>
          <p:nvPr/>
        </p:nvCxnSpPr>
        <p:spPr>
          <a:xfrm>
            <a:off x="2984233" y="2658104"/>
            <a:ext cx="3058200" cy="890419"/>
          </a:xfrm>
          <a:prstGeom prst="bentConnector4">
            <a:avLst>
              <a:gd name="adj1" fmla="val 26879"/>
              <a:gd name="adj2" fmla="val 125673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A4049F2E-CCE6-437D-8D49-0FB846B3867A}"/>
              </a:ext>
            </a:extLst>
          </p:cNvPr>
          <p:cNvCxnSpPr>
            <a:stCxn id="91" idx="6"/>
            <a:endCxn id="148" idx="4"/>
          </p:cNvCxnSpPr>
          <p:nvPr/>
        </p:nvCxnSpPr>
        <p:spPr>
          <a:xfrm flipV="1">
            <a:off x="7411025" y="2544679"/>
            <a:ext cx="1899884" cy="100063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Verbinder: gewinkelt 197">
            <a:extLst>
              <a:ext uri="{FF2B5EF4-FFF2-40B4-BE49-F238E27FC236}">
                <a16:creationId xmlns:a16="http://schemas.microsoft.com/office/drawing/2014/main" id="{FBD859FC-C3F0-4A7C-9D3F-D0C1F2FA0B8E}"/>
              </a:ext>
            </a:extLst>
          </p:cNvPr>
          <p:cNvCxnSpPr>
            <a:stCxn id="92" idx="6"/>
            <a:endCxn id="149" idx="0"/>
          </p:cNvCxnSpPr>
          <p:nvPr/>
        </p:nvCxnSpPr>
        <p:spPr>
          <a:xfrm>
            <a:off x="7427494" y="3027510"/>
            <a:ext cx="1883415" cy="98164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Verbinder: gewinkelt 201">
            <a:extLst>
              <a:ext uri="{FF2B5EF4-FFF2-40B4-BE49-F238E27FC236}">
                <a16:creationId xmlns:a16="http://schemas.microsoft.com/office/drawing/2014/main" id="{514EA306-1BD8-4F94-8EC3-012879223506}"/>
              </a:ext>
            </a:extLst>
          </p:cNvPr>
          <p:cNvCxnSpPr>
            <a:cxnSpLocks/>
            <a:stCxn id="142" idx="4"/>
            <a:endCxn id="140" idx="6"/>
          </p:cNvCxnSpPr>
          <p:nvPr/>
        </p:nvCxnSpPr>
        <p:spPr>
          <a:xfrm rot="5400000">
            <a:off x="6107327" y="3666810"/>
            <a:ext cx="671849" cy="495351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Verbinder: gewinkelt 234">
            <a:extLst>
              <a:ext uri="{FF2B5EF4-FFF2-40B4-BE49-F238E27FC236}">
                <a16:creationId xmlns:a16="http://schemas.microsoft.com/office/drawing/2014/main" id="{52113A51-BEE9-4E7A-965A-6D83715CEF22}"/>
              </a:ext>
            </a:extLst>
          </p:cNvPr>
          <p:cNvCxnSpPr>
            <a:cxnSpLocks/>
            <a:stCxn id="261" idx="4"/>
            <a:endCxn id="211" idx="0"/>
          </p:cNvCxnSpPr>
          <p:nvPr/>
        </p:nvCxnSpPr>
        <p:spPr>
          <a:xfrm rot="5400000">
            <a:off x="903753" y="1473217"/>
            <a:ext cx="1378418" cy="3689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237">
            <a:extLst>
              <a:ext uri="{FF2B5EF4-FFF2-40B4-BE49-F238E27FC236}">
                <a16:creationId xmlns:a16="http://schemas.microsoft.com/office/drawing/2014/main" id="{9EEE615E-9E1C-4EA8-85BF-333F96326E7F}"/>
              </a:ext>
            </a:extLst>
          </p:cNvPr>
          <p:cNvCxnSpPr>
            <a:cxnSpLocks/>
            <a:stCxn id="292" idx="4"/>
            <a:endCxn id="212" idx="0"/>
          </p:cNvCxnSpPr>
          <p:nvPr/>
        </p:nvCxnSpPr>
        <p:spPr>
          <a:xfrm rot="5400000">
            <a:off x="1901122" y="1722145"/>
            <a:ext cx="882012" cy="2236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Gruppieren 356">
            <a:extLst>
              <a:ext uri="{FF2B5EF4-FFF2-40B4-BE49-F238E27FC236}">
                <a16:creationId xmlns:a16="http://schemas.microsoft.com/office/drawing/2014/main" id="{7023C0FC-5082-49B4-8D74-4F71B9B31C61}"/>
              </a:ext>
            </a:extLst>
          </p:cNvPr>
          <p:cNvGrpSpPr/>
          <p:nvPr/>
        </p:nvGrpSpPr>
        <p:grpSpPr>
          <a:xfrm>
            <a:off x="4402012" y="332298"/>
            <a:ext cx="2583058" cy="1405905"/>
            <a:chOff x="4402012" y="332298"/>
            <a:chExt cx="2583058" cy="1405905"/>
          </a:xfrm>
        </p:grpSpPr>
        <p:sp>
          <p:nvSpPr>
            <p:cNvPr id="224" name="Textfeld 223">
              <a:extLst>
                <a:ext uri="{FF2B5EF4-FFF2-40B4-BE49-F238E27FC236}">
                  <a16:creationId xmlns:a16="http://schemas.microsoft.com/office/drawing/2014/main" id="{201E7BF3-18BD-48B3-82AE-EC683D131EFE}"/>
                </a:ext>
              </a:extLst>
            </p:cNvPr>
            <p:cNvSpPr txBox="1"/>
            <p:nvPr/>
          </p:nvSpPr>
          <p:spPr>
            <a:xfrm>
              <a:off x="6508658" y="43259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219" name="Rechteck: abgerundete Ecken 218">
              <a:extLst>
                <a:ext uri="{FF2B5EF4-FFF2-40B4-BE49-F238E27FC236}">
                  <a16:creationId xmlns:a16="http://schemas.microsoft.com/office/drawing/2014/main" id="{7E89B070-7DCE-4242-B3CD-C18D1A1A20FF}"/>
                </a:ext>
              </a:extLst>
            </p:cNvPr>
            <p:cNvSpPr/>
            <p:nvPr/>
          </p:nvSpPr>
          <p:spPr>
            <a:xfrm>
              <a:off x="4594768" y="332298"/>
              <a:ext cx="1861330" cy="1405905"/>
            </a:xfrm>
            <a:prstGeom prst="roundRect">
              <a:avLst>
                <a:gd name="adj" fmla="val 10569"/>
              </a:avLst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vert="horz" rtlCol="0" anchor="b" anchorCtr="0"/>
            <a:lstStyle/>
            <a:p>
              <a:pPr algn="r"/>
              <a:r>
                <a:rPr lang="de-DE" sz="1600"/>
                <a:t>Light Field</a:t>
              </a:r>
            </a:p>
          </p:txBody>
        </p:sp>
        <p:sp>
          <p:nvSpPr>
            <p:cNvPr id="220" name="Ellipse 219">
              <a:extLst>
                <a:ext uri="{FF2B5EF4-FFF2-40B4-BE49-F238E27FC236}">
                  <a16:creationId xmlns:a16="http://schemas.microsoft.com/office/drawing/2014/main" id="{44AD6899-D60F-4B16-8164-2A3A49C1814A}"/>
                </a:ext>
              </a:extLst>
            </p:cNvPr>
            <p:cNvSpPr/>
            <p:nvPr/>
          </p:nvSpPr>
          <p:spPr>
            <a:xfrm>
              <a:off x="4866020" y="53285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L1</a:t>
              </a:r>
            </a:p>
          </p:txBody>
        </p:sp>
        <p:cxnSp>
          <p:nvCxnSpPr>
            <p:cNvPr id="221" name="Gerader Verbinder 67">
              <a:extLst>
                <a:ext uri="{FF2B5EF4-FFF2-40B4-BE49-F238E27FC236}">
                  <a16:creationId xmlns:a16="http://schemas.microsoft.com/office/drawing/2014/main" id="{69B246DE-A447-44F9-B02D-A3530169E714}"/>
                </a:ext>
              </a:extLst>
            </p:cNvPr>
            <p:cNvCxnSpPr>
              <a:cxnSpLocks/>
              <a:stCxn id="220" idx="6"/>
              <a:endCxn id="226" idx="2"/>
            </p:cNvCxnSpPr>
            <p:nvPr/>
          </p:nvCxnSpPr>
          <p:spPr>
            <a:xfrm flipV="1">
              <a:off x="5374020" y="735179"/>
              <a:ext cx="1250226" cy="280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2" name="Ellipse 221">
              <a:extLst>
                <a:ext uri="{FF2B5EF4-FFF2-40B4-BE49-F238E27FC236}">
                  <a16:creationId xmlns:a16="http://schemas.microsoft.com/office/drawing/2014/main" id="{D49EAE2E-BFB3-4494-99EE-E574410488C2}"/>
                </a:ext>
              </a:extLst>
            </p:cNvPr>
            <p:cNvSpPr/>
            <p:nvPr/>
          </p:nvSpPr>
          <p:spPr>
            <a:xfrm>
              <a:off x="4852037" y="103087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L4</a:t>
              </a:r>
            </a:p>
          </p:txBody>
        </p:sp>
        <p:cxnSp>
          <p:nvCxnSpPr>
            <p:cNvPr id="223" name="Gerader Verbinder 75">
              <a:extLst>
                <a:ext uri="{FF2B5EF4-FFF2-40B4-BE49-F238E27FC236}">
                  <a16:creationId xmlns:a16="http://schemas.microsoft.com/office/drawing/2014/main" id="{A0DF1611-6014-453C-B39A-A513DA24198F}"/>
                </a:ext>
              </a:extLst>
            </p:cNvPr>
            <p:cNvCxnSpPr>
              <a:cxnSpLocks/>
              <a:stCxn id="222" idx="6"/>
              <a:endCxn id="226" idx="2"/>
            </p:cNvCxnSpPr>
            <p:nvPr/>
          </p:nvCxnSpPr>
          <p:spPr>
            <a:xfrm flipV="1">
              <a:off x="5360037" y="735179"/>
              <a:ext cx="1264209" cy="50082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Textfeld 224">
              <a:extLst>
                <a:ext uri="{FF2B5EF4-FFF2-40B4-BE49-F238E27FC236}">
                  <a16:creationId xmlns:a16="http://schemas.microsoft.com/office/drawing/2014/main" id="{F811070C-0059-4CB3-84D5-F71AAC1D35ED}"/>
                </a:ext>
              </a:extLst>
            </p:cNvPr>
            <p:cNvSpPr txBox="1"/>
            <p:nvPr/>
          </p:nvSpPr>
          <p:spPr>
            <a:xfrm>
              <a:off x="4962828" y="792606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26" name="Ellipse 225">
              <a:extLst>
                <a:ext uri="{FF2B5EF4-FFF2-40B4-BE49-F238E27FC236}">
                  <a16:creationId xmlns:a16="http://schemas.microsoft.com/office/drawing/2014/main" id="{0616FCB1-DF6D-4A20-8082-017981E73B56}"/>
                </a:ext>
              </a:extLst>
            </p:cNvPr>
            <p:cNvSpPr/>
            <p:nvPr/>
          </p:nvSpPr>
          <p:spPr>
            <a:xfrm>
              <a:off x="6624246" y="68764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131B6FA9-19F7-4549-B701-498C8AA0DFAB}"/>
                </a:ext>
              </a:extLst>
            </p:cNvPr>
            <p:cNvCxnSpPr>
              <a:cxnSpLocks/>
              <a:stCxn id="220" idx="2"/>
              <a:endCxn id="229" idx="6"/>
            </p:cNvCxnSpPr>
            <p:nvPr/>
          </p:nvCxnSpPr>
          <p:spPr>
            <a:xfrm flipH="1" flipV="1">
              <a:off x="4488802" y="734294"/>
              <a:ext cx="377218" cy="36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Gerader Verbinder 227">
              <a:extLst>
                <a:ext uri="{FF2B5EF4-FFF2-40B4-BE49-F238E27FC236}">
                  <a16:creationId xmlns:a16="http://schemas.microsoft.com/office/drawing/2014/main" id="{A300AFFF-1486-4B8F-BBE6-CF454CDF46FB}"/>
                </a:ext>
              </a:extLst>
            </p:cNvPr>
            <p:cNvCxnSpPr>
              <a:cxnSpLocks/>
              <a:stCxn id="222" idx="2"/>
              <a:endCxn id="230" idx="6"/>
            </p:cNvCxnSpPr>
            <p:nvPr/>
          </p:nvCxnSpPr>
          <p:spPr>
            <a:xfrm flipH="1" flipV="1">
              <a:off x="4487211" y="1232353"/>
              <a:ext cx="364826" cy="36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9" name="Ellipse 228">
              <a:extLst>
                <a:ext uri="{FF2B5EF4-FFF2-40B4-BE49-F238E27FC236}">
                  <a16:creationId xmlns:a16="http://schemas.microsoft.com/office/drawing/2014/main" id="{836D7BAB-0B57-47A9-B4DC-F2F823DBF560}"/>
                </a:ext>
              </a:extLst>
            </p:cNvPr>
            <p:cNvSpPr/>
            <p:nvPr/>
          </p:nvSpPr>
          <p:spPr>
            <a:xfrm>
              <a:off x="4403603" y="690188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0" name="Ellipse 229">
              <a:extLst>
                <a:ext uri="{FF2B5EF4-FFF2-40B4-BE49-F238E27FC236}">
                  <a16:creationId xmlns:a16="http://schemas.microsoft.com/office/drawing/2014/main" id="{594AF01D-FB7B-4A27-9CCF-FE2F43466433}"/>
                </a:ext>
              </a:extLst>
            </p:cNvPr>
            <p:cNvSpPr/>
            <p:nvPr/>
          </p:nvSpPr>
          <p:spPr>
            <a:xfrm>
              <a:off x="4402012" y="1184819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8" name="Ellipse 247">
              <a:extLst>
                <a:ext uri="{FF2B5EF4-FFF2-40B4-BE49-F238E27FC236}">
                  <a16:creationId xmlns:a16="http://schemas.microsoft.com/office/drawing/2014/main" id="{886B8248-DE0B-490D-940A-6142B272C423}"/>
                </a:ext>
              </a:extLst>
            </p:cNvPr>
            <p:cNvSpPr/>
            <p:nvPr/>
          </p:nvSpPr>
          <p:spPr>
            <a:xfrm>
              <a:off x="4757789" y="41770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49" name="Ellipse 248">
              <a:extLst>
                <a:ext uri="{FF2B5EF4-FFF2-40B4-BE49-F238E27FC236}">
                  <a16:creationId xmlns:a16="http://schemas.microsoft.com/office/drawing/2014/main" id="{3D166AC5-5794-49F7-B96D-680730E584F6}"/>
                </a:ext>
              </a:extLst>
            </p:cNvPr>
            <p:cNvSpPr/>
            <p:nvPr/>
          </p:nvSpPr>
          <p:spPr>
            <a:xfrm>
              <a:off x="4745013" y="920383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50" name="Ellipse 249">
              <a:extLst>
                <a:ext uri="{FF2B5EF4-FFF2-40B4-BE49-F238E27FC236}">
                  <a16:creationId xmlns:a16="http://schemas.microsoft.com/office/drawing/2014/main" id="{829EE611-EB68-4434-8755-B92C55FD1DC1}"/>
                </a:ext>
              </a:extLst>
            </p:cNvPr>
            <p:cNvSpPr/>
            <p:nvPr/>
          </p:nvSpPr>
          <p:spPr>
            <a:xfrm>
              <a:off x="5405913" y="42792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  <p:sp>
          <p:nvSpPr>
            <p:cNvPr id="251" name="Ellipse 250">
              <a:extLst>
                <a:ext uri="{FF2B5EF4-FFF2-40B4-BE49-F238E27FC236}">
                  <a16:creationId xmlns:a16="http://schemas.microsoft.com/office/drawing/2014/main" id="{7C5BB6E0-E43D-4886-A3E1-F87C6F40FCEC}"/>
                </a:ext>
              </a:extLst>
            </p:cNvPr>
            <p:cNvSpPr/>
            <p:nvPr/>
          </p:nvSpPr>
          <p:spPr>
            <a:xfrm>
              <a:off x="5405806" y="999117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</p:grpSp>
      <p:grpSp>
        <p:nvGrpSpPr>
          <p:cNvPr id="257" name="Gruppieren 256">
            <a:extLst>
              <a:ext uri="{FF2B5EF4-FFF2-40B4-BE49-F238E27FC236}">
                <a16:creationId xmlns:a16="http://schemas.microsoft.com/office/drawing/2014/main" id="{943C4F0D-5B2B-4C49-B319-B4BE2BE0D007}"/>
              </a:ext>
            </a:extLst>
          </p:cNvPr>
          <p:cNvGrpSpPr/>
          <p:nvPr/>
        </p:nvGrpSpPr>
        <p:grpSpPr>
          <a:xfrm>
            <a:off x="1552206" y="522876"/>
            <a:ext cx="1830514" cy="430887"/>
            <a:chOff x="4365061" y="4762526"/>
            <a:chExt cx="1830514" cy="430887"/>
          </a:xfrm>
        </p:grpSpPr>
        <p:sp>
          <p:nvSpPr>
            <p:cNvPr id="258" name="Textfeld 257">
              <a:extLst>
                <a:ext uri="{FF2B5EF4-FFF2-40B4-BE49-F238E27FC236}">
                  <a16:creationId xmlns:a16="http://schemas.microsoft.com/office/drawing/2014/main" id="{68260D39-F687-4AF3-81AF-F3D71F8673B6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62115042-CB8A-4801-BB1E-9E875109363F}"/>
                </a:ext>
              </a:extLst>
            </p:cNvPr>
            <p:cNvCxnSpPr>
              <a:stCxn id="258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Gerader Verbinder 259">
              <a:extLst>
                <a:ext uri="{FF2B5EF4-FFF2-40B4-BE49-F238E27FC236}">
                  <a16:creationId xmlns:a16="http://schemas.microsoft.com/office/drawing/2014/main" id="{1FBA2AC6-0293-419A-8041-F766C7BF676D}"/>
                </a:ext>
              </a:extLst>
            </p:cNvPr>
            <p:cNvCxnSpPr>
              <a:stCxn id="258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Ellipse 260">
              <a:extLst>
                <a:ext uri="{FF2B5EF4-FFF2-40B4-BE49-F238E27FC236}">
                  <a16:creationId xmlns:a16="http://schemas.microsoft.com/office/drawing/2014/main" id="{62BD2987-BC9F-444E-A261-6CBBB98A3641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2" name="Ellipse 261">
              <a:extLst>
                <a:ext uri="{FF2B5EF4-FFF2-40B4-BE49-F238E27FC236}">
                  <a16:creationId xmlns:a16="http://schemas.microsoft.com/office/drawing/2014/main" id="{EDBDAB9E-9BD2-4B11-8809-B86DB7EA804E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88" name="Gruppieren 287">
            <a:extLst>
              <a:ext uri="{FF2B5EF4-FFF2-40B4-BE49-F238E27FC236}">
                <a16:creationId xmlns:a16="http://schemas.microsoft.com/office/drawing/2014/main" id="{AB3776DC-8AB2-4E3C-8BE1-28642F8B10FE}"/>
              </a:ext>
            </a:extLst>
          </p:cNvPr>
          <p:cNvGrpSpPr/>
          <p:nvPr/>
        </p:nvGrpSpPr>
        <p:grpSpPr>
          <a:xfrm>
            <a:off x="2300646" y="1019281"/>
            <a:ext cx="1830514" cy="430887"/>
            <a:chOff x="4365061" y="4762526"/>
            <a:chExt cx="1830514" cy="430887"/>
          </a:xfrm>
        </p:grpSpPr>
        <p:sp>
          <p:nvSpPr>
            <p:cNvPr id="289" name="Textfeld 288">
              <a:extLst>
                <a:ext uri="{FF2B5EF4-FFF2-40B4-BE49-F238E27FC236}">
                  <a16:creationId xmlns:a16="http://schemas.microsoft.com/office/drawing/2014/main" id="{8982F461-BBE8-4CCF-A1D8-315821EE016D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6BC8E090-42AA-46B5-8115-FD99B1479A6B}"/>
                </a:ext>
              </a:extLst>
            </p:cNvPr>
            <p:cNvCxnSpPr>
              <a:stCxn id="289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Gerader Verbinder 290">
              <a:extLst>
                <a:ext uri="{FF2B5EF4-FFF2-40B4-BE49-F238E27FC236}">
                  <a16:creationId xmlns:a16="http://schemas.microsoft.com/office/drawing/2014/main" id="{D4794C61-86A5-4096-A024-E4CC4393EE05}"/>
                </a:ext>
              </a:extLst>
            </p:cNvPr>
            <p:cNvCxnSpPr>
              <a:stCxn id="289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Ellipse 291">
              <a:extLst>
                <a:ext uri="{FF2B5EF4-FFF2-40B4-BE49-F238E27FC236}">
                  <a16:creationId xmlns:a16="http://schemas.microsoft.com/office/drawing/2014/main" id="{AF3BB276-A7C6-4514-A8BF-E7B2D69FC234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3" name="Ellipse 292">
              <a:extLst>
                <a:ext uri="{FF2B5EF4-FFF2-40B4-BE49-F238E27FC236}">
                  <a16:creationId xmlns:a16="http://schemas.microsoft.com/office/drawing/2014/main" id="{512E57B0-9076-4038-8A33-5133BECC0CA7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95" name="Verbinder: gewinkelt 294">
            <a:extLst>
              <a:ext uri="{FF2B5EF4-FFF2-40B4-BE49-F238E27FC236}">
                <a16:creationId xmlns:a16="http://schemas.microsoft.com/office/drawing/2014/main" id="{E42EEC04-FDDA-49E1-BD28-314533E1FCBB}"/>
              </a:ext>
            </a:extLst>
          </p:cNvPr>
          <p:cNvCxnSpPr>
            <a:cxnSpLocks/>
            <a:stCxn id="229" idx="2"/>
            <a:endCxn id="262" idx="6"/>
          </p:cNvCxnSpPr>
          <p:nvPr/>
        </p:nvCxnSpPr>
        <p:spPr>
          <a:xfrm flipH="1">
            <a:off x="3382720" y="734294"/>
            <a:ext cx="1020883" cy="128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Verbinder: gewinkelt 294">
            <a:extLst>
              <a:ext uri="{FF2B5EF4-FFF2-40B4-BE49-F238E27FC236}">
                <a16:creationId xmlns:a16="http://schemas.microsoft.com/office/drawing/2014/main" id="{EBA901C9-B337-4056-B009-67843769270D}"/>
              </a:ext>
            </a:extLst>
          </p:cNvPr>
          <p:cNvCxnSpPr>
            <a:cxnSpLocks/>
            <a:stCxn id="230" idx="2"/>
            <a:endCxn id="293" idx="6"/>
          </p:cNvCxnSpPr>
          <p:nvPr/>
        </p:nvCxnSpPr>
        <p:spPr>
          <a:xfrm flipH="1" flipV="1">
            <a:off x="4131160" y="1231986"/>
            <a:ext cx="270852" cy="3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feld 302">
            <a:extLst>
              <a:ext uri="{FF2B5EF4-FFF2-40B4-BE49-F238E27FC236}">
                <a16:creationId xmlns:a16="http://schemas.microsoft.com/office/drawing/2014/main" id="{3EB67FED-F649-420A-8C22-D6F2B8E3D169}"/>
              </a:ext>
            </a:extLst>
          </p:cNvPr>
          <p:cNvSpPr txBox="1"/>
          <p:nvPr/>
        </p:nvSpPr>
        <p:spPr>
          <a:xfrm>
            <a:off x="3343478" y="756267"/>
            <a:ext cx="359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u="none" strike="noStrike">
                <a:effectLst/>
              </a:rPr>
              <a:t>…</a:t>
            </a:r>
            <a:r>
              <a:rPr lang="de-DE" sz="1400"/>
              <a:t> </a:t>
            </a:r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CEC96970-7FBB-45DB-A907-6B61B4817B5B}"/>
              </a:ext>
            </a:extLst>
          </p:cNvPr>
          <p:cNvSpPr/>
          <p:nvPr/>
        </p:nvSpPr>
        <p:spPr>
          <a:xfrm>
            <a:off x="4030572" y="2747711"/>
            <a:ext cx="679032" cy="277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/>
              <a:t>100 µF</a:t>
            </a:r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28D9DDE1-127B-4B2C-B1B1-3E4DA6BBA6C9}"/>
              </a:ext>
            </a:extLst>
          </p:cNvPr>
          <p:cNvCxnSpPr>
            <a:cxnSpLocks/>
            <a:stCxn id="306" idx="0"/>
            <a:endCxn id="93" idx="2"/>
          </p:cNvCxnSpPr>
          <p:nvPr/>
        </p:nvCxnSpPr>
        <p:spPr>
          <a:xfrm rot="5400000" flipH="1" flipV="1">
            <a:off x="4881892" y="2136615"/>
            <a:ext cx="99292" cy="11229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Verbinder: gewinkelt 317">
            <a:extLst>
              <a:ext uri="{FF2B5EF4-FFF2-40B4-BE49-F238E27FC236}">
                <a16:creationId xmlns:a16="http://schemas.microsoft.com/office/drawing/2014/main" id="{BBB7BC05-FE2C-4515-87A6-20EE29BE93B5}"/>
              </a:ext>
            </a:extLst>
          </p:cNvPr>
          <p:cNvCxnSpPr>
            <a:stCxn id="306" idx="2"/>
            <a:endCxn id="94" idx="2"/>
          </p:cNvCxnSpPr>
          <p:nvPr/>
        </p:nvCxnSpPr>
        <p:spPr>
          <a:xfrm rot="16200000" flipH="1">
            <a:off x="4892371" y="2502428"/>
            <a:ext cx="105039" cy="11496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Textfeld 318">
            <a:extLst>
              <a:ext uri="{FF2B5EF4-FFF2-40B4-BE49-F238E27FC236}">
                <a16:creationId xmlns:a16="http://schemas.microsoft.com/office/drawing/2014/main" id="{21AC9F00-15DA-471F-B9B0-6DE4A62270D1}"/>
              </a:ext>
            </a:extLst>
          </p:cNvPr>
          <p:cNvSpPr txBox="1"/>
          <p:nvPr/>
        </p:nvSpPr>
        <p:spPr>
          <a:xfrm>
            <a:off x="4122676" y="2479464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+</a:t>
            </a:r>
          </a:p>
        </p:txBody>
      </p:sp>
      <p:sp>
        <p:nvSpPr>
          <p:cNvPr id="320" name="Textfeld 319">
            <a:extLst>
              <a:ext uri="{FF2B5EF4-FFF2-40B4-BE49-F238E27FC236}">
                <a16:creationId xmlns:a16="http://schemas.microsoft.com/office/drawing/2014/main" id="{FB85880A-A197-4D50-86E5-EA8216D0F194}"/>
              </a:ext>
            </a:extLst>
          </p:cNvPr>
          <p:cNvSpPr txBox="1"/>
          <p:nvPr/>
        </p:nvSpPr>
        <p:spPr>
          <a:xfrm>
            <a:off x="4154085" y="2997412"/>
            <a:ext cx="231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-</a:t>
            </a:r>
          </a:p>
        </p:txBody>
      </p:sp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47DC7F4B-8396-4AE9-9252-1469847461EC}"/>
              </a:ext>
            </a:extLst>
          </p:cNvPr>
          <p:cNvGrpSpPr/>
          <p:nvPr/>
        </p:nvGrpSpPr>
        <p:grpSpPr>
          <a:xfrm>
            <a:off x="729570" y="2033104"/>
            <a:ext cx="2579672" cy="1775740"/>
            <a:chOff x="729570" y="2033104"/>
            <a:chExt cx="2579672" cy="1775740"/>
          </a:xfrm>
        </p:grpSpPr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6D39508-E297-4C32-BDC0-8AEFC925D03B}"/>
                </a:ext>
              </a:extLst>
            </p:cNvPr>
            <p:cNvSpPr txBox="1"/>
            <p:nvPr/>
          </p:nvSpPr>
          <p:spPr>
            <a:xfrm>
              <a:off x="2628112" y="2745084"/>
              <a:ext cx="67839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D2 / TX</a:t>
              </a:r>
              <a:r>
                <a:rPr lang="de-DE" sz="1200"/>
                <a:t> 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2851A96E-A37A-4A2B-8FAF-DF453DDA1185}"/>
                </a:ext>
              </a:extLst>
            </p:cNvPr>
            <p:cNvSpPr txBox="1"/>
            <p:nvPr/>
          </p:nvSpPr>
          <p:spPr>
            <a:xfrm>
              <a:off x="2622836" y="2327147"/>
              <a:ext cx="68640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D3 / RX</a:t>
              </a:r>
              <a:r>
                <a:rPr lang="de-DE" sz="1200"/>
                <a:t> 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D4EEA753-AE46-41C1-901A-36F444D0EDBA}"/>
                </a:ext>
              </a:extLst>
            </p:cNvPr>
            <p:cNvSpPr txBox="1"/>
            <p:nvPr/>
          </p:nvSpPr>
          <p:spPr>
            <a:xfrm>
              <a:off x="1984762" y="3519516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D7</a:t>
              </a:r>
              <a:r>
                <a:rPr lang="de-DE" sz="1200"/>
                <a:t> 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E025D944-5600-438D-A94D-343A1B94CBAA}"/>
                </a:ext>
              </a:extLst>
            </p:cNvPr>
            <p:cNvSpPr txBox="1"/>
            <p:nvPr/>
          </p:nvSpPr>
          <p:spPr>
            <a:xfrm>
              <a:off x="1174189" y="3520267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D4</a:t>
              </a:r>
              <a:r>
                <a:rPr lang="de-DE" sz="1200"/>
                <a:t> 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906129C-A6AC-40CF-835E-3B682A763E64}"/>
                </a:ext>
              </a:extLst>
            </p:cNvPr>
            <p:cNvSpPr/>
            <p:nvPr/>
          </p:nvSpPr>
          <p:spPr>
            <a:xfrm>
              <a:off x="1254073" y="2535003"/>
              <a:ext cx="1346200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Arduino</a:t>
              </a:r>
              <a:br>
                <a:rPr lang="de-DE" sz="1600"/>
              </a:br>
              <a:r>
                <a:rPr lang="de-DE" sz="1600"/>
                <a:t>Nano</a:t>
              </a:r>
            </a:p>
          </p:txBody>
        </p: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FE894885-A2BD-4CBB-9D6F-01BB03828C88}"/>
                </a:ext>
              </a:extLst>
            </p:cNvPr>
            <p:cNvCxnSpPr/>
            <p:nvPr/>
          </p:nvCxnSpPr>
          <p:spPr>
            <a:xfrm flipH="1">
              <a:off x="1035480" y="2762833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C5E493A3-9BF5-46A4-9250-A902B1F62F2B}"/>
                </a:ext>
              </a:extLst>
            </p:cNvPr>
            <p:cNvSpPr txBox="1"/>
            <p:nvPr/>
          </p:nvSpPr>
          <p:spPr>
            <a:xfrm>
              <a:off x="777076" y="2352173"/>
              <a:ext cx="4686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03BB7EED-58E7-422C-9F30-B560A5E657F4}"/>
                </a:ext>
              </a:extLst>
            </p:cNvPr>
            <p:cNvCxnSpPr/>
            <p:nvPr/>
          </p:nvCxnSpPr>
          <p:spPr>
            <a:xfrm flipH="1">
              <a:off x="1035480" y="3233887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050F7774-F9A2-4608-A5F9-14125798BB74}"/>
                </a:ext>
              </a:extLst>
            </p:cNvPr>
            <p:cNvSpPr txBox="1"/>
            <p:nvPr/>
          </p:nvSpPr>
          <p:spPr>
            <a:xfrm>
              <a:off x="729570" y="286448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087F7BC1-CD64-4517-B5C5-12AD5DF71D8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2600273" y="2992203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AF8C1A96-83D5-411E-8AE6-98EA8DDD1EEE}"/>
                </a:ext>
              </a:extLst>
            </p:cNvPr>
            <p:cNvCxnSpPr>
              <a:cxnSpLocks/>
              <a:endCxn id="101" idx="2"/>
            </p:cNvCxnSpPr>
            <p:nvPr/>
          </p:nvCxnSpPr>
          <p:spPr>
            <a:xfrm flipV="1">
              <a:off x="2595067" y="2658104"/>
              <a:ext cx="303967" cy="58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EE16608A-5030-4E4A-BA6B-F881CA6D04B6}"/>
                </a:ext>
              </a:extLst>
            </p:cNvPr>
            <p:cNvCxnSpPr>
              <a:cxnSpLocks/>
              <a:endCxn id="95" idx="0"/>
            </p:cNvCxnSpPr>
            <p:nvPr/>
          </p:nvCxnSpPr>
          <p:spPr>
            <a:xfrm>
              <a:off x="1588664" y="3457287"/>
              <a:ext cx="1453" cy="1749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A8FF85C9-CEE2-476B-A099-B5AB46FB7EE6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>
              <a:off x="2333660" y="3457287"/>
              <a:ext cx="0" cy="1749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482C2D5F-6B6B-4BBD-9285-E7143BA87DA4}"/>
                </a:ext>
              </a:extLst>
            </p:cNvPr>
            <p:cNvSpPr txBox="1"/>
            <p:nvPr/>
          </p:nvSpPr>
          <p:spPr>
            <a:xfrm>
              <a:off x="1738052" y="3501067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95" name="Ellipse 94">
              <a:extLst>
                <a:ext uri="{FF2B5EF4-FFF2-40B4-BE49-F238E27FC236}">
                  <a16:creationId xmlns:a16="http://schemas.microsoft.com/office/drawing/2014/main" id="{08074963-E126-42BD-8186-1C76C321D90F}"/>
                </a:ext>
              </a:extLst>
            </p:cNvPr>
            <p:cNvSpPr/>
            <p:nvPr/>
          </p:nvSpPr>
          <p:spPr>
            <a:xfrm>
              <a:off x="1547517" y="3632233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7A66574B-C055-48D7-A0BF-1C42C07D6071}"/>
                </a:ext>
              </a:extLst>
            </p:cNvPr>
            <p:cNvSpPr/>
            <p:nvPr/>
          </p:nvSpPr>
          <p:spPr>
            <a:xfrm>
              <a:off x="2291060" y="3632232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DD28C4E0-27C9-4290-BD2A-6B18B1E12218}"/>
                </a:ext>
              </a:extLst>
            </p:cNvPr>
            <p:cNvSpPr/>
            <p:nvPr/>
          </p:nvSpPr>
          <p:spPr>
            <a:xfrm>
              <a:off x="1015981" y="2716464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Ellipse 99">
              <a:extLst>
                <a:ext uri="{FF2B5EF4-FFF2-40B4-BE49-F238E27FC236}">
                  <a16:creationId xmlns:a16="http://schemas.microsoft.com/office/drawing/2014/main" id="{67566C98-72BD-412F-95BA-C12E835B11B4}"/>
                </a:ext>
              </a:extLst>
            </p:cNvPr>
            <p:cNvSpPr/>
            <p:nvPr/>
          </p:nvSpPr>
          <p:spPr>
            <a:xfrm>
              <a:off x="1002345" y="3189582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Ellipse 100">
              <a:extLst>
                <a:ext uri="{FF2B5EF4-FFF2-40B4-BE49-F238E27FC236}">
                  <a16:creationId xmlns:a16="http://schemas.microsoft.com/office/drawing/2014/main" id="{4AD483CC-E77D-484F-91C7-D3B56666D463}"/>
                </a:ext>
              </a:extLst>
            </p:cNvPr>
            <p:cNvSpPr/>
            <p:nvPr/>
          </p:nvSpPr>
          <p:spPr>
            <a:xfrm>
              <a:off x="2899034" y="2617112"/>
              <a:ext cx="85199" cy="8198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Ellipse 101">
              <a:extLst>
                <a:ext uri="{FF2B5EF4-FFF2-40B4-BE49-F238E27FC236}">
                  <a16:creationId xmlns:a16="http://schemas.microsoft.com/office/drawing/2014/main" id="{F96FFF88-BD28-4C50-9411-2E0AE868BE3D}"/>
                </a:ext>
              </a:extLst>
            </p:cNvPr>
            <p:cNvSpPr/>
            <p:nvPr/>
          </p:nvSpPr>
          <p:spPr>
            <a:xfrm>
              <a:off x="2885994" y="2943992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6" name="Textfeld 205">
              <a:extLst>
                <a:ext uri="{FF2B5EF4-FFF2-40B4-BE49-F238E27FC236}">
                  <a16:creationId xmlns:a16="http://schemas.microsoft.com/office/drawing/2014/main" id="{49A3AAE3-B993-4D1B-AFFC-4ABEA9ED7303}"/>
                </a:ext>
              </a:extLst>
            </p:cNvPr>
            <p:cNvSpPr txBox="1"/>
            <p:nvPr/>
          </p:nvSpPr>
          <p:spPr>
            <a:xfrm>
              <a:off x="1900037" y="2051553"/>
              <a:ext cx="4716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</a:t>
              </a:r>
              <a:r>
                <a:rPr lang="de-DE" sz="1200"/>
                <a:t> </a:t>
              </a:r>
            </a:p>
          </p:txBody>
        </p:sp>
        <p:sp>
          <p:nvSpPr>
            <p:cNvPr id="207" name="Textfeld 206">
              <a:extLst>
                <a:ext uri="{FF2B5EF4-FFF2-40B4-BE49-F238E27FC236}">
                  <a16:creationId xmlns:a16="http://schemas.microsoft.com/office/drawing/2014/main" id="{D893886B-D454-47AE-8829-C833FD56F0E0}"/>
                </a:ext>
              </a:extLst>
            </p:cNvPr>
            <p:cNvSpPr txBox="1"/>
            <p:nvPr/>
          </p:nvSpPr>
          <p:spPr>
            <a:xfrm>
              <a:off x="1136277" y="2072824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D8</a:t>
              </a:r>
              <a:r>
                <a:rPr lang="de-DE" sz="1200"/>
                <a:t> </a:t>
              </a:r>
            </a:p>
          </p:txBody>
        </p: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662CD42B-8B20-4E84-AC61-C4D55DC88046}"/>
                </a:ext>
              </a:extLst>
            </p:cNvPr>
            <p:cNvCxnSpPr>
              <a:cxnSpLocks/>
              <a:endCxn id="211" idx="4"/>
            </p:cNvCxnSpPr>
            <p:nvPr/>
          </p:nvCxnSpPr>
          <p:spPr>
            <a:xfrm flipV="1">
              <a:off x="1585347" y="2252997"/>
              <a:ext cx="5770" cy="2715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FFC0A241-2F62-4BA9-9840-5B9D6D4A13FA}"/>
                </a:ext>
              </a:extLst>
            </p:cNvPr>
            <p:cNvCxnSpPr>
              <a:cxnSpLocks/>
              <a:endCxn id="212" idx="4"/>
            </p:cNvCxnSpPr>
            <p:nvPr/>
          </p:nvCxnSpPr>
          <p:spPr>
            <a:xfrm flipV="1">
              <a:off x="2341010" y="2252996"/>
              <a:ext cx="0" cy="2715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Textfeld 209">
              <a:extLst>
                <a:ext uri="{FF2B5EF4-FFF2-40B4-BE49-F238E27FC236}">
                  <a16:creationId xmlns:a16="http://schemas.microsoft.com/office/drawing/2014/main" id="{B73E630E-E72C-40FC-9299-E28436AFD6E9}"/>
                </a:ext>
              </a:extLst>
            </p:cNvPr>
            <p:cNvSpPr txBox="1"/>
            <p:nvPr/>
          </p:nvSpPr>
          <p:spPr>
            <a:xfrm>
              <a:off x="1723177" y="2033104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11" name="Ellipse 210">
              <a:extLst>
                <a:ext uri="{FF2B5EF4-FFF2-40B4-BE49-F238E27FC236}">
                  <a16:creationId xmlns:a16="http://schemas.microsoft.com/office/drawing/2014/main" id="{A6CA02AB-1B75-47F4-AD77-157BE9DE952B}"/>
                </a:ext>
              </a:extLst>
            </p:cNvPr>
            <p:cNvSpPr/>
            <p:nvPr/>
          </p:nvSpPr>
          <p:spPr>
            <a:xfrm>
              <a:off x="1548517" y="2164270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2" name="Ellipse 211">
              <a:extLst>
                <a:ext uri="{FF2B5EF4-FFF2-40B4-BE49-F238E27FC236}">
                  <a16:creationId xmlns:a16="http://schemas.microsoft.com/office/drawing/2014/main" id="{CE9108AA-25BD-457C-A277-0EE3D1DD8A7A}"/>
                </a:ext>
              </a:extLst>
            </p:cNvPr>
            <p:cNvSpPr/>
            <p:nvPr/>
          </p:nvSpPr>
          <p:spPr>
            <a:xfrm>
              <a:off x="2298410" y="2164269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2" name="Textfeld 321">
              <a:extLst>
                <a:ext uri="{FF2B5EF4-FFF2-40B4-BE49-F238E27FC236}">
                  <a16:creationId xmlns:a16="http://schemas.microsoft.com/office/drawing/2014/main" id="{A3A74BC2-0CE3-4B79-B163-B4749BAD708B}"/>
                </a:ext>
              </a:extLst>
            </p:cNvPr>
            <p:cNvSpPr txBox="1"/>
            <p:nvPr/>
          </p:nvSpPr>
          <p:spPr>
            <a:xfrm>
              <a:off x="2628111" y="3101958"/>
              <a:ext cx="3882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A0</a:t>
              </a:r>
              <a:r>
                <a:rPr lang="de-DE" sz="1200"/>
                <a:t> </a:t>
              </a:r>
            </a:p>
          </p:txBody>
        </p:sp>
        <p:cxnSp>
          <p:nvCxnSpPr>
            <p:cNvPr id="323" name="Gerader Verbinder 322">
              <a:extLst>
                <a:ext uri="{FF2B5EF4-FFF2-40B4-BE49-F238E27FC236}">
                  <a16:creationId xmlns:a16="http://schemas.microsoft.com/office/drawing/2014/main" id="{1BA75F45-BD57-4212-8969-304C91EE45C1}"/>
                </a:ext>
              </a:extLst>
            </p:cNvPr>
            <p:cNvCxnSpPr>
              <a:cxnSpLocks/>
            </p:cNvCxnSpPr>
            <p:nvPr/>
          </p:nvCxnSpPr>
          <p:spPr>
            <a:xfrm>
              <a:off x="2600272" y="3349077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4" name="Ellipse 323">
              <a:extLst>
                <a:ext uri="{FF2B5EF4-FFF2-40B4-BE49-F238E27FC236}">
                  <a16:creationId xmlns:a16="http://schemas.microsoft.com/office/drawing/2014/main" id="{B5D1ABBC-BC7B-4E8C-99F7-B4A9D3DC1DD8}"/>
                </a:ext>
              </a:extLst>
            </p:cNvPr>
            <p:cNvSpPr/>
            <p:nvPr/>
          </p:nvSpPr>
          <p:spPr>
            <a:xfrm>
              <a:off x="2885993" y="3300866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47" name="Gruppieren 346">
            <a:extLst>
              <a:ext uri="{FF2B5EF4-FFF2-40B4-BE49-F238E27FC236}">
                <a16:creationId xmlns:a16="http://schemas.microsoft.com/office/drawing/2014/main" id="{4C6AA164-59D1-4F45-8621-C1D8CA2D1A88}"/>
              </a:ext>
            </a:extLst>
          </p:cNvPr>
          <p:cNvGrpSpPr/>
          <p:nvPr/>
        </p:nvGrpSpPr>
        <p:grpSpPr>
          <a:xfrm>
            <a:off x="4172378" y="4709817"/>
            <a:ext cx="1611124" cy="1094811"/>
            <a:chOff x="4172378" y="4709817"/>
            <a:chExt cx="1611124" cy="1094811"/>
          </a:xfrm>
        </p:grpSpPr>
        <p:sp>
          <p:nvSpPr>
            <p:cNvPr id="326" name="Ellipse 325">
              <a:extLst>
                <a:ext uri="{FF2B5EF4-FFF2-40B4-BE49-F238E27FC236}">
                  <a16:creationId xmlns:a16="http://schemas.microsoft.com/office/drawing/2014/main" id="{065E33F6-A88C-4C0A-BF54-1C216B5C9C71}"/>
                </a:ext>
              </a:extLst>
            </p:cNvPr>
            <p:cNvSpPr/>
            <p:nvPr/>
          </p:nvSpPr>
          <p:spPr>
            <a:xfrm>
              <a:off x="4869102" y="4890228"/>
              <a:ext cx="914400" cy="9144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Poti</a:t>
              </a:r>
            </a:p>
          </p:txBody>
        </p:sp>
        <p:cxnSp>
          <p:nvCxnSpPr>
            <p:cNvPr id="327" name="Gerader Verbinder 326">
              <a:extLst>
                <a:ext uri="{FF2B5EF4-FFF2-40B4-BE49-F238E27FC236}">
                  <a16:creationId xmlns:a16="http://schemas.microsoft.com/office/drawing/2014/main" id="{00785E56-19A1-4BE9-AB85-0CE4281096C8}"/>
                </a:ext>
              </a:extLst>
            </p:cNvPr>
            <p:cNvCxnSpPr>
              <a:cxnSpLocks/>
              <a:stCxn id="326" idx="1"/>
              <a:endCxn id="331" idx="6"/>
            </p:cNvCxnSpPr>
            <p:nvPr/>
          </p:nvCxnSpPr>
          <p:spPr>
            <a:xfrm flipH="1">
              <a:off x="4680427" y="5024139"/>
              <a:ext cx="322586" cy="16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Textfeld 327">
              <a:extLst>
                <a:ext uri="{FF2B5EF4-FFF2-40B4-BE49-F238E27FC236}">
                  <a16:creationId xmlns:a16="http://schemas.microsoft.com/office/drawing/2014/main" id="{B7BFAC0D-9B4E-4F83-9BC8-B1FF09ECA83D}"/>
                </a:ext>
              </a:extLst>
            </p:cNvPr>
            <p:cNvSpPr txBox="1"/>
            <p:nvPr/>
          </p:nvSpPr>
          <p:spPr>
            <a:xfrm>
              <a:off x="4172378" y="4709817"/>
              <a:ext cx="813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 Pin 1</a:t>
              </a:r>
              <a:r>
                <a:rPr lang="de-DE" sz="1200"/>
                <a:t> </a:t>
              </a:r>
            </a:p>
          </p:txBody>
        </p:sp>
        <p:cxnSp>
          <p:nvCxnSpPr>
            <p:cNvPr id="329" name="Gerader Verbinder 328">
              <a:extLst>
                <a:ext uri="{FF2B5EF4-FFF2-40B4-BE49-F238E27FC236}">
                  <a16:creationId xmlns:a16="http://schemas.microsoft.com/office/drawing/2014/main" id="{9ACB7ACA-2389-4DBE-A015-D25E6945BE1D}"/>
                </a:ext>
              </a:extLst>
            </p:cNvPr>
            <p:cNvCxnSpPr>
              <a:cxnSpLocks/>
              <a:stCxn id="326" idx="3"/>
              <a:endCxn id="332" idx="6"/>
            </p:cNvCxnSpPr>
            <p:nvPr/>
          </p:nvCxnSpPr>
          <p:spPr>
            <a:xfrm flipH="1" flipV="1">
              <a:off x="4682341" y="5669845"/>
              <a:ext cx="320672" cy="8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Textfeld 329">
              <a:extLst>
                <a:ext uri="{FF2B5EF4-FFF2-40B4-BE49-F238E27FC236}">
                  <a16:creationId xmlns:a16="http://schemas.microsoft.com/office/drawing/2014/main" id="{F4A4E4D2-BD06-43BF-AF9C-2543CB85A178}"/>
                </a:ext>
              </a:extLst>
            </p:cNvPr>
            <p:cNvSpPr txBox="1"/>
            <p:nvPr/>
          </p:nvSpPr>
          <p:spPr>
            <a:xfrm>
              <a:off x="4172378" y="538276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3</a:t>
              </a:r>
            </a:p>
          </p:txBody>
        </p:sp>
        <p:sp>
          <p:nvSpPr>
            <p:cNvPr id="331" name="Ellipse 330">
              <a:extLst>
                <a:ext uri="{FF2B5EF4-FFF2-40B4-BE49-F238E27FC236}">
                  <a16:creationId xmlns:a16="http://schemas.microsoft.com/office/drawing/2014/main" id="{295C72DC-08B7-4BA9-B08B-29F31FAE68E3}"/>
                </a:ext>
              </a:extLst>
            </p:cNvPr>
            <p:cNvSpPr/>
            <p:nvPr/>
          </p:nvSpPr>
          <p:spPr>
            <a:xfrm>
              <a:off x="4595228" y="4986816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2" name="Ellipse 331">
              <a:extLst>
                <a:ext uri="{FF2B5EF4-FFF2-40B4-BE49-F238E27FC236}">
                  <a16:creationId xmlns:a16="http://schemas.microsoft.com/office/drawing/2014/main" id="{E648B3A5-3E7D-429B-9474-2FE3EBA1FA84}"/>
                </a:ext>
              </a:extLst>
            </p:cNvPr>
            <p:cNvSpPr/>
            <p:nvPr/>
          </p:nvSpPr>
          <p:spPr>
            <a:xfrm>
              <a:off x="4597142" y="5624724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3" name="Textfeld 332">
              <a:extLst>
                <a:ext uri="{FF2B5EF4-FFF2-40B4-BE49-F238E27FC236}">
                  <a16:creationId xmlns:a16="http://schemas.microsoft.com/office/drawing/2014/main" id="{53921D51-8FE7-4BB8-9601-0880487CE194}"/>
                </a:ext>
              </a:extLst>
            </p:cNvPr>
            <p:cNvSpPr txBox="1"/>
            <p:nvPr/>
          </p:nvSpPr>
          <p:spPr>
            <a:xfrm>
              <a:off x="4172378" y="5046289"/>
              <a:ext cx="5293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Pin 2</a:t>
              </a:r>
              <a:r>
                <a:rPr lang="de-DE" sz="1200"/>
                <a:t> </a:t>
              </a:r>
            </a:p>
          </p:txBody>
        </p:sp>
        <p:cxnSp>
          <p:nvCxnSpPr>
            <p:cNvPr id="334" name="Gerader Verbinder 333">
              <a:extLst>
                <a:ext uri="{FF2B5EF4-FFF2-40B4-BE49-F238E27FC236}">
                  <a16:creationId xmlns:a16="http://schemas.microsoft.com/office/drawing/2014/main" id="{3810B3C6-F4C8-4771-848D-CC2B4F3148F5}"/>
                </a:ext>
              </a:extLst>
            </p:cNvPr>
            <p:cNvCxnSpPr>
              <a:cxnSpLocks/>
              <a:stCxn id="335" idx="6"/>
              <a:endCxn id="326" idx="2"/>
            </p:cNvCxnSpPr>
            <p:nvPr/>
          </p:nvCxnSpPr>
          <p:spPr>
            <a:xfrm>
              <a:off x="4680428" y="5345946"/>
              <a:ext cx="188674" cy="148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5" name="Ellipse 334">
              <a:extLst>
                <a:ext uri="{FF2B5EF4-FFF2-40B4-BE49-F238E27FC236}">
                  <a16:creationId xmlns:a16="http://schemas.microsoft.com/office/drawing/2014/main" id="{F0A16E9B-808D-44A5-9E0E-0A63D34CF206}"/>
                </a:ext>
              </a:extLst>
            </p:cNvPr>
            <p:cNvSpPr/>
            <p:nvPr/>
          </p:nvSpPr>
          <p:spPr>
            <a:xfrm>
              <a:off x="4595229" y="5303371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48" name="Verbinder: gewinkelt 347">
            <a:extLst>
              <a:ext uri="{FF2B5EF4-FFF2-40B4-BE49-F238E27FC236}">
                <a16:creationId xmlns:a16="http://schemas.microsoft.com/office/drawing/2014/main" id="{EF0E6040-2840-4EFA-938A-3D4603FB882B}"/>
              </a:ext>
            </a:extLst>
          </p:cNvPr>
          <p:cNvCxnSpPr>
            <a:cxnSpLocks/>
            <a:stCxn id="324" idx="6"/>
            <a:endCxn id="335" idx="2"/>
          </p:cNvCxnSpPr>
          <p:nvPr/>
        </p:nvCxnSpPr>
        <p:spPr>
          <a:xfrm>
            <a:off x="2971192" y="3343441"/>
            <a:ext cx="1624037" cy="2002505"/>
          </a:xfrm>
          <a:prstGeom prst="bentConnector3">
            <a:avLst>
              <a:gd name="adj1" fmla="val 18329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Ellipse 358">
            <a:extLst>
              <a:ext uri="{FF2B5EF4-FFF2-40B4-BE49-F238E27FC236}">
                <a16:creationId xmlns:a16="http://schemas.microsoft.com/office/drawing/2014/main" id="{703E9BD2-2A04-4590-A200-E9F45ED8EDFF}"/>
              </a:ext>
            </a:extLst>
          </p:cNvPr>
          <p:cNvSpPr/>
          <p:nvPr/>
        </p:nvSpPr>
        <p:spPr>
          <a:xfrm>
            <a:off x="7447513" y="5139995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0" name="Ellipse 359">
            <a:extLst>
              <a:ext uri="{FF2B5EF4-FFF2-40B4-BE49-F238E27FC236}">
                <a16:creationId xmlns:a16="http://schemas.microsoft.com/office/drawing/2014/main" id="{8D1C5D33-F12C-4A56-9449-B1DED8CA86C4}"/>
              </a:ext>
            </a:extLst>
          </p:cNvPr>
          <p:cNvSpPr/>
          <p:nvPr/>
        </p:nvSpPr>
        <p:spPr>
          <a:xfrm>
            <a:off x="7447513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63" name="Verbinder: gewinkelt 294">
            <a:extLst>
              <a:ext uri="{FF2B5EF4-FFF2-40B4-BE49-F238E27FC236}">
                <a16:creationId xmlns:a16="http://schemas.microsoft.com/office/drawing/2014/main" id="{FD990FEE-FBFA-49F4-A28C-F08116880F56}"/>
              </a:ext>
            </a:extLst>
          </p:cNvPr>
          <p:cNvCxnSpPr>
            <a:cxnSpLocks/>
            <a:stCxn id="150" idx="2"/>
            <a:endCxn id="362" idx="6"/>
          </p:cNvCxnSpPr>
          <p:nvPr/>
        </p:nvCxnSpPr>
        <p:spPr>
          <a:xfrm flipH="1" flipV="1">
            <a:off x="8092796" y="5184000"/>
            <a:ext cx="374437" cy="29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Verbinder: gewinkelt 294">
            <a:extLst>
              <a:ext uri="{FF2B5EF4-FFF2-40B4-BE49-F238E27FC236}">
                <a16:creationId xmlns:a16="http://schemas.microsoft.com/office/drawing/2014/main" id="{3FDBB713-6CC0-4476-8FC2-1D83E9AB4099}"/>
              </a:ext>
            </a:extLst>
          </p:cNvPr>
          <p:cNvCxnSpPr>
            <a:cxnSpLocks/>
            <a:stCxn id="151" idx="2"/>
            <a:endCxn id="360" idx="6"/>
          </p:cNvCxnSpPr>
          <p:nvPr/>
        </p:nvCxnSpPr>
        <p:spPr>
          <a:xfrm flipH="1">
            <a:off x="7532712" y="5632767"/>
            <a:ext cx="931159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Verbinder: gewinkelt 294">
            <a:extLst>
              <a:ext uri="{FF2B5EF4-FFF2-40B4-BE49-F238E27FC236}">
                <a16:creationId xmlns:a16="http://schemas.microsoft.com/office/drawing/2014/main" id="{0CCAC25F-FC2C-4D9D-AAAA-4A772E8A589C}"/>
              </a:ext>
            </a:extLst>
          </p:cNvPr>
          <p:cNvCxnSpPr>
            <a:cxnSpLocks/>
            <a:stCxn id="358" idx="2"/>
            <a:endCxn id="359" idx="6"/>
          </p:cNvCxnSpPr>
          <p:nvPr/>
        </p:nvCxnSpPr>
        <p:spPr>
          <a:xfrm flipH="1">
            <a:off x="7532712" y="5184000"/>
            <a:ext cx="219886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0" name="Gruppieren 379">
            <a:extLst>
              <a:ext uri="{FF2B5EF4-FFF2-40B4-BE49-F238E27FC236}">
                <a16:creationId xmlns:a16="http://schemas.microsoft.com/office/drawing/2014/main" id="{CB27B1ED-6FE1-44AA-8B9C-F2ACCADF34D8}"/>
              </a:ext>
            </a:extLst>
          </p:cNvPr>
          <p:cNvGrpSpPr/>
          <p:nvPr/>
        </p:nvGrpSpPr>
        <p:grpSpPr>
          <a:xfrm>
            <a:off x="7549971" y="4626042"/>
            <a:ext cx="763104" cy="601962"/>
            <a:chOff x="7549971" y="4626042"/>
            <a:chExt cx="763104" cy="601962"/>
          </a:xfrm>
        </p:grpSpPr>
        <p:sp>
          <p:nvSpPr>
            <p:cNvPr id="358" name="Ellipse 357">
              <a:extLst>
                <a:ext uri="{FF2B5EF4-FFF2-40B4-BE49-F238E27FC236}">
                  <a16:creationId xmlns:a16="http://schemas.microsoft.com/office/drawing/2014/main" id="{387CF006-6B21-4E4D-A0FC-3C33DCB1E6E7}"/>
                </a:ext>
              </a:extLst>
            </p:cNvPr>
            <p:cNvSpPr/>
            <p:nvPr/>
          </p:nvSpPr>
          <p:spPr>
            <a:xfrm>
              <a:off x="7752598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2" name="Ellipse 361">
              <a:extLst>
                <a:ext uri="{FF2B5EF4-FFF2-40B4-BE49-F238E27FC236}">
                  <a16:creationId xmlns:a16="http://schemas.microsoft.com/office/drawing/2014/main" id="{DC0BF55A-2EC3-4E68-A56E-FC9B07F383AE}"/>
                </a:ext>
              </a:extLst>
            </p:cNvPr>
            <p:cNvSpPr/>
            <p:nvPr/>
          </p:nvSpPr>
          <p:spPr>
            <a:xfrm>
              <a:off x="8007597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75" name="Gerader Verbinder 374">
              <a:extLst>
                <a:ext uri="{FF2B5EF4-FFF2-40B4-BE49-F238E27FC236}">
                  <a16:creationId xmlns:a16="http://schemas.microsoft.com/office/drawing/2014/main" id="{D623168F-A839-4070-8CA2-D53AD40258BC}"/>
                </a:ext>
              </a:extLst>
            </p:cNvPr>
            <p:cNvCxnSpPr>
              <a:cxnSpLocks/>
              <a:stCxn id="358" idx="0"/>
            </p:cNvCxnSpPr>
            <p:nvPr/>
          </p:nvCxnSpPr>
          <p:spPr>
            <a:xfrm flipV="1">
              <a:off x="7795198" y="5012093"/>
              <a:ext cx="0" cy="12790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Gerader Verbinder 376">
              <a:extLst>
                <a:ext uri="{FF2B5EF4-FFF2-40B4-BE49-F238E27FC236}">
                  <a16:creationId xmlns:a16="http://schemas.microsoft.com/office/drawing/2014/main" id="{EC44BB48-2BF4-434B-8424-65A6D3DBCB82}"/>
                </a:ext>
              </a:extLst>
            </p:cNvPr>
            <p:cNvCxnSpPr>
              <a:cxnSpLocks/>
              <a:stCxn id="362" idx="0"/>
            </p:cNvCxnSpPr>
            <p:nvPr/>
          </p:nvCxnSpPr>
          <p:spPr>
            <a:xfrm flipH="1" flipV="1">
              <a:off x="8049181" y="5020837"/>
              <a:ext cx="1016" cy="1191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Rechteck 378">
              <a:extLst>
                <a:ext uri="{FF2B5EF4-FFF2-40B4-BE49-F238E27FC236}">
                  <a16:creationId xmlns:a16="http://schemas.microsoft.com/office/drawing/2014/main" id="{F6243A8B-7E8A-43FC-B096-4B27F201CEF3}"/>
                </a:ext>
              </a:extLst>
            </p:cNvPr>
            <p:cNvSpPr/>
            <p:nvPr/>
          </p:nvSpPr>
          <p:spPr>
            <a:xfrm>
              <a:off x="7549971" y="4626042"/>
              <a:ext cx="763104" cy="41498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Master</a:t>
              </a:r>
              <a:br>
                <a:rPr lang="de-DE" sz="1200"/>
              </a:br>
              <a:r>
                <a:rPr lang="de-DE" sz="1200"/>
                <a:t>Switch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75695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62034-4B99-4FAA-9082-76DDC4D69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DB6185-5C8D-4C25-B749-1BFE3E8F7523}"/>
              </a:ext>
            </a:extLst>
          </p:cNvPr>
          <p:cNvSpPr txBox="1"/>
          <p:nvPr/>
        </p:nvSpPr>
        <p:spPr>
          <a:xfrm>
            <a:off x="781049" y="1806059"/>
            <a:ext cx="85238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>
                <a:hlinkClick r:id="rId2"/>
              </a:rPr>
              <a:t>https://wokwi.com/projects/474422651455561729</a:t>
            </a:r>
            <a:endParaRPr lang="de-DE"/>
          </a:p>
          <a:p>
            <a:endParaRPr lang="de-DE"/>
          </a:p>
          <a:p>
            <a:r>
              <a:rPr lang="de-DE"/>
              <a:t>https://wolles-elektronikkiste.de/dfplayer-mini-ansteuerung-mit-dem-arduino</a:t>
            </a:r>
          </a:p>
        </p:txBody>
      </p:sp>
    </p:spTree>
    <p:extLst>
      <p:ext uri="{BB962C8B-B14F-4D97-AF65-F5344CB8AC3E}">
        <p14:creationId xmlns:p14="http://schemas.microsoft.com/office/powerpoint/2010/main" val="14941664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nbelegung des DFPlayer Mini">
            <a:extLst>
              <a:ext uri="{FF2B5EF4-FFF2-40B4-BE49-F238E27FC236}">
                <a16:creationId xmlns:a16="http://schemas.microsoft.com/office/drawing/2014/main" id="{802EE27A-3205-44B8-B56B-5C4229C34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6035" y="93133"/>
            <a:ext cx="3224107" cy="237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17070A5B-19CF-4870-98AC-61E90EE697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586" y="2472267"/>
            <a:ext cx="5404556" cy="42756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93658" y="339004"/>
            <a:ext cx="465704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381000" y="2616200"/>
            <a:ext cx="454804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(RX) auf 3 (TX)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(TX) auf 2 (RX) per 1 k Ohm Widerstand</a:t>
            </a:r>
          </a:p>
        </p:txBody>
      </p:sp>
    </p:spTree>
    <p:extLst>
      <p:ext uri="{BB962C8B-B14F-4D97-AF65-F5344CB8AC3E}">
        <p14:creationId xmlns:p14="http://schemas.microsoft.com/office/powerpoint/2010/main" val="3636548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546</Words>
  <Application>Microsoft Office PowerPoint</Application>
  <PresentationFormat>Breitbild</PresentationFormat>
  <Paragraphs>93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Arial</vt:lpstr>
      <vt:lpstr>Calibri</vt:lpstr>
      <vt:lpstr>Consolas</vt:lpstr>
      <vt:lpstr>Office</vt:lpstr>
      <vt:lpstr>Activity Board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Soundboard</dc:title>
  <dc:creator>sigi jeske</dc:creator>
  <cp:lastModifiedBy>sigi jeske</cp:lastModifiedBy>
  <cp:revision>55</cp:revision>
  <dcterms:created xsi:type="dcterms:W3CDTF">2026-09-05T16:43:31Z</dcterms:created>
  <dcterms:modified xsi:type="dcterms:W3CDTF">2026-09-09T06:31:23Z</dcterms:modified>
</cp:coreProperties>
</file>