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314" r:id="rId9"/>
    <p:sldId id="315" r:id="rId10"/>
    <p:sldId id="282" r:id="rId11"/>
    <p:sldId id="263" r:id="rId12"/>
    <p:sldId id="267" r:id="rId13"/>
    <p:sldId id="268" r:id="rId14"/>
    <p:sldId id="269" r:id="rId15"/>
    <p:sldId id="284" r:id="rId16"/>
    <p:sldId id="283" r:id="rId17"/>
    <p:sldId id="259" r:id="rId18"/>
    <p:sldId id="287" r:id="rId19"/>
    <p:sldId id="286" r:id="rId20"/>
    <p:sldId id="276" r:id="rId21"/>
    <p:sldId id="288" r:id="rId22"/>
    <p:sldId id="295" r:id="rId23"/>
    <p:sldId id="307" r:id="rId24"/>
    <p:sldId id="308" r:id="rId25"/>
    <p:sldId id="313" r:id="rId26"/>
    <p:sldId id="296" r:id="rId27"/>
    <p:sldId id="291" r:id="rId28"/>
    <p:sldId id="290" r:id="rId29"/>
    <p:sldId id="292" r:id="rId30"/>
    <p:sldId id="274" r:id="rId31"/>
    <p:sldId id="293" r:id="rId32"/>
    <p:sldId id="312" r:id="rId33"/>
    <p:sldId id="272" r:id="rId34"/>
    <p:sldId id="271" r:id="rId35"/>
    <p:sldId id="275" r:id="rId36"/>
    <p:sldId id="299" r:id="rId37"/>
    <p:sldId id="300" r:id="rId38"/>
    <p:sldId id="303" r:id="rId39"/>
    <p:sldId id="304" r:id="rId40"/>
    <p:sldId id="305" r:id="rId41"/>
    <p:sldId id="306" r:id="rId42"/>
    <p:sldId id="310" r:id="rId43"/>
    <p:sldId id="311" r:id="rId44"/>
    <p:sldId id="294" r:id="rId45"/>
    <p:sldId id="301" r:id="rId46"/>
    <p:sldId id="302" r:id="rId47"/>
    <p:sldId id="265" r:id="rId48"/>
    <p:sldId id="266" r:id="rId49"/>
    <p:sldId id="257" r:id="rId50"/>
    <p:sldId id="258" r:id="rId51"/>
    <p:sldId id="309" r:id="rId52"/>
    <p:sldId id="270" r:id="rId53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30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158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6621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jpe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4736858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Select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792489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695138" y="3114675"/>
            <a:ext cx="0" cy="46987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Data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9868723" y="1619246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9281141" y="1978149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Volume 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>
            <a:off x="9063568" y="1757746"/>
            <a:ext cx="8051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9063567" y="2099355"/>
            <a:ext cx="21757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992404" y="1421564"/>
            <a:ext cx="0" cy="1325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2F1E715-41B1-48A7-BC8C-13997D95F3BC}"/>
              </a:ext>
            </a:extLst>
          </p:cNvPr>
          <p:cNvSpPr/>
          <p:nvPr/>
        </p:nvSpPr>
        <p:spPr>
          <a:xfrm>
            <a:off x="691125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Display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A22DA3A-D23B-4718-BA86-219358165549}"/>
              </a:ext>
            </a:extLst>
          </p:cNvPr>
          <p:cNvSpPr txBox="1"/>
          <p:nvPr/>
        </p:nvSpPr>
        <p:spPr>
          <a:xfrm>
            <a:off x="9663090" y="2337052"/>
            <a:ext cx="8871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TFT Display</a:t>
            </a:r>
          </a:p>
        </p:txBody>
      </p: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196C0611-0F44-462A-A4FA-9D22CA24F112}"/>
              </a:ext>
            </a:extLst>
          </p:cNvPr>
          <p:cNvCxnSpPr>
            <a:stCxn id="50" idx="1"/>
          </p:cNvCxnSpPr>
          <p:nvPr/>
        </p:nvCxnSpPr>
        <p:spPr>
          <a:xfrm flipH="1">
            <a:off x="9063576" y="2475552"/>
            <a:ext cx="5995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01F8A486-7160-4626-B2FF-5F81AB12686E}"/>
              </a:ext>
            </a:extLst>
          </p:cNvPr>
          <p:cNvSpPr txBox="1"/>
          <p:nvPr/>
        </p:nvSpPr>
        <p:spPr>
          <a:xfrm>
            <a:off x="9281141" y="2695954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Rotary Encoders</a:t>
            </a: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636546F3-6BBE-49F1-BA1E-B79FEF818563}"/>
              </a:ext>
            </a:extLst>
          </p:cNvPr>
          <p:cNvCxnSpPr>
            <a:cxnSpLocks/>
            <a:stCxn id="52" idx="1"/>
          </p:cNvCxnSpPr>
          <p:nvPr/>
        </p:nvCxnSpPr>
        <p:spPr>
          <a:xfrm flipH="1" flipV="1">
            <a:off x="9063567" y="2830957"/>
            <a:ext cx="217574" cy="34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6" y="1076069"/>
            <a:ext cx="6658971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7A3F774B-0742-4F28-A8AB-46B1C7858749}"/>
              </a:ext>
            </a:extLst>
          </p:cNvPr>
          <p:cNvSpPr/>
          <p:nvPr/>
        </p:nvSpPr>
        <p:spPr>
          <a:xfrm>
            <a:off x="6345381" y="2302060"/>
            <a:ext cx="2473173" cy="18863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65262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44233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2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30" idx="1"/>
          </p:cNvCxnSpPr>
          <p:nvPr/>
        </p:nvCxnSpPr>
        <p:spPr>
          <a:xfrm flipV="1">
            <a:off x="2457596" y="1865626"/>
            <a:ext cx="4470256" cy="7192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9498315" y="140372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050"/>
              <a:t>2P4T</a:t>
            </a:r>
            <a:br>
              <a:rPr lang="de-DE" sz="1050"/>
            </a:br>
            <a:r>
              <a:rPr lang="de-DE" sz="1050"/>
              <a:t>Drehregler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7010674" y="2877872"/>
            <a:ext cx="0" cy="479019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89645" y="285958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0"/>
          </p:cNvCxnSpPr>
          <p:nvPr/>
        </p:nvCxnSpPr>
        <p:spPr>
          <a:xfrm rot="16200000" flipH="1" flipV="1">
            <a:off x="8892046" y="664746"/>
            <a:ext cx="324494" cy="1802444"/>
          </a:xfrm>
          <a:prstGeom prst="bentConnector4">
            <a:avLst>
              <a:gd name="adj1" fmla="val -70448"/>
              <a:gd name="adj2" fmla="val 3478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2"/>
            <a:endCxn id="30" idx="3"/>
          </p:cNvCxnSpPr>
          <p:nvPr/>
        </p:nvCxnSpPr>
        <p:spPr>
          <a:xfrm flipH="1">
            <a:off x="8251699" y="1860921"/>
            <a:ext cx="1246616" cy="47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 rot="5400000" flipH="1">
            <a:off x="8915283" y="1277889"/>
            <a:ext cx="278020" cy="1802444"/>
          </a:xfrm>
          <a:prstGeom prst="bentConnector4">
            <a:avLst>
              <a:gd name="adj1" fmla="val -82224"/>
              <a:gd name="adj2" fmla="val 363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566193" y="4197578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5FDCD461-720C-47F5-9210-2FC3E7AA49A2}"/>
              </a:ext>
            </a:extLst>
          </p:cNvPr>
          <p:cNvSpPr/>
          <p:nvPr/>
        </p:nvSpPr>
        <p:spPr>
          <a:xfrm>
            <a:off x="6949031" y="2480292"/>
            <a:ext cx="128614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CD4066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Multiplexer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5EEA479-874D-45D0-A4E5-7001D43B7B78}"/>
              </a:ext>
            </a:extLst>
          </p:cNvPr>
          <p:cNvSpPr txBox="1"/>
          <p:nvPr/>
        </p:nvSpPr>
        <p:spPr>
          <a:xfrm>
            <a:off x="5914795" y="4705409"/>
            <a:ext cx="564366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Masterselect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wird gesteuert von einem  2P4T Drehregler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Drehregler versorgt die Gadgets mit VCC/GND : immer nur einen zu einer Zeit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Masterselect öffnet und schließt die Kanäle am Multiplexer, wenn gedreht wird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7BB9418-D1F0-4997-A1E4-2C7A44275D72}"/>
              </a:ext>
            </a:extLst>
          </p:cNvPr>
          <p:cNvSpPr/>
          <p:nvPr/>
        </p:nvSpPr>
        <p:spPr>
          <a:xfrm>
            <a:off x="6927852" y="1561897"/>
            <a:ext cx="13238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rgbClr val="0F1111"/>
                </a:solidFill>
                <a:latin typeface="Amazon Ember"/>
              </a:rPr>
              <a:t>«Arduino»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Masterselect</a:t>
            </a:r>
          </a:p>
        </p:txBody>
      </p: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1D33C8BF-7F91-4329-989B-8D9ADBD0C13C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7589776" y="2169354"/>
            <a:ext cx="2325" cy="310938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FD370A-9417-4AD3-B480-F79F6A327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Specification</a:t>
            </a:r>
          </a:p>
        </p:txBody>
      </p:sp>
      <p:pic>
        <p:nvPicPr>
          <p:cNvPr id="1026" name="Picture 2" descr="The CD4066 is a classic CMOS integrated circuit that contains four  independent bilateral electronic switches. Each switch has a simple control  input that allows it to connect and disconnect analog s">
            <a:extLst>
              <a:ext uri="{FF2B5EF4-FFF2-40B4-BE49-F238E27FC236}">
                <a16:creationId xmlns:a16="http://schemas.microsoft.com/office/drawing/2014/main" id="{78EF064F-E039-40F0-9EF1-63C9074C3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71" y="1046607"/>
            <a:ext cx="5276850" cy="527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19C079E-A984-4BE0-93E1-1475F2F64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117" y="3320195"/>
            <a:ext cx="5934903" cy="314368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65D9ECE-51A7-4674-807E-579EDB151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724" y="1046607"/>
            <a:ext cx="2419688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288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866DE5E4-E223-4F22-BAE4-36B2B784F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236254"/>
              </p:ext>
            </p:extLst>
          </p:nvPr>
        </p:nvGraphicFramePr>
        <p:xfrm>
          <a:off x="0" y="960120"/>
          <a:ext cx="12191999" cy="49377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862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30840198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1173159219"/>
                    </a:ext>
                  </a:extLst>
                </a:gridCol>
                <a:gridCol w="3990975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1051127">
                  <a:extLst>
                    <a:ext uri="{9D8B030D-6E8A-4147-A177-3AD203B41FA5}">
                      <a16:colId xmlns:a16="http://schemas.microsoft.com/office/drawing/2014/main" val="82373693"/>
                    </a:ext>
                  </a:extLst>
                </a:gridCol>
                <a:gridCol w="637743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425679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Pos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Pos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Pos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SDA-2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Pos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663507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1086533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Pos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Pos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Pos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SDA-4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Pos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B82FD69D-264C-4866-9F81-CC0AC428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Gadget Dispatch Block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7DC3569-41A1-43B4-A338-2222C409E30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1109940"/>
            <a:ext cx="2751411" cy="2242292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5C5D1A2D-B6C1-4C82-AF26-F636DC4B7E4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3825371"/>
            <a:ext cx="2726916" cy="222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716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22698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132677" y="41687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54937" y="41640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428369" y="45086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021677" y="29606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879253" y="35447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724563" y="33831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025441" y="33764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997147" y="42009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49674" y="39239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187395" y="25101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5456850" y="25257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8602691" y="25968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8165749" y="35380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6753356" y="35447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86024" y="42103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9243415" y="40493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849070" y="42192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8142460" y="5220676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63637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06375" y="1379879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797392" y="2812718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23654" y="3982346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560412" y="1477430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364903" y="3532871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652656" y="3658403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</p:cNvCxnSpPr>
          <p:nvPr/>
        </p:nvCxnSpPr>
        <p:spPr>
          <a:xfrm>
            <a:off x="8092404" y="2812718"/>
            <a:ext cx="10148" cy="1169628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083595" y="3648839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28423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23654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33438" y="2505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04846" y="2891115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551946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17714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860125" y="1909449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696570" y="801195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377685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682726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11751" y="3499034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09345" y="3708193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194630" y="313196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62433" y="3268642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4379" y="3268642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3358146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3661875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698652" y="3131963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125986" y="2550950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852903" y="289895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77746" y="2587940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 flipH="1">
            <a:off x="7960890" y="4259345"/>
            <a:ext cx="737" cy="25494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891111" y="2846214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3499034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08069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37721" y="356804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670358" y="27890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670358" y="289383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156926" y="4185747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29115" y="3103856"/>
            <a:ext cx="56906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      7 (10)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766013" y="2247663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250866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22115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447513" y="2812718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374422" y="2651135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843719" y="3426422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5947162" y="3304930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41176" y="3288522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6488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1245516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492466" y="394404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37721" y="393481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083595" y="4015602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244021" y="4010295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42462" y="2635043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348748" y="451429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8704128" y="4472171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</p:spTree>
    <p:extLst>
      <p:ext uri="{BB962C8B-B14F-4D97-AF65-F5344CB8AC3E}">
        <p14:creationId xmlns:p14="http://schemas.microsoft.com/office/powerpoint/2010/main" val="16849816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</p:spTree>
    <p:extLst>
      <p:ext uri="{BB962C8B-B14F-4D97-AF65-F5344CB8AC3E}">
        <p14:creationId xmlns:p14="http://schemas.microsoft.com/office/powerpoint/2010/main" val="1036943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F19D6DD-8014-42AF-8934-E707A82513EE}"/>
              </a:ext>
            </a:extLst>
          </p:cNvPr>
          <p:cNvSpPr/>
          <p:nvPr/>
        </p:nvSpPr>
        <p:spPr>
          <a:xfrm>
            <a:off x="4138178" y="396856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26E1315-530F-4280-B276-C6F3FE6BAFD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294728" y="4245559"/>
            <a:ext cx="0" cy="329551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89763073-C3BA-414E-B6A2-15128BC95EDC}"/>
              </a:ext>
            </a:extLst>
          </p:cNvPr>
          <p:cNvSpPr txBox="1"/>
          <p:nvPr/>
        </p:nvSpPr>
        <p:spPr>
          <a:xfrm>
            <a:off x="3917471" y="3751859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34" name="Verbinder: gewinkelt 470">
            <a:extLst>
              <a:ext uri="{FF2B5EF4-FFF2-40B4-BE49-F238E27FC236}">
                <a16:creationId xmlns:a16="http://schemas.microsoft.com/office/drawing/2014/main" id="{B613DC5D-5139-4BC4-971B-5598FFAA5037}"/>
              </a:ext>
            </a:extLst>
          </p:cNvPr>
          <p:cNvCxnSpPr>
            <a:cxnSpLocks/>
          </p:cNvCxnSpPr>
          <p:nvPr/>
        </p:nvCxnSpPr>
        <p:spPr>
          <a:xfrm>
            <a:off x="4248548" y="3806977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Verbinder: gewinkelt 470">
            <a:extLst>
              <a:ext uri="{FF2B5EF4-FFF2-40B4-BE49-F238E27FC236}">
                <a16:creationId xmlns:a16="http://schemas.microsoft.com/office/drawing/2014/main" id="{E4A80945-05A5-4817-BFC5-9632A7967140}"/>
              </a:ext>
            </a:extLst>
          </p:cNvPr>
          <p:cNvCxnSpPr>
            <a:cxnSpLocks/>
          </p:cNvCxnSpPr>
          <p:nvPr/>
        </p:nvCxnSpPr>
        <p:spPr>
          <a:xfrm>
            <a:off x="4400948" y="3802363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6867D794-AEDF-4514-9C4D-9D81DC9CB0E0}"/>
              </a:ext>
            </a:extLst>
          </p:cNvPr>
          <p:cNvSpPr txBox="1"/>
          <p:nvPr/>
        </p:nvSpPr>
        <p:spPr>
          <a:xfrm>
            <a:off x="4465623" y="374858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</p:spTree>
    <p:extLst>
      <p:ext uri="{BB962C8B-B14F-4D97-AF65-F5344CB8AC3E}">
        <p14:creationId xmlns:p14="http://schemas.microsoft.com/office/powerpoint/2010/main" val="40128737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5">
            <a:extLst>
              <a:ext uri="{FF2B5EF4-FFF2-40B4-BE49-F238E27FC236}">
                <a16:creationId xmlns:a16="http://schemas.microsoft.com/office/drawing/2014/main" id="{AFC8D745-6AC8-4DBD-A3EF-7ADC4DC4A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050115"/>
              </p:ext>
            </p:extLst>
          </p:nvPr>
        </p:nvGraphicFramePr>
        <p:xfrm>
          <a:off x="7255188" y="3327026"/>
          <a:ext cx="4920332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38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013887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2644057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Display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HSPI)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Display Reset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779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Data / Command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86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DIN (SDI, MOSI)</a:t>
                      </a:r>
                      <a:br>
                        <a:rPr lang="de-DE" sz="1200"/>
                      </a:b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SPI-Datenausgang vom ESP32 (MasterOut-SlaveIn)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697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Hardware-Taktleitung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457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17</a:t>
                      </a:r>
                      <a:br>
                        <a:rPr lang="de-DE" sz="1200"/>
                      </a:br>
                      <a:r>
                        <a:rPr lang="de-DE" sz="1200"/>
                        <a:t>(oder 3V3)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Hintergrundbeleuchtung regelbar</a:t>
                      </a:r>
                      <a:br>
                        <a:rPr lang="de-DE" sz="1200"/>
                      </a:br>
                      <a:r>
                        <a:rPr lang="de-DE" sz="1200"/>
                        <a:t>(oder dauerhaft an)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978468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2529185" y="3389970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2476234" y="3028938"/>
            <a:ext cx="1600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Display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1603622" y="3895767"/>
            <a:ext cx="2057018" cy="12133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379338" y="36095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3653097" y="449723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4240770" y="6369944"/>
            <a:ext cx="2490463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5486002" y="6297487"/>
            <a:ext cx="5347" cy="72457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B0812AAD-CBFA-4E8F-A386-BEA76F51308F}"/>
              </a:ext>
            </a:extLst>
          </p:cNvPr>
          <p:cNvSpPr txBox="1"/>
          <p:nvPr/>
        </p:nvSpPr>
        <p:spPr>
          <a:xfrm>
            <a:off x="4212867" y="579668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2" name="Verbinder: gewinkelt 470">
            <a:extLst>
              <a:ext uri="{FF2B5EF4-FFF2-40B4-BE49-F238E27FC236}">
                <a16:creationId xmlns:a16="http://schemas.microsoft.com/office/drawing/2014/main" id="{1A6FA0E0-092B-4B84-BE38-EB4929D13568}"/>
              </a:ext>
            </a:extLst>
          </p:cNvPr>
          <p:cNvCxnSpPr>
            <a:cxnSpLocks/>
          </p:cNvCxnSpPr>
          <p:nvPr/>
        </p:nvCxnSpPr>
        <p:spPr>
          <a:xfrm>
            <a:off x="4466474" y="5863148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470">
            <a:extLst>
              <a:ext uri="{FF2B5EF4-FFF2-40B4-BE49-F238E27FC236}">
                <a16:creationId xmlns:a16="http://schemas.microsoft.com/office/drawing/2014/main" id="{617A25EE-C52D-4692-AB4D-437C363028C3}"/>
              </a:ext>
            </a:extLst>
          </p:cNvPr>
          <p:cNvCxnSpPr>
            <a:cxnSpLocks/>
          </p:cNvCxnSpPr>
          <p:nvPr/>
        </p:nvCxnSpPr>
        <p:spPr>
          <a:xfrm>
            <a:off x="4763801" y="5856099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77016147-48C8-45E8-8B0F-303E181D5FD3}"/>
              </a:ext>
            </a:extLst>
          </p:cNvPr>
          <p:cNvSpPr txBox="1"/>
          <p:nvPr/>
        </p:nvSpPr>
        <p:spPr>
          <a:xfrm>
            <a:off x="4554412" y="5788951"/>
            <a:ext cx="21480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4240770" y="6020488"/>
            <a:ext cx="2501158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</p:cNvCxnSpPr>
          <p:nvPr/>
        </p:nvCxnSpPr>
        <p:spPr>
          <a:xfrm flipV="1">
            <a:off x="564606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</p:cNvCxnSpPr>
          <p:nvPr/>
        </p:nvCxnSpPr>
        <p:spPr>
          <a:xfrm flipV="1">
            <a:off x="5935420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9359CD09-661F-4172-BE56-F52260A69A8E}"/>
              </a:ext>
            </a:extLst>
          </p:cNvPr>
          <p:cNvSpPr txBox="1"/>
          <p:nvPr/>
        </p:nvSpPr>
        <p:spPr>
          <a:xfrm>
            <a:off x="272992" y="6119736"/>
            <a:ext cx="1369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Adafruit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</p:cNvCxnSpPr>
          <p:nvPr/>
        </p:nvCxnSpPr>
        <p:spPr>
          <a:xfrm flipV="1">
            <a:off x="5337803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</p:cNvCxnSpPr>
          <p:nvPr/>
        </p:nvCxnSpPr>
        <p:spPr>
          <a:xfrm flipV="1">
            <a:off x="5016411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</p:cNvCxnSpPr>
          <p:nvPr/>
        </p:nvCxnSpPr>
        <p:spPr>
          <a:xfrm flipV="1">
            <a:off x="626664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</p:cNvCxnSpPr>
          <p:nvPr/>
        </p:nvCxnSpPr>
        <p:spPr>
          <a:xfrm flipV="1">
            <a:off x="6602476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360793" y="578242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036876" y="578242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4837031" y="5782425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119042" y="5782425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5767848" y="578242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38101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052291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4843630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172128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574238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17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5477350" y="578242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456698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3532435" y="462430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379338" y="446448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1603622" y="476279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348245" y="508216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3660640" y="361169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graphicFrame>
        <p:nvGraphicFramePr>
          <p:cNvPr id="70" name="Tabelle 5">
            <a:extLst>
              <a:ext uri="{FF2B5EF4-FFF2-40B4-BE49-F238E27FC236}">
                <a16:creationId xmlns:a16="http://schemas.microsoft.com/office/drawing/2014/main" id="{90441708-4112-4048-8D1C-B8303C0943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33811"/>
              </p:ext>
            </p:extLst>
          </p:nvPr>
        </p:nvGraphicFramePr>
        <p:xfrm>
          <a:off x="7258050" y="123201"/>
          <a:ext cx="49043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999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170750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1228491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  <a:gridCol w="1677060">
                  <a:extLst>
                    <a:ext uri="{9D8B030D-6E8A-4147-A177-3AD203B41FA5}">
                      <a16:colId xmlns:a16="http://schemas.microsoft.com/office/drawing/2014/main" val="202873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USB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Pegelwandler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 (5V)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plus 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D- (SDA)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014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D+ (SCL)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092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 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12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404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592746"/>
                  </a:ext>
                </a:extLst>
              </a:tr>
            </a:tbl>
          </a:graphicData>
        </a:graphic>
      </p:graphicFrame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226978" y="3611691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5D2A68F8-7AC4-4673-A7FB-5C1C0CE6577D}"/>
              </a:ext>
            </a:extLst>
          </p:cNvPr>
          <p:cNvSpPr/>
          <p:nvPr/>
        </p:nvSpPr>
        <p:spPr>
          <a:xfrm>
            <a:off x="5325405" y="2962404"/>
            <a:ext cx="1318525" cy="2981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sd card extender</a:t>
            </a:r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40682CBF-71B1-4578-89F2-785F68D9FFC7}"/>
              </a:ext>
            </a:extLst>
          </p:cNvPr>
          <p:cNvCxnSpPr>
            <a:cxnSpLocks/>
            <a:stCxn id="90" idx="2"/>
            <a:endCxn id="89" idx="0"/>
          </p:cNvCxnSpPr>
          <p:nvPr/>
        </p:nvCxnSpPr>
        <p:spPr>
          <a:xfrm flipH="1">
            <a:off x="5984453" y="3260572"/>
            <a:ext cx="215" cy="35111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2" name="Tabelle 5">
            <a:extLst>
              <a:ext uri="{FF2B5EF4-FFF2-40B4-BE49-F238E27FC236}">
                <a16:creationId xmlns:a16="http://schemas.microsoft.com/office/drawing/2014/main" id="{1BC1CADF-0DC1-4232-90C2-C262F9059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0718564"/>
              </p:ext>
            </p:extLst>
          </p:nvPr>
        </p:nvGraphicFramePr>
        <p:xfrm>
          <a:off x="2183497" y="136937"/>
          <a:ext cx="492033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3122379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SD-Modul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VSPI)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Master-In-Slave-Out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Master-Out-Slave-In (parallel to DIN of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Clock (parallel to CLK of TFT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36B87F3-CBBC-48D5-B264-51E206E1C3A3}"/>
              </a:ext>
            </a:extLst>
          </p:cNvPr>
          <p:cNvCxnSpPr>
            <a:cxnSpLocks/>
          </p:cNvCxnSpPr>
          <p:nvPr/>
        </p:nvCxnSpPr>
        <p:spPr>
          <a:xfrm flipV="1">
            <a:off x="3888097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</p:cNvCxnSpPr>
          <p:nvPr/>
        </p:nvCxnSpPr>
        <p:spPr>
          <a:xfrm flipV="1">
            <a:off x="4127978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</p:cNvCxnSpPr>
          <p:nvPr/>
        </p:nvCxnSpPr>
        <p:spPr>
          <a:xfrm flipV="1">
            <a:off x="4367859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</p:cNvCxnSpPr>
          <p:nvPr/>
        </p:nvCxnSpPr>
        <p:spPr>
          <a:xfrm flipV="1">
            <a:off x="460774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58397AA8-D918-4E61-B26C-A62B5C3E4A63}"/>
              </a:ext>
            </a:extLst>
          </p:cNvPr>
          <p:cNvSpPr txBox="1"/>
          <p:nvPr/>
        </p:nvSpPr>
        <p:spPr>
          <a:xfrm>
            <a:off x="3654963" y="4178357"/>
            <a:ext cx="16030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HV	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3883974" y="418264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207563" y="4182648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409324" y="4182648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LV1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</p:cNvCxnSpPr>
          <p:nvPr/>
        </p:nvCxnSpPr>
        <p:spPr>
          <a:xfrm flipV="1">
            <a:off x="484762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4680014" y="4177199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E8FEAA29-3AD3-4B9F-AC85-76EB7A892139}"/>
              </a:ext>
            </a:extLst>
          </p:cNvPr>
          <p:cNvSpPr txBox="1"/>
          <p:nvPr/>
        </p:nvSpPr>
        <p:spPr>
          <a:xfrm>
            <a:off x="3671225" y="433837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3893006" y="434266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164260" y="434266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474022" y="434266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4711599" y="433721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2726923" y="3488393"/>
            <a:ext cx="695703" cy="80791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 --- HV</a:t>
            </a:r>
            <a:br>
              <a:rPr lang="de-DE" sz="1050"/>
            </a:br>
            <a:r>
              <a:rPr lang="de-DE" sz="1050"/>
              <a:t>GND --- GND</a:t>
            </a:r>
            <a:br>
              <a:rPr lang="de-DE" sz="1050"/>
            </a:br>
            <a:br>
              <a:rPr lang="de-DE" sz="1050"/>
            </a:br>
            <a:r>
              <a:rPr lang="de-DE" sz="1050"/>
              <a:t>D- --- HV1</a:t>
            </a:r>
            <a:br>
              <a:rPr lang="de-DE" sz="1050"/>
            </a:br>
            <a:r>
              <a:rPr lang="de-DE" sz="1050"/>
              <a:t>D+ --- HV2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52A2F27-7CE4-4420-A66B-A13F28F6FF02}"/>
              </a:ext>
            </a:extLst>
          </p:cNvPr>
          <p:cNvCxnSpPr>
            <a:cxnSpLocks/>
          </p:cNvCxnSpPr>
          <p:nvPr/>
        </p:nvCxnSpPr>
        <p:spPr>
          <a:xfrm flipV="1">
            <a:off x="5513412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</p:cNvCxnSpPr>
          <p:nvPr/>
        </p:nvCxnSpPr>
        <p:spPr>
          <a:xfrm flipV="1">
            <a:off x="5753293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</p:cNvCxnSpPr>
          <p:nvPr/>
        </p:nvCxnSpPr>
        <p:spPr>
          <a:xfrm flipV="1">
            <a:off x="5993174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</p:cNvCxnSpPr>
          <p:nvPr/>
        </p:nvCxnSpPr>
        <p:spPr>
          <a:xfrm flipV="1">
            <a:off x="623305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249821" y="417266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	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413930A8-3A8C-4199-BE18-9415F978C82B}"/>
              </a:ext>
            </a:extLst>
          </p:cNvPr>
          <p:cNvSpPr txBox="1"/>
          <p:nvPr/>
        </p:nvSpPr>
        <p:spPr>
          <a:xfrm>
            <a:off x="5509289" y="417695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5824863" y="417695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033036" y="4176956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</p:cNvCxnSpPr>
          <p:nvPr/>
        </p:nvCxnSpPr>
        <p:spPr>
          <a:xfrm flipV="1">
            <a:off x="647293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306933" y="4171507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A81B31BF-A149-49DC-A4AF-56ACC4431E1D}"/>
              </a:ext>
            </a:extLst>
          </p:cNvPr>
          <p:cNvSpPr txBox="1"/>
          <p:nvPr/>
        </p:nvSpPr>
        <p:spPr>
          <a:xfrm>
            <a:off x="5296540" y="433268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5039F28C-4612-4872-B82F-2F1EEAA5CF69}"/>
              </a:ext>
            </a:extLst>
          </p:cNvPr>
          <p:cNvSpPr txBox="1"/>
          <p:nvPr/>
        </p:nvSpPr>
        <p:spPr>
          <a:xfrm>
            <a:off x="5518321" y="433697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582804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09933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336914" y="433152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BFC673FF-96A3-47A7-91A8-C8B6FDA82846}"/>
              </a:ext>
            </a:extLst>
          </p:cNvPr>
          <p:cNvCxnSpPr>
            <a:cxnSpLocks/>
          </p:cNvCxnSpPr>
          <p:nvPr/>
        </p:nvCxnSpPr>
        <p:spPr>
          <a:xfrm flipV="1">
            <a:off x="6700396" y="417748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6566454" y="4175427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6598840" y="433544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FC5473C5-E7C2-45CB-BDC4-F8275B06DC11}"/>
              </a:ext>
            </a:extLst>
          </p:cNvPr>
          <p:cNvSpPr/>
          <p:nvPr/>
        </p:nvSpPr>
        <p:spPr>
          <a:xfrm>
            <a:off x="2501000" y="6366518"/>
            <a:ext cx="1626978" cy="3545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</a:t>
            </a:r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1AD8066C-63F4-4883-9F00-F3F383E5B68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967862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035BFD5-4BD4-44AA-9768-183B535786A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162641" y="5270237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E04A6130-106E-45F7-821C-C763CC236A5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810352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42E4ADBC-5791-40B2-9CE3-1B0B5553068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638686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Gerader Verbinder 150">
            <a:extLst>
              <a:ext uri="{FF2B5EF4-FFF2-40B4-BE49-F238E27FC236}">
                <a16:creationId xmlns:a16="http://schemas.microsoft.com/office/drawing/2014/main" id="{AA911488-D32F-4068-981D-5BAA647742C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376063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4880CDAE-89CD-40D5-A3FB-65F790992AC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582016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AFC933F-5306-4B82-B439-5DB7839D95B1}"/>
              </a:ext>
            </a:extLst>
          </p:cNvPr>
          <p:cNvSpPr txBox="1"/>
          <p:nvPr/>
        </p:nvSpPr>
        <p:spPr>
          <a:xfrm>
            <a:off x="4514099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1CADF1F7-C555-4CDF-987D-B5A6B8931284}"/>
              </a:ext>
            </a:extLst>
          </p:cNvPr>
          <p:cNvSpPr txBox="1"/>
          <p:nvPr/>
        </p:nvSpPr>
        <p:spPr>
          <a:xfrm>
            <a:off x="4291744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27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0D6352A7-6DDF-4322-AF9D-B280AFAE10B7}"/>
              </a:ext>
            </a:extLst>
          </p:cNvPr>
          <p:cNvSpPr txBox="1"/>
          <p:nvPr/>
        </p:nvSpPr>
        <p:spPr>
          <a:xfrm>
            <a:off x="3551017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356FE094-94E3-470E-A435-BE24D4AE2358}"/>
              </a:ext>
            </a:extLst>
          </p:cNvPr>
          <p:cNvSpPr txBox="1"/>
          <p:nvPr/>
        </p:nvSpPr>
        <p:spPr>
          <a:xfrm>
            <a:off x="3747054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33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A3ABBC5E-04EF-47BF-8560-8B603A5FEF00}"/>
              </a:ext>
            </a:extLst>
          </p:cNvPr>
          <p:cNvSpPr txBox="1"/>
          <p:nvPr/>
        </p:nvSpPr>
        <p:spPr>
          <a:xfrm>
            <a:off x="4094794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26</a:t>
            </a:r>
          </a:p>
        </p:txBody>
      </p:sp>
      <p:sp>
        <p:nvSpPr>
          <p:cNvPr id="164" name="Textfeld 163">
            <a:extLst>
              <a:ext uri="{FF2B5EF4-FFF2-40B4-BE49-F238E27FC236}">
                <a16:creationId xmlns:a16="http://schemas.microsoft.com/office/drawing/2014/main" id="{54BFA000-BDAC-42B0-B9B4-F3E67BE8A963}"/>
              </a:ext>
            </a:extLst>
          </p:cNvPr>
          <p:cNvSpPr txBox="1"/>
          <p:nvPr/>
        </p:nvSpPr>
        <p:spPr>
          <a:xfrm>
            <a:off x="3923673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25</a:t>
            </a:r>
          </a:p>
        </p:txBody>
      </p:sp>
      <p:sp>
        <p:nvSpPr>
          <p:cNvPr id="165" name="Textfeld 164">
            <a:extLst>
              <a:ext uri="{FF2B5EF4-FFF2-40B4-BE49-F238E27FC236}">
                <a16:creationId xmlns:a16="http://schemas.microsoft.com/office/drawing/2014/main" id="{3A9ADD29-A5ED-4ED6-BAD1-F90A8E5B372A}"/>
              </a:ext>
            </a:extLst>
          </p:cNvPr>
          <p:cNvSpPr txBox="1"/>
          <p:nvPr/>
        </p:nvSpPr>
        <p:spPr>
          <a:xfrm>
            <a:off x="3729657" y="6210875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166" name="Textfeld 165">
            <a:extLst>
              <a:ext uri="{FF2B5EF4-FFF2-40B4-BE49-F238E27FC236}">
                <a16:creationId xmlns:a16="http://schemas.microsoft.com/office/drawing/2014/main" id="{72815D9D-132B-4F80-BDF6-B3EFF5B9B916}"/>
              </a:ext>
            </a:extLst>
          </p:cNvPr>
          <p:cNvSpPr txBox="1"/>
          <p:nvPr/>
        </p:nvSpPr>
        <p:spPr>
          <a:xfrm>
            <a:off x="3524133" y="6210875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67" name="Textfeld 166">
            <a:extLst>
              <a:ext uri="{FF2B5EF4-FFF2-40B4-BE49-F238E27FC236}">
                <a16:creationId xmlns:a16="http://schemas.microsoft.com/office/drawing/2014/main" id="{AE9E8C7F-23E3-462E-B4CC-32F5010BCBFB}"/>
              </a:ext>
            </a:extLst>
          </p:cNvPr>
          <p:cNvSpPr txBox="1"/>
          <p:nvPr/>
        </p:nvSpPr>
        <p:spPr>
          <a:xfrm>
            <a:off x="2758561" y="6210875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68" name="Textfeld 167">
            <a:extLst>
              <a:ext uri="{FF2B5EF4-FFF2-40B4-BE49-F238E27FC236}">
                <a16:creationId xmlns:a16="http://schemas.microsoft.com/office/drawing/2014/main" id="{2125647A-079C-4F6E-A566-30DCC5BFD7E5}"/>
              </a:ext>
            </a:extLst>
          </p:cNvPr>
          <p:cNvSpPr txBox="1"/>
          <p:nvPr/>
        </p:nvSpPr>
        <p:spPr>
          <a:xfrm>
            <a:off x="2979443" y="6210875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69" name="Textfeld 168">
            <a:extLst>
              <a:ext uri="{FF2B5EF4-FFF2-40B4-BE49-F238E27FC236}">
                <a16:creationId xmlns:a16="http://schemas.microsoft.com/office/drawing/2014/main" id="{933363B9-5FED-4F21-8CA0-896DBBDD8E36}"/>
              </a:ext>
            </a:extLst>
          </p:cNvPr>
          <p:cNvSpPr txBox="1"/>
          <p:nvPr/>
        </p:nvSpPr>
        <p:spPr>
          <a:xfrm>
            <a:off x="3302338" y="6210875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70" name="Textfeld 169">
            <a:extLst>
              <a:ext uri="{FF2B5EF4-FFF2-40B4-BE49-F238E27FC236}">
                <a16:creationId xmlns:a16="http://schemas.microsoft.com/office/drawing/2014/main" id="{60EA6BE8-979A-4019-976F-11809C126A51}"/>
              </a:ext>
            </a:extLst>
          </p:cNvPr>
          <p:cNvSpPr txBox="1"/>
          <p:nvPr/>
        </p:nvSpPr>
        <p:spPr>
          <a:xfrm>
            <a:off x="3139231" y="6210875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graphicFrame>
        <p:nvGraphicFramePr>
          <p:cNvPr id="177" name="Tabelle 5">
            <a:extLst>
              <a:ext uri="{FF2B5EF4-FFF2-40B4-BE49-F238E27FC236}">
                <a16:creationId xmlns:a16="http://schemas.microsoft.com/office/drawing/2014/main" id="{8C767214-18CB-48E8-AE7C-B829310B7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635786"/>
              </p:ext>
            </p:extLst>
          </p:nvPr>
        </p:nvGraphicFramePr>
        <p:xfrm>
          <a:off x="231323" y="123201"/>
          <a:ext cx="1797953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CLK-LEFT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DT-LEFT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SW-LEFT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CLK-RIGHT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DT-RIGHT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SW_RIGHT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447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738430"/>
              </p:ext>
            </p:extLst>
          </p:nvPr>
        </p:nvGraphicFramePr>
        <p:xfrm>
          <a:off x="1" y="76200"/>
          <a:ext cx="12191997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7693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923432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534963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51162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448027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768494">
                  <a:extLst>
                    <a:ext uri="{9D8B030D-6E8A-4147-A177-3AD203B41FA5}">
                      <a16:colId xmlns:a16="http://schemas.microsoft.com/office/drawing/2014/main" val="2721987841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816847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545226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CLK-1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DT-1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DT-2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MOSI/DIN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81399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35666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57F41C-B0B6-4592-AC98-425C1C43A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778" y="2693980"/>
            <a:ext cx="2819794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0850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56CF85-4A33-4E7E-A82B-6CAE3A08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Rotary Encoder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6A4B80F-7EC7-4703-A3CE-E8FD0F481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3" y="3680312"/>
            <a:ext cx="5239481" cy="298174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A4DD7C9-8429-4E2E-B0EC-2932A5C20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4" y="627776"/>
            <a:ext cx="5239481" cy="298174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38A6E45-8D52-4C02-81E5-261C917C7ABB}"/>
              </a:ext>
            </a:extLst>
          </p:cNvPr>
          <p:cNvSpPr txBox="1"/>
          <p:nvPr/>
        </p:nvSpPr>
        <p:spPr>
          <a:xfrm>
            <a:off x="952500" y="2486025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LEFT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B103CA9-4D15-4418-BCAE-0EEF059443C6}"/>
              </a:ext>
            </a:extLst>
          </p:cNvPr>
          <p:cNvSpPr txBox="1"/>
          <p:nvPr/>
        </p:nvSpPr>
        <p:spPr>
          <a:xfrm>
            <a:off x="952500" y="4713606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RIGHT</a:t>
            </a:r>
          </a:p>
        </p:txBody>
      </p:sp>
      <p:graphicFrame>
        <p:nvGraphicFramePr>
          <p:cNvPr id="10" name="Tabelle 3">
            <a:extLst>
              <a:ext uri="{FF2B5EF4-FFF2-40B4-BE49-F238E27FC236}">
                <a16:creationId xmlns:a16="http://schemas.microsoft.com/office/drawing/2014/main" id="{85DF4966-DA32-45FC-979B-C81B798B10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31445"/>
              </p:ext>
            </p:extLst>
          </p:nvPr>
        </p:nvGraphicFramePr>
        <p:xfrm>
          <a:off x="7611511" y="507111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  <p:graphicFrame>
        <p:nvGraphicFramePr>
          <p:cNvPr id="11" name="Tabelle 3">
            <a:extLst>
              <a:ext uri="{FF2B5EF4-FFF2-40B4-BE49-F238E27FC236}">
                <a16:creationId xmlns:a16="http://schemas.microsoft.com/office/drawing/2014/main" id="{B77619A4-4293-48B5-AB79-25240D18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468104"/>
              </p:ext>
            </p:extLst>
          </p:nvPr>
        </p:nvGraphicFramePr>
        <p:xfrm>
          <a:off x="7611511" y="3570543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28489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9379477"/>
              </p:ext>
            </p:extLst>
          </p:nvPr>
        </p:nvGraphicFramePr>
        <p:xfrm>
          <a:off x="1558060" y="9525"/>
          <a:ext cx="5519015" cy="6848489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96015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136568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82947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703485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Display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RST 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Display Reset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Data / Command Selection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MISO (in case of touch pad)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26931480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DIN (SDI, MOSI)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SPI-Datenausgang vom ESP32 (MasterOut-SlaveIn)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16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Hardware-Taktleitung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55564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BL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>
                          <a:effectLst/>
                        </a:rPr>
                        <a:t>GPIO 17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Hintergrundbeleuchtung regelbar (oder dauerhaft an)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u="none" strike="noStrike">
                          <a:effectLst/>
                        </a:rPr>
                        <a:t>Rotary Encoder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93818777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41493969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4453412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7750506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on right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45090519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on rght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33610737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on right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20212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3580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87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7525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089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 : es wird normal gewürfelt</a:t>
            </a:r>
            <a:br>
              <a:rPr lang="de-DE"/>
            </a:br>
            <a:endParaRPr lang="de-DE"/>
          </a:p>
          <a:p>
            <a:r>
              <a:rPr lang="de-DE"/>
              <a:t>Numpad Eingabe : es wird gewürfelt und bei Treffer entsprechend honoriert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1092684"/>
              </p:ext>
            </p:extLst>
          </p:nvPr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9935441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LED-1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5046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Auswahl der Geschichte</a:t>
            </a:r>
          </a:p>
          <a:p>
            <a:pPr lvl="1"/>
            <a:r>
              <a:rPr lang="de-DE"/>
              <a:t>Jede Geschichte eingeteilt in Abschnitte</a:t>
            </a:r>
          </a:p>
          <a:p>
            <a:pPr lvl="1"/>
            <a:r>
              <a:rPr lang="de-DE"/>
              <a:t>Optional : kein linearer Durchlauf, sondern gesteuert durch das Kind</a:t>
            </a:r>
          </a:p>
          <a:p>
            <a:pPr lvl="1"/>
            <a:endParaRPr lang="de-DE"/>
          </a:p>
          <a:p>
            <a:r>
              <a:rPr lang="de-DE"/>
              <a:t>Start Button (grüne LED)</a:t>
            </a:r>
          </a:p>
          <a:p>
            <a:pPr lvl="1"/>
            <a:r>
              <a:rPr lang="de-DE"/>
              <a:t>wenn der start button (unterhalb der grünen LED) gedrückt wird, werden die konfigurierten Stories hintereinander angezeigt</a:t>
            </a:r>
          </a:p>
          <a:p>
            <a:pPr lvl="1"/>
            <a:r>
              <a:rPr lang="de-DE"/>
              <a:t>während dieses "Selection" Modus wird eine grüne LED angezeigt</a:t>
            </a:r>
          </a:p>
          <a:p>
            <a:pPr lvl="1"/>
            <a:r>
              <a:rPr lang="de-DE"/>
              <a:t>es wird jeweils ein sound und ein bitmap geöffnet – quasi als teaser</a:t>
            </a:r>
          </a:p>
          <a:p>
            <a:pPr lvl="1"/>
            <a:r>
              <a:rPr lang="de-DE"/>
              <a:t>es werden alle Stories nur einmal gezeigt, dann wird der Selektionsmodus beendet</a:t>
            </a:r>
          </a:p>
          <a:p>
            <a:pPr lvl="1"/>
            <a:endParaRPr lang="de-DE"/>
          </a:p>
          <a:p>
            <a:r>
              <a:rPr lang="de-DE"/>
              <a:t>Select Button (blaue LED)</a:t>
            </a:r>
          </a:p>
          <a:p>
            <a:pPr lvl="1"/>
            <a:r>
              <a:rPr lang="de-DE"/>
              <a:t>während des Selektionsmodus kann die gerade angezeigte Story ausgewählt werden.</a:t>
            </a:r>
          </a:p>
          <a:p>
            <a:pPr lvl="1"/>
            <a:r>
              <a:rPr lang="de-DE"/>
              <a:t>dies erfolgt durch drücken des Select Buttons (unterhalb der blauen LED)</a:t>
            </a:r>
          </a:p>
          <a:p>
            <a:pPr lvl="1"/>
            <a:r>
              <a:rPr lang="de-DE"/>
              <a:t>damit wird der Selektionsmodus beendet (grüne LED erlischt) und der Reading Modus beginnt (blaue LED an)</a:t>
            </a:r>
          </a:p>
          <a:p>
            <a:pPr lvl="1"/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716653"/>
              </p:ext>
            </p:extLst>
          </p:nvPr>
        </p:nvGraphicFramePr>
        <p:xfrm>
          <a:off x="143930" y="762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709807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657225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START_BUTTON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READING_LED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547235"/>
              </p:ext>
            </p:extLst>
          </p:nvPr>
        </p:nvGraphicFramePr>
        <p:xfrm>
          <a:off x="2882035" y="1457696"/>
          <a:ext cx="6058819" cy="3576848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50A08EE-0F26-4E98-976D-5E42C1CD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Settings</a:t>
            </a:r>
          </a:p>
        </p:txBody>
      </p:sp>
    </p:spTree>
    <p:extLst>
      <p:ext uri="{BB962C8B-B14F-4D97-AF65-F5344CB8AC3E}">
        <p14:creationId xmlns:p14="http://schemas.microsoft.com/office/powerpoint/2010/main" val="4611634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8E96B4-6005-4A6A-AB47-9675B3D6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Portsettings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06224E5A-12C2-4F09-9F0F-F49A0CBD3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977906"/>
              </p:ext>
            </p:extLst>
          </p:nvPr>
        </p:nvGraphicFramePr>
        <p:xfrm>
          <a:off x="2032000" y="719666"/>
          <a:ext cx="81279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159875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289487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91691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Module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981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Display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182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Sound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87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Dice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5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Storybook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884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Numpad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014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098044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9D525682-08FD-4870-A401-EFAAF50B70E2}"/>
              </a:ext>
            </a:extLst>
          </p:cNvPr>
          <p:cNvSpPr txBox="1"/>
          <p:nvPr/>
        </p:nvSpPr>
        <p:spPr>
          <a:xfrm>
            <a:off x="1162050" y="4344085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Computer\HKEY_LOCAL_MACHINE\SYSTEM\CurrentControlSet\Control\usbflags</a:t>
            </a:r>
            <a:br>
              <a:rPr lang="de-DE"/>
            </a:br>
            <a:r>
              <a:rPr lang="de-DE"/>
              <a:t>	IgnoreHWSerNum : DWORD = 1</a:t>
            </a:r>
          </a:p>
        </p:txBody>
      </p:sp>
    </p:spTree>
    <p:extLst>
      <p:ext uri="{BB962C8B-B14F-4D97-AF65-F5344CB8AC3E}">
        <p14:creationId xmlns:p14="http://schemas.microsoft.com/office/powerpoint/2010/main" val="1397802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E03989-CB40-455A-B40F-7FBACF9D2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PCF8574 Masterselect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77783-4EBD-45C2-BD65-E7A81A09C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01" y="743934"/>
            <a:ext cx="1952898" cy="547763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4E93DEE1-EE17-4A6B-87D3-E6BC5E8604A8}"/>
              </a:ext>
            </a:extLst>
          </p:cNvPr>
          <p:cNvSpPr txBox="1"/>
          <p:nvPr/>
        </p:nvSpPr>
        <p:spPr>
          <a:xfrm>
            <a:off x="1023801" y="5929400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Activity Bus Connect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E675DF0-61F5-4995-B574-D4179B127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1601" y="195947"/>
            <a:ext cx="3421217" cy="2090053"/>
          </a:xfrm>
          <a:prstGeom prst="rect">
            <a:avLst/>
          </a:prstGeom>
        </p:spPr>
      </p:pic>
      <p:graphicFrame>
        <p:nvGraphicFramePr>
          <p:cNvPr id="8" name="Tabelle 3">
            <a:extLst>
              <a:ext uri="{FF2B5EF4-FFF2-40B4-BE49-F238E27FC236}">
                <a16:creationId xmlns:a16="http://schemas.microsoft.com/office/drawing/2014/main" id="{E8FBCE3B-7BB8-40AE-9498-84522F8DEDD8}"/>
              </a:ext>
            </a:extLst>
          </p:cNvPr>
          <p:cNvGraphicFramePr>
            <a:graphicFrameLocks noGrp="1"/>
          </p:cNvGraphicFramePr>
          <p:nvPr/>
        </p:nvGraphicFramePr>
        <p:xfrm>
          <a:off x="2624092" y="2075554"/>
          <a:ext cx="4043409" cy="26002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3374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3171568005"/>
                    </a:ext>
                  </a:extLst>
                </a:gridCol>
              </a:tblGrid>
              <a:tr h="405712">
                <a:tc>
                  <a:txBody>
                    <a:bodyPr/>
                    <a:lstStyle/>
                    <a:p>
                      <a:r>
                        <a:rPr lang="de-DE" sz="12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Rotary 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Relais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CLK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DT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/>
                        <a:t>SW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7662353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558436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r>
                        <a:rPr lang="de-DE" sz="100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6243585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1E9CF4E-98B7-48F9-B717-73868643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327" y="2499825"/>
            <a:ext cx="4729162" cy="342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66BB9B4-FCAA-4AE0-BDE8-9CB5ACB8DE6E}"/>
              </a:ext>
            </a:extLst>
          </p:cNvPr>
          <p:cNvCxnSpPr>
            <a:cxnSpLocks/>
          </p:cNvCxnSpPr>
          <p:nvPr/>
        </p:nvCxnSpPr>
        <p:spPr>
          <a:xfrm flipV="1">
            <a:off x="85534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4EA4748-5D39-4AAE-99B7-C1B848D101D5}"/>
              </a:ext>
            </a:extLst>
          </p:cNvPr>
          <p:cNvCxnSpPr>
            <a:cxnSpLocks/>
          </p:cNvCxnSpPr>
          <p:nvPr/>
        </p:nvCxnSpPr>
        <p:spPr>
          <a:xfrm flipV="1">
            <a:off x="90170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1193FE8-0BBA-4F73-AE05-EB33936C414B}"/>
              </a:ext>
            </a:extLst>
          </p:cNvPr>
          <p:cNvCxnSpPr>
            <a:cxnSpLocks/>
          </p:cNvCxnSpPr>
          <p:nvPr/>
        </p:nvCxnSpPr>
        <p:spPr>
          <a:xfrm flipV="1">
            <a:off x="94805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025D9F-E2F5-4A88-B858-3593362F732E}"/>
              </a:ext>
            </a:extLst>
          </p:cNvPr>
          <p:cNvCxnSpPr>
            <a:cxnSpLocks/>
          </p:cNvCxnSpPr>
          <p:nvPr/>
        </p:nvCxnSpPr>
        <p:spPr>
          <a:xfrm flipV="1">
            <a:off x="99441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36F5923-36B9-4BD7-BCAC-DDEF2F9B3917}"/>
              </a:ext>
            </a:extLst>
          </p:cNvPr>
          <p:cNvSpPr txBox="1"/>
          <p:nvPr/>
        </p:nvSpPr>
        <p:spPr>
          <a:xfrm>
            <a:off x="4400550" y="5295900"/>
            <a:ext cx="1790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 x Relay Module</a:t>
            </a:r>
            <a:br>
              <a:rPr lang="de-DE"/>
            </a:br>
            <a:r>
              <a:rPr lang="de-DE"/>
              <a:t>für VCC und SCL</a:t>
            </a:r>
          </a:p>
        </p:txBody>
      </p:sp>
    </p:spTree>
    <p:extLst>
      <p:ext uri="{BB962C8B-B14F-4D97-AF65-F5344CB8AC3E}">
        <p14:creationId xmlns:p14="http://schemas.microsoft.com/office/powerpoint/2010/main" val="19543875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2937933" y="19187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3469</Words>
  <Application>Microsoft Office PowerPoint</Application>
  <PresentationFormat>Breitbild</PresentationFormat>
  <Paragraphs>1266</Paragraphs>
  <Slides>52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61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CD4066 Specification</vt:lpstr>
      <vt:lpstr>CD4066 Gadget Dispatch Block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Sound Module</vt:lpstr>
      <vt:lpstr>Sound Module</vt:lpstr>
      <vt:lpstr>PowerPoint-Präsentation</vt:lpstr>
      <vt:lpstr>Numpad Module</vt:lpstr>
      <vt:lpstr>Numpad Module</vt:lpstr>
      <vt:lpstr>Display Module</vt:lpstr>
      <vt:lpstr>PowerPoint-Präsentation</vt:lpstr>
      <vt:lpstr>PowerPoint-Präsentation</vt:lpstr>
      <vt:lpstr>SD Modul</vt:lpstr>
      <vt:lpstr>Pegel Wandler</vt:lpstr>
      <vt:lpstr>Rotary Encoder</vt:lpstr>
      <vt:lpstr>PowerPoint-Präsentation</vt:lpstr>
      <vt:lpstr>Backlight Pin (BL)</vt:lpstr>
      <vt:lpstr>Datenleitungen schützen</vt:lpstr>
      <vt:lpstr>Datenleitungen schützen</vt:lpstr>
      <vt:lpstr>Lingo Bingo</vt:lpstr>
      <vt:lpstr>Lingo Bingo Gadget</vt:lpstr>
      <vt:lpstr>PowerPoint-Präsentation</vt:lpstr>
      <vt:lpstr>Lingo Bingo Controls</vt:lpstr>
      <vt:lpstr>Lingo Bingo Frame</vt:lpstr>
      <vt:lpstr>PowerPoint-Präsentation</vt:lpstr>
      <vt:lpstr>Storybook</vt:lpstr>
      <vt:lpstr>Storybook Gadget</vt:lpstr>
      <vt:lpstr>PowerPoint-Präsentation</vt:lpstr>
      <vt:lpstr>SD Modul</vt:lpstr>
      <vt:lpstr>Pegel Wandler</vt:lpstr>
      <vt:lpstr>PowerPoint-Präsentation</vt:lpstr>
      <vt:lpstr>Settings</vt:lpstr>
      <vt:lpstr>Portsettings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PCF8574 Masterselect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473</cp:revision>
  <cp:lastPrinted>2026-10-01T17:34:18Z</cp:lastPrinted>
  <dcterms:created xsi:type="dcterms:W3CDTF">2026-09-05T16:43:31Z</dcterms:created>
  <dcterms:modified xsi:type="dcterms:W3CDTF">2026-10-15T13:24:30Z</dcterms:modified>
</cp:coreProperties>
</file>