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60" r:id="rId3"/>
    <p:sldId id="285" r:id="rId4"/>
    <p:sldId id="264" r:id="rId5"/>
    <p:sldId id="280" r:id="rId6"/>
    <p:sldId id="279" r:id="rId7"/>
    <p:sldId id="262" r:id="rId8"/>
    <p:sldId id="314" r:id="rId9"/>
    <p:sldId id="315" r:id="rId10"/>
    <p:sldId id="316" r:id="rId11"/>
    <p:sldId id="282" r:id="rId12"/>
    <p:sldId id="263" r:id="rId13"/>
    <p:sldId id="267" r:id="rId14"/>
    <p:sldId id="268" r:id="rId15"/>
    <p:sldId id="269" r:id="rId16"/>
    <p:sldId id="284" r:id="rId17"/>
    <p:sldId id="283" r:id="rId18"/>
    <p:sldId id="259" r:id="rId19"/>
    <p:sldId id="287" r:id="rId20"/>
    <p:sldId id="286" r:id="rId21"/>
    <p:sldId id="276" r:id="rId22"/>
    <p:sldId id="288" r:id="rId23"/>
    <p:sldId id="295" r:id="rId24"/>
    <p:sldId id="307" r:id="rId25"/>
    <p:sldId id="308" r:id="rId26"/>
    <p:sldId id="313" r:id="rId27"/>
    <p:sldId id="296" r:id="rId28"/>
    <p:sldId id="291" r:id="rId29"/>
    <p:sldId id="290" r:id="rId30"/>
    <p:sldId id="292" r:id="rId31"/>
    <p:sldId id="274" r:id="rId32"/>
    <p:sldId id="293" r:id="rId33"/>
    <p:sldId id="312" r:id="rId34"/>
    <p:sldId id="272" r:id="rId35"/>
    <p:sldId id="271" r:id="rId36"/>
    <p:sldId id="275" r:id="rId37"/>
    <p:sldId id="299" r:id="rId38"/>
    <p:sldId id="300" r:id="rId39"/>
    <p:sldId id="303" r:id="rId40"/>
    <p:sldId id="304" r:id="rId41"/>
    <p:sldId id="305" r:id="rId42"/>
    <p:sldId id="306" r:id="rId43"/>
    <p:sldId id="310" r:id="rId44"/>
    <p:sldId id="311" r:id="rId45"/>
    <p:sldId id="294" r:id="rId46"/>
    <p:sldId id="301" r:id="rId47"/>
    <p:sldId id="302" r:id="rId48"/>
    <p:sldId id="265" r:id="rId49"/>
    <p:sldId id="266" r:id="rId50"/>
    <p:sldId id="257" r:id="rId51"/>
    <p:sldId id="258" r:id="rId52"/>
    <p:sldId id="309" r:id="rId53"/>
    <p:sldId id="270" r:id="rId54"/>
  </p:sldIdLst>
  <p:sldSz cx="12192000" cy="6858000"/>
  <p:notesSz cx="6797675" cy="992822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03" autoAdjust="0"/>
    <p:restoredTop sz="92764" autoAdjust="0"/>
  </p:normalViewPr>
  <p:slideViewPr>
    <p:cSldViewPr snapToGrid="0">
      <p:cViewPr varScale="1">
        <p:scale>
          <a:sx n="105" d="100"/>
          <a:sy n="105" d="100"/>
        </p:scale>
        <p:origin x="13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C4423-DF28-4DB7-801A-CFFD9AB199E6}" type="datetimeFigureOut">
              <a:rPr lang="de-DE" smtClean="0"/>
              <a:t>17.10.2026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4CAAA5-4837-41F4-9386-6E1FFE2A33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807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CAAA5-4837-41F4-9386-6E1FFE2A3328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5158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CAAA5-4837-41F4-9386-6E1FFE2A3328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621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CAAA5-4837-41F4-9386-6E1FFE2A3328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1840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93AAAB-998D-4197-B731-3ED8C50C3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EC23BA-766B-4295-BD3A-C755FD23A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58357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7FC96E-F736-46CF-8EF7-53BEA2FBD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0" y="194400"/>
            <a:ext cx="11115413" cy="43182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b="1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23AFAB-D930-4CCB-B9D8-5446CF42A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600" y="773360"/>
            <a:ext cx="11118908" cy="581357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559609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FE3D2D-7D0A-470D-9245-2002B9257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992" y="195947"/>
            <a:ext cx="11144250" cy="431829"/>
          </a:xfrm>
        </p:spPr>
        <p:txBody>
          <a:bodyPr/>
          <a:lstStyle>
            <a:lvl1pPr>
              <a:defRPr b="1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71047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931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AAF404B-AEB7-406A-880A-5FB0962F0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364" y="2646506"/>
            <a:ext cx="4405746" cy="431829"/>
          </a:xfrm>
        </p:spPr>
        <p:txBody>
          <a:bodyPr>
            <a:noAutofit/>
          </a:bodyPr>
          <a:lstStyle>
            <a:lvl1pPr algn="ctr"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13535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D0406AB-42CF-477C-A1E4-FD9E69F08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365125"/>
            <a:ext cx="11001462" cy="431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57E279-A7BE-4CC2-AA72-666087B16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338" y="939567"/>
            <a:ext cx="11001462" cy="5237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81495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wokwi.com/projects/474422651455561729" TargetMode="Externa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0117E9-E001-4C32-B1BF-6CE44816C3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Activity Board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59E77AD-301B-4E04-BCEF-AE440AC1C3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953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feld 21">
            <a:extLst>
              <a:ext uri="{FF2B5EF4-FFF2-40B4-BE49-F238E27FC236}">
                <a16:creationId xmlns:a16="http://schemas.microsoft.com/office/drawing/2014/main" id="{2EBD009A-81AB-4F5F-BF7E-1663CDD3784F}"/>
              </a:ext>
            </a:extLst>
          </p:cNvPr>
          <p:cNvSpPr txBox="1"/>
          <p:nvPr/>
        </p:nvSpPr>
        <p:spPr>
          <a:xfrm>
            <a:off x="4624202" y="959899"/>
            <a:ext cx="714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USB-C</a:t>
            </a:r>
            <a:br>
              <a:rPr lang="de-DE" sz="1200"/>
            </a:br>
            <a:r>
              <a:rPr lang="de-DE" sz="1200"/>
              <a:t>charging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0E8698D-2D3B-4B8C-8163-F654CD93D6EB}"/>
              </a:ext>
            </a:extLst>
          </p:cNvPr>
          <p:cNvSpPr/>
          <p:nvPr/>
        </p:nvSpPr>
        <p:spPr>
          <a:xfrm>
            <a:off x="4326709" y="1566863"/>
            <a:ext cx="4736858" cy="15478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lang="de-DE" sz="1600"/>
              <a:t>Master Module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C938D65-1BE4-4179-80EA-FC8DC5C59148}"/>
              </a:ext>
            </a:extLst>
          </p:cNvPr>
          <p:cNvSpPr/>
          <p:nvPr/>
        </p:nvSpPr>
        <p:spPr>
          <a:xfrm>
            <a:off x="4524375" y="171216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Battery</a:t>
            </a:r>
            <a:br>
              <a:rPr lang="de-DE" sz="1200"/>
            </a:br>
            <a:r>
              <a:rPr lang="de-DE" sz="1200"/>
              <a:t>Pack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D979668-5F56-4C75-9AB5-80B691B002C4}"/>
              </a:ext>
            </a:extLst>
          </p:cNvPr>
          <p:cNvSpPr/>
          <p:nvPr/>
        </p:nvSpPr>
        <p:spPr>
          <a:xfrm>
            <a:off x="5550716" y="171216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Master</a:t>
            </a:r>
            <a:br>
              <a:rPr lang="de-DE" sz="1200"/>
            </a:br>
            <a:r>
              <a:rPr lang="de-DE" sz="1200"/>
              <a:t>Select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C628C03-B614-417B-B728-A64183C20FE9}"/>
              </a:ext>
            </a:extLst>
          </p:cNvPr>
          <p:cNvSpPr/>
          <p:nvPr/>
        </p:nvSpPr>
        <p:spPr>
          <a:xfrm>
            <a:off x="7924899" y="171216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Sound</a:t>
            </a:r>
            <a:br>
              <a:rPr lang="de-DE" sz="1200"/>
            </a:br>
            <a:r>
              <a:rPr lang="de-DE" sz="1200"/>
              <a:t>System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4FA81AF0-1752-4212-9AF0-E74E627C0A13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695138" y="3114675"/>
            <a:ext cx="0" cy="469870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632F2D68-0C70-44AE-9CA2-9DDD136399AF}"/>
              </a:ext>
            </a:extLst>
          </p:cNvPr>
          <p:cNvCxnSpPr>
            <a:cxnSpLocks/>
          </p:cNvCxnSpPr>
          <p:nvPr/>
        </p:nvCxnSpPr>
        <p:spPr>
          <a:xfrm>
            <a:off x="1862727" y="3603596"/>
            <a:ext cx="8741490" cy="0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6FB1F866-4D36-4484-B1CB-D035001B65AB}"/>
              </a:ext>
            </a:extLst>
          </p:cNvPr>
          <p:cNvSpPr txBox="1"/>
          <p:nvPr/>
        </p:nvSpPr>
        <p:spPr>
          <a:xfrm>
            <a:off x="8294333" y="3189859"/>
            <a:ext cx="1973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/>
              <a:t>Activity Bus (I2C BUS)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8FD3D4F-299B-4504-A239-2A44EDC79E1C}"/>
              </a:ext>
            </a:extLst>
          </p:cNvPr>
          <p:cNvSpPr/>
          <p:nvPr/>
        </p:nvSpPr>
        <p:spPr>
          <a:xfrm>
            <a:off x="744129" y="4054417"/>
            <a:ext cx="3494495" cy="12430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lang="de-DE" sz="1600"/>
              <a:t>Music Gadget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7EA12B4E-E029-472B-B592-80DB66D6F614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2491376" y="3584546"/>
            <a:ext cx="1" cy="469871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2A7F75B0-28C5-4E3E-A232-4535DA55229A}"/>
              </a:ext>
            </a:extLst>
          </p:cNvPr>
          <p:cNvSpPr txBox="1"/>
          <p:nvPr/>
        </p:nvSpPr>
        <p:spPr>
          <a:xfrm>
            <a:off x="6515110" y="959899"/>
            <a:ext cx="1038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Data Library</a:t>
            </a:r>
            <a:br>
              <a:rPr lang="de-DE" sz="1200"/>
            </a:br>
            <a:r>
              <a:rPr lang="de-DE" sz="1200"/>
              <a:t>microSD Card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F46BB24-BAAA-469E-8A02-6F9C70AE051D}"/>
              </a:ext>
            </a:extLst>
          </p:cNvPr>
          <p:cNvSpPr txBox="1"/>
          <p:nvPr/>
        </p:nvSpPr>
        <p:spPr>
          <a:xfrm>
            <a:off x="5684467" y="959899"/>
            <a:ext cx="615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USB-C</a:t>
            </a:r>
            <a:br>
              <a:rPr lang="de-DE" sz="1200"/>
            </a:br>
            <a:r>
              <a:rPr lang="de-DE" sz="1200"/>
              <a:t>upload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DEF8A7A-D886-49FE-A0BA-D736DD48B5DC}"/>
              </a:ext>
            </a:extLst>
          </p:cNvPr>
          <p:cNvSpPr txBox="1"/>
          <p:nvPr/>
        </p:nvSpPr>
        <p:spPr>
          <a:xfrm>
            <a:off x="751553" y="3439631"/>
            <a:ext cx="615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USB-C</a:t>
            </a:r>
            <a:br>
              <a:rPr lang="de-DE" sz="1200"/>
            </a:br>
            <a:r>
              <a:rPr lang="de-DE" sz="1200"/>
              <a:t>upload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614B622-EDE4-4969-AB10-85151D4C55C0}"/>
              </a:ext>
            </a:extLst>
          </p:cNvPr>
          <p:cNvSpPr/>
          <p:nvPr/>
        </p:nvSpPr>
        <p:spPr>
          <a:xfrm>
            <a:off x="948327" y="4228292"/>
            <a:ext cx="914400" cy="66755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/>
              <a:t>Buttons</a:t>
            </a:r>
            <a:br>
              <a:rPr lang="de-DE" sz="1200"/>
            </a:br>
            <a:r>
              <a:rPr lang="de-DE" sz="1200"/>
              <a:t>Panel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73F16B7-29F4-40F2-A401-6F5DF523B204}"/>
              </a:ext>
            </a:extLst>
          </p:cNvPr>
          <p:cNvSpPr txBox="1"/>
          <p:nvPr/>
        </p:nvSpPr>
        <p:spPr>
          <a:xfrm>
            <a:off x="9868723" y="1619246"/>
            <a:ext cx="6814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Speaker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374D6ECF-2E2C-444B-A3B7-FFA49C7723C0}"/>
              </a:ext>
            </a:extLst>
          </p:cNvPr>
          <p:cNvSpPr txBox="1"/>
          <p:nvPr/>
        </p:nvSpPr>
        <p:spPr>
          <a:xfrm>
            <a:off x="9281141" y="1978149"/>
            <a:ext cx="12690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/>
              <a:t>Volume Control</a:t>
            </a: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9A7D5469-AA34-4980-8319-37191EF72E7F}"/>
              </a:ext>
            </a:extLst>
          </p:cNvPr>
          <p:cNvCxnSpPr>
            <a:stCxn id="31" idx="1"/>
          </p:cNvCxnSpPr>
          <p:nvPr/>
        </p:nvCxnSpPr>
        <p:spPr>
          <a:xfrm flipH="1">
            <a:off x="9063568" y="1757746"/>
            <a:ext cx="8051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586750F9-05A5-41BC-BBFD-BADB9FF7CEA2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9063567" y="2099355"/>
            <a:ext cx="217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00ECDAAC-81F0-4C7A-9DB9-4D97B640338D}"/>
              </a:ext>
            </a:extLst>
          </p:cNvPr>
          <p:cNvCxnSpPr>
            <a:stCxn id="22" idx="2"/>
          </p:cNvCxnSpPr>
          <p:nvPr/>
        </p:nvCxnSpPr>
        <p:spPr>
          <a:xfrm>
            <a:off x="4981575" y="1421564"/>
            <a:ext cx="0" cy="1452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860868C2-8A5D-455C-8EE3-8ACFC08BBFBC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5992404" y="1421564"/>
            <a:ext cx="0" cy="1325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5748AAB4-CF8F-43A6-8DCB-A3168CC8065B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7034259" y="1421564"/>
            <a:ext cx="0" cy="1452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E88B4E2E-AA84-4E5F-B9D9-468E3059BC23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1059490" y="3901296"/>
            <a:ext cx="0" cy="153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hteck 64">
            <a:extLst>
              <a:ext uri="{FF2B5EF4-FFF2-40B4-BE49-F238E27FC236}">
                <a16:creationId xmlns:a16="http://schemas.microsoft.com/office/drawing/2014/main" id="{A7F8B6FC-0DE5-4A39-B190-48CA1C97DE38}"/>
              </a:ext>
            </a:extLst>
          </p:cNvPr>
          <p:cNvSpPr/>
          <p:nvPr/>
        </p:nvSpPr>
        <p:spPr>
          <a:xfrm>
            <a:off x="2076075" y="4209559"/>
            <a:ext cx="914400" cy="66755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err="1"/>
              <a:t>Indicators</a:t>
            </a:r>
            <a:br>
              <a:rPr lang="de-DE" sz="1200"/>
            </a:br>
            <a:r>
              <a:rPr lang="de-DE" sz="1200"/>
              <a:t>Panel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1FCA2DEE-06EF-47BD-A879-00EC571B5FB2}"/>
              </a:ext>
            </a:extLst>
          </p:cNvPr>
          <p:cNvSpPr/>
          <p:nvPr/>
        </p:nvSpPr>
        <p:spPr>
          <a:xfrm>
            <a:off x="3203823" y="4228290"/>
            <a:ext cx="914400" cy="66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Music</a:t>
            </a:r>
            <a:br>
              <a:rPr lang="de-DE" sz="1200"/>
            </a:br>
            <a:r>
              <a:rPr lang="de-DE" sz="1200"/>
              <a:t>Controller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785F897F-2976-4328-8E2B-68BE455C570E}"/>
              </a:ext>
            </a:extLst>
          </p:cNvPr>
          <p:cNvSpPr txBox="1"/>
          <p:nvPr/>
        </p:nvSpPr>
        <p:spPr>
          <a:xfrm>
            <a:off x="684195" y="5456918"/>
            <a:ext cx="3554429" cy="10281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sz="1100" b="1"/>
              <a:t>Music Gadget</a:t>
            </a:r>
            <a:r>
              <a:rPr lang="de-DE" sz="1100"/>
              <a:t> </a:t>
            </a:r>
            <a:r>
              <a:rPr lang="de-DE" sz="1100" err="1"/>
              <a:t>consists</a:t>
            </a:r>
            <a:r>
              <a:rPr lang="de-DE" sz="1100"/>
              <a:t> </a:t>
            </a:r>
            <a:r>
              <a:rPr lang="de-DE" sz="1100" err="1"/>
              <a:t>of</a:t>
            </a:r>
            <a:r>
              <a:rPr lang="de-DE" sz="1100"/>
              <a:t> 4 buttons and 4 LED indicators.</a:t>
            </a:r>
            <a:br>
              <a:rPr lang="de-DE" sz="1100"/>
            </a:br>
            <a:r>
              <a:rPr lang="de-DE" sz="1100"/>
              <a:t>Every button is accompanied by a picture and corresponds to an individualsound in the master sound library. If a button is pressed the corresponding sound is played and the LED indicator lights up.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B9706B0-D390-4A16-9A6C-D9E05E6BC9FC}"/>
              </a:ext>
            </a:extLst>
          </p:cNvPr>
          <p:cNvSpPr/>
          <p:nvPr/>
        </p:nvSpPr>
        <p:spPr>
          <a:xfrm>
            <a:off x="4632416" y="4051553"/>
            <a:ext cx="3494495" cy="12430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lang="de-DE" sz="1600"/>
              <a:t>Sun Gadget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64A53DD9-8921-4FAC-9FA6-B486D134BE3A}"/>
              </a:ext>
            </a:extLst>
          </p:cNvPr>
          <p:cNvSpPr txBox="1"/>
          <p:nvPr/>
        </p:nvSpPr>
        <p:spPr>
          <a:xfrm>
            <a:off x="547069" y="856581"/>
            <a:ext cx="3098172" cy="13837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Low"/>
            <a:r>
              <a:rPr lang="de-DE" sz="1100" b="1"/>
              <a:t>Gadgets</a:t>
            </a:r>
            <a:r>
              <a:rPr lang="de-DE" sz="1100"/>
              <a:t> are activity modules with electronic or mechanical parts to play with. Gadgets will be placed independently on a wooden board with a central master module providing power supply and other common features. Gadgets range from simple mechanical knobs to electronic games with OLED display (e.g. tretris, snake, pong).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4EDF76EA-E952-40F1-ACDD-411A3131133C}"/>
              </a:ext>
            </a:extLst>
          </p:cNvPr>
          <p:cNvSpPr/>
          <p:nvPr/>
        </p:nvSpPr>
        <p:spPr>
          <a:xfrm>
            <a:off x="4840712" y="4250804"/>
            <a:ext cx="914400" cy="66755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/>
              <a:t>Time of Day Panel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DFD5552D-4C62-4AE8-859E-78D0E2A357B9}"/>
              </a:ext>
            </a:extLst>
          </p:cNvPr>
          <p:cNvSpPr/>
          <p:nvPr/>
        </p:nvSpPr>
        <p:spPr>
          <a:xfrm>
            <a:off x="5968460" y="4232071"/>
            <a:ext cx="914400" cy="66755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/>
              <a:t>Sunlight</a:t>
            </a:r>
            <a:br>
              <a:rPr lang="de-DE" sz="1200"/>
            </a:br>
            <a:r>
              <a:rPr lang="de-DE" sz="1200"/>
              <a:t>Panel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C5C27EE-ED25-4492-A0BC-7D617AC66A77}"/>
              </a:ext>
            </a:extLst>
          </p:cNvPr>
          <p:cNvSpPr/>
          <p:nvPr/>
        </p:nvSpPr>
        <p:spPr>
          <a:xfrm>
            <a:off x="7096208" y="4250802"/>
            <a:ext cx="914400" cy="66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Sun</a:t>
            </a:r>
            <a:br>
              <a:rPr lang="de-DE" sz="1200"/>
            </a:br>
            <a:r>
              <a:rPr lang="de-DE" sz="1200"/>
              <a:t>Controller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B05B823A-F5FA-4F0E-9E56-6D8F58E9506C}"/>
              </a:ext>
            </a:extLst>
          </p:cNvPr>
          <p:cNvSpPr txBox="1"/>
          <p:nvPr/>
        </p:nvSpPr>
        <p:spPr>
          <a:xfrm>
            <a:off x="4624202" y="5378408"/>
            <a:ext cx="3554429" cy="1503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sz="1100" b="1"/>
              <a:t>Sun Gadget</a:t>
            </a:r>
            <a:r>
              <a:rPr lang="de-DE" sz="1100"/>
              <a:t> </a:t>
            </a:r>
            <a:r>
              <a:rPr lang="de-DE" sz="1100" err="1"/>
              <a:t>consists</a:t>
            </a:r>
            <a:r>
              <a:rPr lang="de-DE" sz="1100"/>
              <a:t> </a:t>
            </a:r>
            <a:r>
              <a:rPr lang="de-DE" sz="1100" err="1"/>
              <a:t>of</a:t>
            </a:r>
            <a:r>
              <a:rPr lang="de-DE" sz="1100"/>
              <a:t> a "Time of Day" knob to turn and control the "Sunlight". The knob is round and points to phases during a normal day (early morning, late morning, midday, afternoon, evening, night) identified by symbols. Turning this knob controls the brightness of the "Sunlight" represented by a round convex lid illuminated by a white LED. If exact positions are hit a song correspondingt to the phase is played (e.g. at "night" a lullaby).</a:t>
            </a: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F72136DB-8B26-4612-B095-CD5F3186124E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6379664" y="3584546"/>
            <a:ext cx="0" cy="467007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hteck 39">
            <a:extLst>
              <a:ext uri="{FF2B5EF4-FFF2-40B4-BE49-F238E27FC236}">
                <a16:creationId xmlns:a16="http://schemas.microsoft.com/office/drawing/2014/main" id="{D6038EA8-6B7B-457E-B39C-A57000107B35}"/>
              </a:ext>
            </a:extLst>
          </p:cNvPr>
          <p:cNvSpPr/>
          <p:nvPr/>
        </p:nvSpPr>
        <p:spPr>
          <a:xfrm>
            <a:off x="8353773" y="4043351"/>
            <a:ext cx="3494495" cy="12430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lang="de-DE" sz="1600"/>
              <a:t>Pong Gadget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D497109B-FD14-4CD9-8376-4F24AFEBDEB1}"/>
              </a:ext>
            </a:extLst>
          </p:cNvPr>
          <p:cNvSpPr/>
          <p:nvPr/>
        </p:nvSpPr>
        <p:spPr>
          <a:xfrm>
            <a:off x="8562069" y="4242602"/>
            <a:ext cx="914400" cy="66755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/>
              <a:t>OLED</a:t>
            </a:r>
            <a:br>
              <a:rPr lang="de-DE" sz="1200"/>
            </a:br>
            <a:r>
              <a:rPr lang="de-DE" sz="1200"/>
              <a:t>Display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24CF40FE-C4F8-4BBD-AE1B-6B5FAB8446D5}"/>
              </a:ext>
            </a:extLst>
          </p:cNvPr>
          <p:cNvSpPr/>
          <p:nvPr/>
        </p:nvSpPr>
        <p:spPr>
          <a:xfrm>
            <a:off x="9689817" y="4223869"/>
            <a:ext cx="914400" cy="66755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/>
              <a:t>Controller</a:t>
            </a:r>
            <a:br>
              <a:rPr lang="de-DE" sz="1200"/>
            </a:br>
            <a:r>
              <a:rPr lang="de-DE" sz="1200"/>
              <a:t>Panel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8D7E46CC-0247-4BE6-A1BC-584706DA0E43}"/>
              </a:ext>
            </a:extLst>
          </p:cNvPr>
          <p:cNvSpPr/>
          <p:nvPr/>
        </p:nvSpPr>
        <p:spPr>
          <a:xfrm>
            <a:off x="10817565" y="4242600"/>
            <a:ext cx="914400" cy="66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PingPong</a:t>
            </a:r>
            <a:br>
              <a:rPr lang="de-DE" sz="1200"/>
            </a:br>
            <a:r>
              <a:rPr lang="de-DE" sz="1200"/>
              <a:t>Controller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E96974BE-7918-46EA-A797-663601FDF2FC}"/>
              </a:ext>
            </a:extLst>
          </p:cNvPr>
          <p:cNvSpPr txBox="1"/>
          <p:nvPr/>
        </p:nvSpPr>
        <p:spPr>
          <a:xfrm>
            <a:off x="8345559" y="5370207"/>
            <a:ext cx="3554429" cy="976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sz="1100" b="1"/>
              <a:t>Pong Gadget</a:t>
            </a:r>
            <a:r>
              <a:rPr lang="de-DE" sz="1100"/>
              <a:t> is a simple implementation of the ping pong game. It consists of a small OLED display (1 or 2 inch) and a Controller Panel with "start / stop" buttons and a potentiometer to control the racket. It also plays "ping / pong" sounds when rackets hit the "ball".</a:t>
            </a:r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A52025CF-7768-4FC5-A10B-CF1CAA7A78A0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10101021" y="3562631"/>
            <a:ext cx="0" cy="480720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el 3">
            <a:extLst>
              <a:ext uri="{FF2B5EF4-FFF2-40B4-BE49-F238E27FC236}">
                <a16:creationId xmlns:a16="http://schemas.microsoft.com/office/drawing/2014/main" id="{3049A2CD-CE7C-4791-B6A3-93B25BCF8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Activity Board Übersicht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B2F1E715-41B1-48A7-BC8C-13997D95F3BC}"/>
              </a:ext>
            </a:extLst>
          </p:cNvPr>
          <p:cNvSpPr/>
          <p:nvPr/>
        </p:nvSpPr>
        <p:spPr>
          <a:xfrm>
            <a:off x="6911259" y="171216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Display</a:t>
            </a:r>
            <a:br>
              <a:rPr lang="de-DE" sz="1200"/>
            </a:br>
            <a:r>
              <a:rPr lang="de-DE" sz="1200"/>
              <a:t>System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AA22DA3A-D23B-4718-BA86-219358165549}"/>
              </a:ext>
            </a:extLst>
          </p:cNvPr>
          <p:cNvSpPr txBox="1"/>
          <p:nvPr/>
        </p:nvSpPr>
        <p:spPr>
          <a:xfrm>
            <a:off x="9663090" y="2337052"/>
            <a:ext cx="887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/>
              <a:t>TFT Display</a:t>
            </a:r>
          </a:p>
        </p:txBody>
      </p: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196C0611-0F44-462A-A4FA-9D22CA24F112}"/>
              </a:ext>
            </a:extLst>
          </p:cNvPr>
          <p:cNvCxnSpPr>
            <a:stCxn id="50" idx="1"/>
          </p:cNvCxnSpPr>
          <p:nvPr/>
        </p:nvCxnSpPr>
        <p:spPr>
          <a:xfrm flipH="1">
            <a:off x="9063576" y="2475552"/>
            <a:ext cx="5995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01F8A486-7160-4626-B2FF-5F81AB12686E}"/>
              </a:ext>
            </a:extLst>
          </p:cNvPr>
          <p:cNvSpPr txBox="1"/>
          <p:nvPr/>
        </p:nvSpPr>
        <p:spPr>
          <a:xfrm>
            <a:off x="9281141" y="2695954"/>
            <a:ext cx="12690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/>
              <a:t>Rotary Encoders</a:t>
            </a:r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636546F3-6BBE-49F1-BA1E-B79FEF818563}"/>
              </a:ext>
            </a:extLst>
          </p:cNvPr>
          <p:cNvCxnSpPr>
            <a:cxnSpLocks/>
            <a:stCxn id="52" idx="1"/>
          </p:cNvCxnSpPr>
          <p:nvPr/>
        </p:nvCxnSpPr>
        <p:spPr>
          <a:xfrm flipH="1" flipV="1">
            <a:off x="9063567" y="2830957"/>
            <a:ext cx="217574" cy="3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290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A6072-4872-4B3A-BA17-FB19FAF43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Standard Specifications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0C6AB80-C2C7-4E3F-9507-36D8D5003E20}"/>
              </a:ext>
            </a:extLst>
          </p:cNvPr>
          <p:cNvSpPr txBox="1"/>
          <p:nvPr/>
        </p:nvSpPr>
        <p:spPr>
          <a:xfrm>
            <a:off x="3057009" y="1817149"/>
            <a:ext cx="1583980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50"/>
              <a:t>JST 2.54 XH (2 poles)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7A436A26-F411-491C-8BD2-6A6CE260A9DF}"/>
              </a:ext>
            </a:extLst>
          </p:cNvPr>
          <p:cNvCxnSpPr>
            <a:cxnSpLocks/>
          </p:cNvCxnSpPr>
          <p:nvPr/>
        </p:nvCxnSpPr>
        <p:spPr>
          <a:xfrm flipH="1">
            <a:off x="2680053" y="1909482"/>
            <a:ext cx="303468" cy="1"/>
          </a:xfrm>
          <a:prstGeom prst="line">
            <a:avLst/>
          </a:prstGeom>
          <a:ln w="4445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6AFBEA28-FC6A-437B-BA98-179580C5E718}"/>
              </a:ext>
            </a:extLst>
          </p:cNvPr>
          <p:cNvSpPr txBox="1"/>
          <p:nvPr/>
        </p:nvSpPr>
        <p:spPr>
          <a:xfrm>
            <a:off x="3057009" y="2052791"/>
            <a:ext cx="1583980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50"/>
              <a:t>JST 2.54 XH (4 poles)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97262CBE-6E81-46BC-905F-72BBC30631FC}"/>
              </a:ext>
            </a:extLst>
          </p:cNvPr>
          <p:cNvCxnSpPr>
            <a:cxnSpLocks/>
          </p:cNvCxnSpPr>
          <p:nvPr/>
        </p:nvCxnSpPr>
        <p:spPr>
          <a:xfrm flipH="1">
            <a:off x="2680053" y="2145124"/>
            <a:ext cx="303468" cy="1"/>
          </a:xfrm>
          <a:prstGeom prst="line">
            <a:avLst/>
          </a:prstGeom>
          <a:ln w="12065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514ED0DE-A021-43B6-8E3C-33C7234F7D21}"/>
              </a:ext>
            </a:extLst>
          </p:cNvPr>
          <p:cNvSpPr txBox="1"/>
          <p:nvPr/>
        </p:nvSpPr>
        <p:spPr>
          <a:xfrm>
            <a:off x="3057009" y="2278846"/>
            <a:ext cx="1583980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50"/>
              <a:t>USB (4 poles)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3637712-69FC-49E7-995D-A75CAC0F33BB}"/>
              </a:ext>
            </a:extLst>
          </p:cNvPr>
          <p:cNvCxnSpPr>
            <a:cxnSpLocks/>
          </p:cNvCxnSpPr>
          <p:nvPr/>
        </p:nvCxnSpPr>
        <p:spPr>
          <a:xfrm flipH="1">
            <a:off x="2680053" y="2371179"/>
            <a:ext cx="303468" cy="1"/>
          </a:xfrm>
          <a:prstGeom prst="line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winkelt 294">
            <a:extLst>
              <a:ext uri="{FF2B5EF4-FFF2-40B4-BE49-F238E27FC236}">
                <a16:creationId xmlns:a16="http://schemas.microsoft.com/office/drawing/2014/main" id="{52BF0F51-6AD7-442E-BBA2-5FA77F501D1F}"/>
              </a:ext>
            </a:extLst>
          </p:cNvPr>
          <p:cNvCxnSpPr>
            <a:cxnSpLocks/>
          </p:cNvCxnSpPr>
          <p:nvPr/>
        </p:nvCxnSpPr>
        <p:spPr>
          <a:xfrm flipH="1">
            <a:off x="2680053" y="1644256"/>
            <a:ext cx="303468" cy="0"/>
          </a:xfrm>
          <a:prstGeom prst="straightConnector1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5D0BB375-92C7-45D9-B9E8-3C41BE27D940}"/>
              </a:ext>
            </a:extLst>
          </p:cNvPr>
          <p:cNvSpPr txBox="1"/>
          <p:nvPr/>
        </p:nvSpPr>
        <p:spPr>
          <a:xfrm>
            <a:off x="3057009" y="1551923"/>
            <a:ext cx="1583980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50"/>
              <a:t>Soldered Connection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0692E8D-E348-4219-BEA8-94AFFEB201D5}"/>
              </a:ext>
            </a:extLst>
          </p:cNvPr>
          <p:cNvSpPr/>
          <p:nvPr/>
        </p:nvSpPr>
        <p:spPr>
          <a:xfrm>
            <a:off x="2635140" y="2471701"/>
            <a:ext cx="393294" cy="25106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5FFEE35-669B-4161-A321-9F57E67E0E9F}"/>
              </a:ext>
            </a:extLst>
          </p:cNvPr>
          <p:cNvSpPr txBox="1"/>
          <p:nvPr/>
        </p:nvSpPr>
        <p:spPr>
          <a:xfrm>
            <a:off x="3057009" y="2504900"/>
            <a:ext cx="1583980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50"/>
              <a:t>Resistor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092B43A-C94D-4F41-BE19-F1D193B9A028}"/>
              </a:ext>
            </a:extLst>
          </p:cNvPr>
          <p:cNvSpPr/>
          <p:nvPr/>
        </p:nvSpPr>
        <p:spPr>
          <a:xfrm>
            <a:off x="2635140" y="2758721"/>
            <a:ext cx="393294" cy="260182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>
                <a:solidFill>
                  <a:schemeClr val="tx1"/>
                </a:solidFill>
              </a:rPr>
              <a:t>x µF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50422C3-3DEB-4EE0-A0C3-3E7D6196C16A}"/>
              </a:ext>
            </a:extLst>
          </p:cNvPr>
          <p:cNvSpPr txBox="1"/>
          <p:nvPr/>
        </p:nvSpPr>
        <p:spPr>
          <a:xfrm>
            <a:off x="3057009" y="2796479"/>
            <a:ext cx="1145494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50"/>
              <a:t>Capacitor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017F6E4-7DF0-4A00-AAA7-A280C4BF9FC0}"/>
              </a:ext>
            </a:extLst>
          </p:cNvPr>
          <p:cNvSpPr/>
          <p:nvPr/>
        </p:nvSpPr>
        <p:spPr>
          <a:xfrm>
            <a:off x="2434920" y="1827647"/>
            <a:ext cx="149251" cy="138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5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C651FA6-9769-4321-8049-C8B704A17B9C}"/>
              </a:ext>
            </a:extLst>
          </p:cNvPr>
          <p:cNvSpPr/>
          <p:nvPr/>
        </p:nvSpPr>
        <p:spPr>
          <a:xfrm>
            <a:off x="2443388" y="2053705"/>
            <a:ext cx="149251" cy="138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5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094FD1D-4A3F-4449-A4D6-B45618614EFF}"/>
              </a:ext>
            </a:extLst>
          </p:cNvPr>
          <p:cNvSpPr/>
          <p:nvPr/>
        </p:nvSpPr>
        <p:spPr>
          <a:xfrm>
            <a:off x="2443387" y="2303599"/>
            <a:ext cx="149251" cy="138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graphicFrame>
        <p:nvGraphicFramePr>
          <p:cNvPr id="18" name="Tabelle 6">
            <a:extLst>
              <a:ext uri="{FF2B5EF4-FFF2-40B4-BE49-F238E27FC236}">
                <a16:creationId xmlns:a16="http://schemas.microsoft.com/office/drawing/2014/main" id="{91F9933C-400C-4E20-ABEE-5C99AF740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986659"/>
              </p:ext>
            </p:extLst>
          </p:nvPr>
        </p:nvGraphicFramePr>
        <p:xfrm>
          <a:off x="1428860" y="3802454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602626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758458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72947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44415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USB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Ardino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Kabelfarbe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Bedeutung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45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schwarz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Power minus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09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VBUS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Power plus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418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D-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weiß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88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D+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gelb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SCL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832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091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10">
            <a:extLst>
              <a:ext uri="{FF2B5EF4-FFF2-40B4-BE49-F238E27FC236}">
                <a16:creationId xmlns:a16="http://schemas.microsoft.com/office/drawing/2014/main" id="{56DC88D4-CE4D-45AF-8C76-D38E7B37FDC4}"/>
              </a:ext>
            </a:extLst>
          </p:cNvPr>
          <p:cNvSpPr txBox="1"/>
          <p:nvPr/>
        </p:nvSpPr>
        <p:spPr>
          <a:xfrm>
            <a:off x="1906845" y="1548846"/>
            <a:ext cx="1459054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b="1"/>
              <a:t>USB Pin 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G : GND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D- : SDA (Ardino A4)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D+ : SCL (Ardino A5)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V : 5V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8A5DFFB1-12E2-40C7-BCB4-E7E8E3CC8C65}"/>
              </a:ext>
            </a:extLst>
          </p:cNvPr>
          <p:cNvSpPr/>
          <p:nvPr/>
        </p:nvSpPr>
        <p:spPr>
          <a:xfrm>
            <a:off x="3686322" y="1524215"/>
            <a:ext cx="6400362" cy="4756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sz="1200" b="1">
                <a:solidFill>
                  <a:schemeClr val="tx1"/>
                </a:solidFill>
              </a:rPr>
              <a:t>I2C Sockets Board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DA618160-B645-4880-8C62-124AE0484CD2}"/>
              </a:ext>
            </a:extLst>
          </p:cNvPr>
          <p:cNvSpPr/>
          <p:nvPr/>
        </p:nvSpPr>
        <p:spPr>
          <a:xfrm>
            <a:off x="3822720" y="1754523"/>
            <a:ext cx="1090824" cy="4888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/>
              <a:t>Gadget A </a:t>
            </a:r>
            <a:br>
              <a:rPr lang="de-DE" sz="1050"/>
            </a:br>
            <a:r>
              <a:rPr lang="de-DE" sz="1050"/>
              <a:t>Panel Port USB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7F456F1E-9DB0-4032-AE29-389468E87743}"/>
              </a:ext>
            </a:extLst>
          </p:cNvPr>
          <p:cNvSpPr/>
          <p:nvPr/>
        </p:nvSpPr>
        <p:spPr>
          <a:xfrm>
            <a:off x="4988723" y="1754523"/>
            <a:ext cx="1090824" cy="4888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/>
              <a:t>Gadget B </a:t>
            </a:r>
            <a:br>
              <a:rPr lang="de-DE" sz="1050"/>
            </a:br>
            <a:r>
              <a:rPr lang="de-DE" sz="1050"/>
              <a:t>Panel Port USB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84EF28E1-E101-417E-9F93-1C3763EE9F1E}"/>
              </a:ext>
            </a:extLst>
          </p:cNvPr>
          <p:cNvSpPr/>
          <p:nvPr/>
        </p:nvSpPr>
        <p:spPr>
          <a:xfrm>
            <a:off x="7666555" y="1754523"/>
            <a:ext cx="1090824" cy="4888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/>
              <a:t>Gadget C </a:t>
            </a:r>
            <a:br>
              <a:rPr lang="de-DE" sz="1050"/>
            </a:br>
            <a:r>
              <a:rPr lang="de-DE" sz="1050"/>
              <a:t>Panel Port USB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040896B2-28E3-4E51-BC38-4B82A4E22D10}"/>
              </a:ext>
            </a:extLst>
          </p:cNvPr>
          <p:cNvSpPr/>
          <p:nvPr/>
        </p:nvSpPr>
        <p:spPr>
          <a:xfrm>
            <a:off x="8836382" y="1754523"/>
            <a:ext cx="1090824" cy="4888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/>
              <a:t>Gadget D </a:t>
            </a:r>
            <a:br>
              <a:rPr lang="de-DE" sz="1050"/>
            </a:br>
            <a:r>
              <a:rPr lang="de-DE" sz="1050"/>
              <a:t>Panel Port USB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15541076-C957-4821-A4AA-5329A39729AA}"/>
              </a:ext>
            </a:extLst>
          </p:cNvPr>
          <p:cNvSpPr/>
          <p:nvPr/>
        </p:nvSpPr>
        <p:spPr>
          <a:xfrm>
            <a:off x="1714770" y="3707824"/>
            <a:ext cx="8371914" cy="22357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de-DE" sz="1400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40BF01E-2DCA-4E73-A232-D120912B12CF}"/>
              </a:ext>
            </a:extLst>
          </p:cNvPr>
          <p:cNvSpPr/>
          <p:nvPr/>
        </p:nvSpPr>
        <p:spPr>
          <a:xfrm>
            <a:off x="6881438" y="4398673"/>
            <a:ext cx="2155161" cy="476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Arduino Nano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174C8A6-F452-45A0-922C-D2322AA080F4}"/>
              </a:ext>
            </a:extLst>
          </p:cNvPr>
          <p:cNvSpPr txBox="1"/>
          <p:nvPr/>
        </p:nvSpPr>
        <p:spPr>
          <a:xfrm>
            <a:off x="1826223" y="3866219"/>
            <a:ext cx="1629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General Gadget Board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58C83A44-09D3-415C-86FB-BBDA5121B123}"/>
              </a:ext>
            </a:extLst>
          </p:cNvPr>
          <p:cNvSpPr/>
          <p:nvPr/>
        </p:nvSpPr>
        <p:spPr>
          <a:xfrm>
            <a:off x="8681491" y="4245586"/>
            <a:ext cx="271142" cy="276999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C7F473-BB48-4E87-81C9-89B8357E0734}"/>
              </a:ext>
            </a:extLst>
          </p:cNvPr>
          <p:cNvSpPr/>
          <p:nvPr/>
        </p:nvSpPr>
        <p:spPr>
          <a:xfrm>
            <a:off x="8195665" y="2751713"/>
            <a:ext cx="1224284" cy="5966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Service </a:t>
            </a:r>
            <a:br>
              <a:rPr lang="de-DE" sz="1050"/>
            </a:br>
            <a:r>
              <a:rPr lang="de-DE" sz="1050"/>
              <a:t>Panel Port (USB)</a:t>
            </a:r>
          </a:p>
        </p:txBody>
      </p: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07C487F2-F593-46C4-B533-F9B43CDC73B8}"/>
              </a:ext>
            </a:extLst>
          </p:cNvPr>
          <p:cNvCxnSpPr>
            <a:cxnSpLocks/>
            <a:stCxn id="53" idx="2"/>
            <a:endCxn id="50" idx="0"/>
          </p:cNvCxnSpPr>
          <p:nvPr/>
        </p:nvCxnSpPr>
        <p:spPr>
          <a:xfrm>
            <a:off x="8807807" y="3348345"/>
            <a:ext cx="9255" cy="897241"/>
          </a:xfrm>
          <a:prstGeom prst="line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hteck 56">
            <a:extLst>
              <a:ext uri="{FF2B5EF4-FFF2-40B4-BE49-F238E27FC236}">
                <a16:creationId xmlns:a16="http://schemas.microsoft.com/office/drawing/2014/main" id="{22549A2D-87A2-4E92-9A9A-FC9B5FBEE3A6}"/>
              </a:ext>
            </a:extLst>
          </p:cNvPr>
          <p:cNvSpPr/>
          <p:nvPr/>
        </p:nvSpPr>
        <p:spPr>
          <a:xfrm>
            <a:off x="3755990" y="2751713"/>
            <a:ext cx="1224284" cy="5966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I2C Bus </a:t>
            </a:r>
            <a:br>
              <a:rPr lang="de-DE" sz="1050"/>
            </a:br>
            <a:r>
              <a:rPr lang="de-DE" sz="1050"/>
              <a:t>Panel Port (USB)</a:t>
            </a:r>
          </a:p>
        </p:txBody>
      </p: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7496F8F8-C29E-4701-9FF4-70C0B8AFCAD7}"/>
              </a:ext>
            </a:extLst>
          </p:cNvPr>
          <p:cNvCxnSpPr>
            <a:cxnSpLocks/>
            <a:stCxn id="37" idx="2"/>
            <a:endCxn id="57" idx="0"/>
          </p:cNvCxnSpPr>
          <p:nvPr/>
        </p:nvCxnSpPr>
        <p:spPr>
          <a:xfrm>
            <a:off x="4368132" y="2243416"/>
            <a:ext cx="0" cy="508297"/>
          </a:xfrm>
          <a:prstGeom prst="line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25">
            <a:extLst>
              <a:ext uri="{FF2B5EF4-FFF2-40B4-BE49-F238E27FC236}">
                <a16:creationId xmlns:a16="http://schemas.microsoft.com/office/drawing/2014/main" id="{4BD1B8E9-F92D-4CA1-95BD-D3FDDCA6737E}"/>
              </a:ext>
            </a:extLst>
          </p:cNvPr>
          <p:cNvCxnSpPr>
            <a:cxnSpLocks/>
            <a:stCxn id="64" idx="2"/>
            <a:endCxn id="62" idx="0"/>
          </p:cNvCxnSpPr>
          <p:nvPr/>
        </p:nvCxnSpPr>
        <p:spPr>
          <a:xfrm rot="16200000" flipH="1">
            <a:off x="6001924" y="2362229"/>
            <a:ext cx="699345" cy="3067368"/>
          </a:xfrm>
          <a:prstGeom prst="bentConnector3">
            <a:avLst>
              <a:gd name="adj1" fmla="val 50000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144">
            <a:extLst>
              <a:ext uri="{FF2B5EF4-FFF2-40B4-BE49-F238E27FC236}">
                <a16:creationId xmlns:a16="http://schemas.microsoft.com/office/drawing/2014/main" id="{EE51453A-DFEA-4EB9-87F2-B4E26FAA40DC}"/>
              </a:ext>
            </a:extLst>
          </p:cNvPr>
          <p:cNvCxnSpPr>
            <a:cxnSpLocks/>
            <a:stCxn id="61" idx="0"/>
            <a:endCxn id="63" idx="2"/>
          </p:cNvCxnSpPr>
          <p:nvPr/>
        </p:nvCxnSpPr>
        <p:spPr>
          <a:xfrm rot="16200000" flipV="1">
            <a:off x="5645106" y="2423483"/>
            <a:ext cx="690849" cy="2936366"/>
          </a:xfrm>
          <a:prstGeom prst="bentConnector3">
            <a:avLst>
              <a:gd name="adj1" fmla="val 21046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2F5168E0-AB4F-4916-A84E-851F1FE537D2}"/>
              </a:ext>
            </a:extLst>
          </p:cNvPr>
          <p:cNvSpPr txBox="1"/>
          <p:nvPr/>
        </p:nvSpPr>
        <p:spPr>
          <a:xfrm>
            <a:off x="7384975" y="4237090"/>
            <a:ext cx="147476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A5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EE2449FA-AF1F-4A81-BC06-8CA2B156DDC8}"/>
              </a:ext>
            </a:extLst>
          </p:cNvPr>
          <p:cNvSpPr txBox="1"/>
          <p:nvPr/>
        </p:nvSpPr>
        <p:spPr>
          <a:xfrm>
            <a:off x="7811542" y="4245586"/>
            <a:ext cx="147476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A4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FA1E916C-83F4-4294-82C9-19AB781C3A7B}"/>
              </a:ext>
            </a:extLst>
          </p:cNvPr>
          <p:cNvSpPr txBox="1"/>
          <p:nvPr/>
        </p:nvSpPr>
        <p:spPr>
          <a:xfrm>
            <a:off x="4447005" y="3384658"/>
            <a:ext cx="15068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D+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9664CBA6-EE12-467C-BBAF-83C33CD5BC48}"/>
              </a:ext>
            </a:extLst>
          </p:cNvPr>
          <p:cNvSpPr txBox="1"/>
          <p:nvPr/>
        </p:nvSpPr>
        <p:spPr>
          <a:xfrm>
            <a:off x="4755394" y="3384658"/>
            <a:ext cx="125035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D-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6AE57407-BB77-4F82-BB74-051727B81BB6}"/>
              </a:ext>
            </a:extLst>
          </p:cNvPr>
          <p:cNvSpPr txBox="1"/>
          <p:nvPr/>
        </p:nvSpPr>
        <p:spPr>
          <a:xfrm>
            <a:off x="4034421" y="3384658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9E22AFBC-053F-4454-9533-8080405529D3}"/>
              </a:ext>
            </a:extLst>
          </p:cNvPr>
          <p:cNvSpPr txBox="1"/>
          <p:nvPr/>
        </p:nvSpPr>
        <p:spPr>
          <a:xfrm>
            <a:off x="3799771" y="3384658"/>
            <a:ext cx="7694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V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8E4803F8-8375-41E8-9F26-3C269B2658EB}"/>
              </a:ext>
            </a:extLst>
          </p:cNvPr>
          <p:cNvSpPr txBox="1"/>
          <p:nvPr/>
        </p:nvSpPr>
        <p:spPr>
          <a:xfrm>
            <a:off x="6649194" y="4659400"/>
            <a:ext cx="14587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5V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3ED310A7-CC75-43D4-8697-2E524F283436}"/>
              </a:ext>
            </a:extLst>
          </p:cNvPr>
          <p:cNvSpPr txBox="1"/>
          <p:nvPr/>
        </p:nvSpPr>
        <p:spPr>
          <a:xfrm>
            <a:off x="6594691" y="4434987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cxnSp>
        <p:nvCxnSpPr>
          <p:cNvPr id="69" name="Gerader Verbinder 144">
            <a:extLst>
              <a:ext uri="{FF2B5EF4-FFF2-40B4-BE49-F238E27FC236}">
                <a16:creationId xmlns:a16="http://schemas.microsoft.com/office/drawing/2014/main" id="{A2FCE0FD-763F-48B9-A30D-C8C576ACFA05}"/>
              </a:ext>
            </a:extLst>
          </p:cNvPr>
          <p:cNvCxnSpPr>
            <a:cxnSpLocks/>
            <a:stCxn id="67" idx="1"/>
            <a:endCxn id="66" idx="2"/>
          </p:cNvCxnSpPr>
          <p:nvPr/>
        </p:nvCxnSpPr>
        <p:spPr>
          <a:xfrm rot="10800000">
            <a:off x="3838244" y="3546242"/>
            <a:ext cx="2810951" cy="1193951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144">
            <a:extLst>
              <a:ext uri="{FF2B5EF4-FFF2-40B4-BE49-F238E27FC236}">
                <a16:creationId xmlns:a16="http://schemas.microsoft.com/office/drawing/2014/main" id="{5CFD8E38-D655-4F0B-8C80-B16737427665}"/>
              </a:ext>
            </a:extLst>
          </p:cNvPr>
          <p:cNvCxnSpPr>
            <a:cxnSpLocks/>
            <a:stCxn id="68" idx="1"/>
            <a:endCxn id="65" idx="2"/>
          </p:cNvCxnSpPr>
          <p:nvPr/>
        </p:nvCxnSpPr>
        <p:spPr>
          <a:xfrm rot="10800000">
            <a:off x="4161861" y="3546241"/>
            <a:ext cx="2432831" cy="969538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hteck 70">
            <a:extLst>
              <a:ext uri="{FF2B5EF4-FFF2-40B4-BE49-F238E27FC236}">
                <a16:creationId xmlns:a16="http://schemas.microsoft.com/office/drawing/2014/main" id="{C85F59A0-9865-46A3-A3D7-2CC035447306}"/>
              </a:ext>
            </a:extLst>
          </p:cNvPr>
          <p:cNvSpPr/>
          <p:nvPr/>
        </p:nvSpPr>
        <p:spPr>
          <a:xfrm>
            <a:off x="3301022" y="5099673"/>
            <a:ext cx="1273762" cy="476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other component</a:t>
            </a: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48A0DF21-A8D5-4153-A5A7-FEB9C5D358B3}"/>
              </a:ext>
            </a:extLst>
          </p:cNvPr>
          <p:cNvSpPr/>
          <p:nvPr/>
        </p:nvSpPr>
        <p:spPr>
          <a:xfrm>
            <a:off x="4804529" y="5099673"/>
            <a:ext cx="1273762" cy="476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other component</a:t>
            </a: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61A5DCC2-244B-41DD-B002-2E7FB2D50244}"/>
              </a:ext>
            </a:extLst>
          </p:cNvPr>
          <p:cNvSpPr/>
          <p:nvPr/>
        </p:nvSpPr>
        <p:spPr>
          <a:xfrm>
            <a:off x="6308036" y="5099673"/>
            <a:ext cx="1273762" cy="476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other component</a:t>
            </a: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15E3F546-3073-4295-ACA2-F6944308CAD1}"/>
              </a:ext>
            </a:extLst>
          </p:cNvPr>
          <p:cNvSpPr/>
          <p:nvPr/>
        </p:nvSpPr>
        <p:spPr>
          <a:xfrm>
            <a:off x="7811542" y="5099673"/>
            <a:ext cx="1273762" cy="476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other component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FA0F46-CE89-441C-AC20-A5BCDEBF6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Standard Layout Gadget</a:t>
            </a:r>
          </a:p>
        </p:txBody>
      </p:sp>
    </p:spTree>
    <p:extLst>
      <p:ext uri="{BB962C8B-B14F-4D97-AF65-F5344CB8AC3E}">
        <p14:creationId xmlns:p14="http://schemas.microsoft.com/office/powerpoint/2010/main" val="2333306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2AFF1D4-12E6-4FD3-B25F-7F37A39C2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Activity Bus Board</a:t>
            </a:r>
          </a:p>
        </p:txBody>
      </p:sp>
    </p:spTree>
    <p:extLst>
      <p:ext uri="{BB962C8B-B14F-4D97-AF65-F5344CB8AC3E}">
        <p14:creationId xmlns:p14="http://schemas.microsoft.com/office/powerpoint/2010/main" val="4132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04C4D07E-1E33-418F-880A-0561F0138921}"/>
              </a:ext>
            </a:extLst>
          </p:cNvPr>
          <p:cNvSpPr/>
          <p:nvPr/>
        </p:nvSpPr>
        <p:spPr>
          <a:xfrm>
            <a:off x="2457596" y="1076069"/>
            <a:ext cx="6658971" cy="15934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>
                <a:solidFill>
                  <a:schemeClr val="tx1"/>
                </a:solidFill>
              </a:rPr>
              <a:t>Activity Bus Board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7A3F774B-0742-4F28-A8AB-46B1C7858749}"/>
              </a:ext>
            </a:extLst>
          </p:cNvPr>
          <p:cNvSpPr/>
          <p:nvPr/>
        </p:nvSpPr>
        <p:spPr>
          <a:xfrm>
            <a:off x="6345381" y="2302060"/>
            <a:ext cx="2473173" cy="188637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8CA5A1-FDEC-4AA5-A915-5C084FFB3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Activity Bus Board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5FA3861-80B6-4E72-9508-E7E99E07D2FB}"/>
              </a:ext>
            </a:extLst>
          </p:cNvPr>
          <p:cNvSpPr/>
          <p:nvPr/>
        </p:nvSpPr>
        <p:spPr>
          <a:xfrm>
            <a:off x="2593995" y="2424203"/>
            <a:ext cx="1090824" cy="4888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/>
              <a:t>Peripherical 1 </a:t>
            </a:r>
            <a:br>
              <a:rPr lang="de-DE" sz="1050"/>
            </a:br>
            <a:r>
              <a:rPr lang="de-DE" sz="1050"/>
              <a:t>Panel Port USB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01C75CC-67F1-446F-8A7E-774F4A908BCC}"/>
              </a:ext>
            </a:extLst>
          </p:cNvPr>
          <p:cNvSpPr/>
          <p:nvPr/>
        </p:nvSpPr>
        <p:spPr>
          <a:xfrm>
            <a:off x="3759998" y="2424203"/>
            <a:ext cx="1090824" cy="4888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/>
              <a:t>Peripherical n </a:t>
            </a:r>
            <a:br>
              <a:rPr lang="de-DE" sz="1050"/>
            </a:br>
            <a:r>
              <a:rPr lang="de-DE" sz="1050"/>
              <a:t>Panel Port USB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D1A788B-C2C7-4199-A6F0-DF4601FA77A6}"/>
              </a:ext>
            </a:extLst>
          </p:cNvPr>
          <p:cNvSpPr/>
          <p:nvPr/>
        </p:nvSpPr>
        <p:spPr>
          <a:xfrm>
            <a:off x="6465262" y="3356891"/>
            <a:ext cx="1090824" cy="4888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/>
              <a:t>Gadget 1 </a:t>
            </a:r>
            <a:br>
              <a:rPr lang="de-DE" sz="1050"/>
            </a:br>
            <a:r>
              <a:rPr lang="de-DE" sz="1050"/>
              <a:t>Panel Port USB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84B6995-BA36-4B40-9F2C-4D219C497BCB}"/>
              </a:ext>
            </a:extLst>
          </p:cNvPr>
          <p:cNvSpPr/>
          <p:nvPr/>
        </p:nvSpPr>
        <p:spPr>
          <a:xfrm>
            <a:off x="7644233" y="3356891"/>
            <a:ext cx="1090824" cy="4888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/>
              <a:t>Gadget 2 </a:t>
            </a:r>
            <a:br>
              <a:rPr lang="de-DE" sz="1050"/>
            </a:br>
            <a:r>
              <a:rPr lang="de-DE" sz="1050"/>
              <a:t>Panel Port USB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A1A33BA3-FA79-437E-8128-A977F658D65A}"/>
              </a:ext>
            </a:extLst>
          </p:cNvPr>
          <p:cNvCxnSpPr>
            <a:cxnSpLocks/>
            <a:stCxn id="7" idx="1"/>
            <a:endCxn id="30" idx="1"/>
          </p:cNvCxnSpPr>
          <p:nvPr/>
        </p:nvCxnSpPr>
        <p:spPr>
          <a:xfrm flipV="1">
            <a:off x="2457596" y="1865626"/>
            <a:ext cx="4470256" cy="7192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011D16FD-32DA-40AC-AFDA-F82CA2513116}"/>
              </a:ext>
            </a:extLst>
          </p:cNvPr>
          <p:cNvSpPr/>
          <p:nvPr/>
        </p:nvSpPr>
        <p:spPr>
          <a:xfrm>
            <a:off x="2593995" y="832541"/>
            <a:ext cx="1090824" cy="4888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Power</a:t>
            </a:r>
            <a:br>
              <a:rPr lang="de-DE" sz="1050"/>
            </a:br>
            <a:r>
              <a:rPr lang="de-DE" sz="1050"/>
              <a:t>Panel Port USB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941DB21-742E-4FB6-8056-B4F9FE60A455}"/>
              </a:ext>
            </a:extLst>
          </p:cNvPr>
          <p:cNvSpPr/>
          <p:nvPr/>
        </p:nvSpPr>
        <p:spPr>
          <a:xfrm>
            <a:off x="9498315" y="140372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050"/>
              <a:t>2P4T</a:t>
            </a:r>
            <a:br>
              <a:rPr lang="de-DE" sz="1050"/>
            </a:br>
            <a:r>
              <a:rPr lang="de-DE" sz="1050"/>
              <a:t>Drehregler</a:t>
            </a: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15859AF6-1AB6-475A-92EC-2B180162A53B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3139407" y="1321434"/>
            <a:ext cx="0" cy="497307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BC6371A-36CA-4DB7-ACC0-FEFDE0CB04A4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139407" y="1872818"/>
            <a:ext cx="0" cy="551385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1C1802A4-667C-4C52-A8B1-9A1B6A0DDB9D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4305410" y="1926896"/>
            <a:ext cx="0" cy="497307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BB58F0E2-3314-417D-AC47-F975254E09AB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010674" y="2877872"/>
            <a:ext cx="0" cy="479019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0488D5FD-EBAF-46FE-BAF1-496EF7A0F3C0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8189645" y="2859584"/>
            <a:ext cx="0" cy="497307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B369D7C0-E8FC-4150-8BE8-E95626008F72}"/>
              </a:ext>
            </a:extLst>
          </p:cNvPr>
          <p:cNvCxnSpPr>
            <a:cxnSpLocks/>
            <a:stCxn id="19" idx="0"/>
          </p:cNvCxnSpPr>
          <p:nvPr/>
        </p:nvCxnSpPr>
        <p:spPr>
          <a:xfrm rot="16200000" flipH="1" flipV="1">
            <a:off x="8892046" y="664746"/>
            <a:ext cx="324494" cy="1802444"/>
          </a:xfrm>
          <a:prstGeom prst="bentConnector4">
            <a:avLst>
              <a:gd name="adj1" fmla="val -70448"/>
              <a:gd name="adj2" fmla="val 3478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3BCA9EB5-073D-4C00-A3D3-58200244119E}"/>
              </a:ext>
            </a:extLst>
          </p:cNvPr>
          <p:cNvCxnSpPr>
            <a:cxnSpLocks/>
            <a:stCxn id="19" idx="2"/>
            <a:endCxn id="30" idx="3"/>
          </p:cNvCxnSpPr>
          <p:nvPr/>
        </p:nvCxnSpPr>
        <p:spPr>
          <a:xfrm flipH="1">
            <a:off x="8251699" y="1860921"/>
            <a:ext cx="1246616" cy="47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0EAF6442-338F-452C-97CD-3EB9D56541BA}"/>
              </a:ext>
            </a:extLst>
          </p:cNvPr>
          <p:cNvCxnSpPr>
            <a:cxnSpLocks/>
            <a:stCxn id="19" idx="4"/>
          </p:cNvCxnSpPr>
          <p:nvPr/>
        </p:nvCxnSpPr>
        <p:spPr>
          <a:xfrm rot="5400000" flipH="1">
            <a:off x="8915283" y="1277889"/>
            <a:ext cx="278020" cy="1802444"/>
          </a:xfrm>
          <a:prstGeom prst="bentConnector4">
            <a:avLst>
              <a:gd name="adj1" fmla="val -82224"/>
              <a:gd name="adj2" fmla="val 363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E23C0B0F-ECEA-4BB4-9CC1-3C6B8AB90B2B}"/>
              </a:ext>
            </a:extLst>
          </p:cNvPr>
          <p:cNvSpPr txBox="1"/>
          <p:nvPr/>
        </p:nvSpPr>
        <p:spPr>
          <a:xfrm>
            <a:off x="566193" y="4197578"/>
            <a:ext cx="28963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 b="1"/>
            </a:lvl1pPr>
          </a:lstStyle>
          <a:p>
            <a:r>
              <a:rPr lang="de-DE"/>
              <a:t>2 Pull-Up-Widerstände am Master Module</a:t>
            </a:r>
            <a:br>
              <a:rPr lang="de-DE" b="0"/>
            </a:br>
            <a:endParaRPr lang="de-DE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="0"/>
              <a:t>5 kΩ (normalerweise 2,2 - 4,7 kΩ)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="0"/>
              <a:t>von Master SDA nach VCC und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="0"/>
              <a:t>von Master SCL nach VCC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C91ED80C-6E05-40E4-BE64-7BE4F17157F5}"/>
              </a:ext>
            </a:extLst>
          </p:cNvPr>
          <p:cNvSpPr/>
          <p:nvPr/>
        </p:nvSpPr>
        <p:spPr>
          <a:xfrm>
            <a:off x="5561636" y="2040098"/>
            <a:ext cx="287753" cy="25106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>
                <a:solidFill>
                  <a:schemeClr val="tx1"/>
                </a:solidFill>
              </a:rPr>
              <a:t>5k</a:t>
            </a:r>
          </a:p>
        </p:txBody>
      </p:sp>
      <p:cxnSp>
        <p:nvCxnSpPr>
          <p:cNvPr id="50" name="Gerader Verbinder 161">
            <a:extLst>
              <a:ext uri="{FF2B5EF4-FFF2-40B4-BE49-F238E27FC236}">
                <a16:creationId xmlns:a16="http://schemas.microsoft.com/office/drawing/2014/main" id="{AF9B32C6-9131-460B-BE32-D1CF4E204833}"/>
              </a:ext>
            </a:extLst>
          </p:cNvPr>
          <p:cNvCxnSpPr>
            <a:cxnSpLocks/>
            <a:endCxn id="49" idx="6"/>
          </p:cNvCxnSpPr>
          <p:nvPr/>
        </p:nvCxnSpPr>
        <p:spPr>
          <a:xfrm rot="5400000">
            <a:off x="5801549" y="1986978"/>
            <a:ext cx="226492" cy="130812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161">
            <a:extLst>
              <a:ext uri="{FF2B5EF4-FFF2-40B4-BE49-F238E27FC236}">
                <a16:creationId xmlns:a16="http://schemas.microsoft.com/office/drawing/2014/main" id="{829BF0B9-10AF-430C-BEEB-865E5EFAD9BA}"/>
              </a:ext>
            </a:extLst>
          </p:cNvPr>
          <p:cNvCxnSpPr>
            <a:cxnSpLocks/>
            <a:endCxn id="49" idx="2"/>
          </p:cNvCxnSpPr>
          <p:nvPr/>
        </p:nvCxnSpPr>
        <p:spPr>
          <a:xfrm rot="16200000" flipH="1">
            <a:off x="5374064" y="1978058"/>
            <a:ext cx="226492" cy="148652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lipse 55">
            <a:extLst>
              <a:ext uri="{FF2B5EF4-FFF2-40B4-BE49-F238E27FC236}">
                <a16:creationId xmlns:a16="http://schemas.microsoft.com/office/drawing/2014/main" id="{C8A708BD-4F03-4830-9A9F-63F9701B791E}"/>
              </a:ext>
            </a:extLst>
          </p:cNvPr>
          <p:cNvSpPr/>
          <p:nvPr/>
        </p:nvSpPr>
        <p:spPr>
          <a:xfrm>
            <a:off x="5554192" y="2374514"/>
            <a:ext cx="287753" cy="25106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>
                <a:solidFill>
                  <a:schemeClr val="tx1"/>
                </a:solidFill>
              </a:rPr>
              <a:t>5k</a:t>
            </a:r>
          </a:p>
        </p:txBody>
      </p:sp>
      <p:cxnSp>
        <p:nvCxnSpPr>
          <p:cNvPr id="57" name="Gerader Verbinder 161">
            <a:extLst>
              <a:ext uri="{FF2B5EF4-FFF2-40B4-BE49-F238E27FC236}">
                <a16:creationId xmlns:a16="http://schemas.microsoft.com/office/drawing/2014/main" id="{6D98E9CF-C62C-4DD3-B6AE-2D942DA77FFD}"/>
              </a:ext>
            </a:extLst>
          </p:cNvPr>
          <p:cNvCxnSpPr>
            <a:cxnSpLocks/>
            <a:endCxn id="56" idx="6"/>
          </p:cNvCxnSpPr>
          <p:nvPr/>
        </p:nvCxnSpPr>
        <p:spPr>
          <a:xfrm rot="5400000">
            <a:off x="5740587" y="1962280"/>
            <a:ext cx="639125" cy="436407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161">
            <a:extLst>
              <a:ext uri="{FF2B5EF4-FFF2-40B4-BE49-F238E27FC236}">
                <a16:creationId xmlns:a16="http://schemas.microsoft.com/office/drawing/2014/main" id="{9635CB95-D4CD-4D81-8680-3BF25DEB7B48}"/>
              </a:ext>
            </a:extLst>
          </p:cNvPr>
          <p:cNvCxnSpPr>
            <a:cxnSpLocks/>
            <a:endCxn id="56" idx="2"/>
          </p:cNvCxnSpPr>
          <p:nvPr/>
        </p:nvCxnSpPr>
        <p:spPr>
          <a:xfrm rot="16200000" flipH="1">
            <a:off x="5051636" y="1997490"/>
            <a:ext cx="630298" cy="374814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5FDCD461-720C-47F5-9210-2FC3E7AA49A2}"/>
              </a:ext>
            </a:extLst>
          </p:cNvPr>
          <p:cNvSpPr/>
          <p:nvPr/>
        </p:nvSpPr>
        <p:spPr>
          <a:xfrm>
            <a:off x="6949031" y="2480292"/>
            <a:ext cx="1286140" cy="6074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0" i="0">
                <a:solidFill>
                  <a:srgbClr val="0F1111"/>
                </a:solidFill>
                <a:effectLst/>
                <a:latin typeface="Amazon Ember"/>
              </a:rPr>
              <a:t>CD4066</a:t>
            </a:r>
            <a:br>
              <a:rPr lang="en-US" sz="1050" b="0" i="0">
                <a:solidFill>
                  <a:srgbClr val="0F1111"/>
                </a:solidFill>
                <a:effectLst/>
                <a:latin typeface="Amazon Ember"/>
              </a:rPr>
            </a:br>
            <a:r>
              <a:rPr lang="en-US" sz="1050" b="0" i="0">
                <a:solidFill>
                  <a:srgbClr val="0F1111"/>
                </a:solidFill>
                <a:effectLst/>
                <a:latin typeface="Amazon Ember"/>
              </a:rPr>
              <a:t>Multiplexer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5EEA479-874D-45D0-A4E5-7001D43B7B78}"/>
              </a:ext>
            </a:extLst>
          </p:cNvPr>
          <p:cNvSpPr txBox="1"/>
          <p:nvPr/>
        </p:nvSpPr>
        <p:spPr>
          <a:xfrm>
            <a:off x="5914795" y="4705409"/>
            <a:ext cx="564366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Masterselect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/>
              <a:t>wird gesteuert von einem  2P4T Drehregler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/>
              <a:t>der Drehregler versorgt die Gadgets mit VCC/GND : immer nur einen zu einer Zeit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/>
              <a:t>der Masterselect öffnet und schließt die Kanäle am Multiplexer, wenn gedreht wird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7BB9418-D1F0-4997-A1E4-2C7A44275D72}"/>
              </a:ext>
            </a:extLst>
          </p:cNvPr>
          <p:cNvSpPr/>
          <p:nvPr/>
        </p:nvSpPr>
        <p:spPr>
          <a:xfrm>
            <a:off x="6927852" y="1561897"/>
            <a:ext cx="1323847" cy="6074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rgbClr val="0F1111"/>
                </a:solidFill>
                <a:latin typeface="Amazon Ember"/>
              </a:rPr>
              <a:t>«Arduino»</a:t>
            </a:r>
            <a:br>
              <a:rPr lang="en-US" sz="1050" b="0" i="0">
                <a:solidFill>
                  <a:srgbClr val="0F1111"/>
                </a:solidFill>
                <a:effectLst/>
                <a:latin typeface="Amazon Ember"/>
              </a:rPr>
            </a:br>
            <a:r>
              <a:rPr lang="en-US" sz="1050" b="0" i="0">
                <a:solidFill>
                  <a:srgbClr val="0F1111"/>
                </a:solidFill>
                <a:effectLst/>
                <a:latin typeface="Amazon Ember"/>
              </a:rPr>
              <a:t>Masterselect</a:t>
            </a:r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1D33C8BF-7F91-4329-989B-8D9ADBD0C13C}"/>
              </a:ext>
            </a:extLst>
          </p:cNvPr>
          <p:cNvCxnSpPr>
            <a:cxnSpLocks/>
            <a:stCxn id="30" idx="2"/>
            <a:endCxn id="27" idx="0"/>
          </p:cNvCxnSpPr>
          <p:nvPr/>
        </p:nvCxnSpPr>
        <p:spPr>
          <a:xfrm>
            <a:off x="7589776" y="2169354"/>
            <a:ext cx="2325" cy="310938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721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D6A14C-B222-4818-A503-8BEE7F143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Connecting Periphericals and Gadgets via Activity Bus Board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2BC2D04-609E-451E-9385-5DC494AFC873}"/>
              </a:ext>
            </a:extLst>
          </p:cNvPr>
          <p:cNvGrpSpPr/>
          <p:nvPr/>
        </p:nvGrpSpPr>
        <p:grpSpPr>
          <a:xfrm>
            <a:off x="4621167" y="905934"/>
            <a:ext cx="3125832" cy="1116512"/>
            <a:chOff x="4680436" y="905934"/>
            <a:chExt cx="3125832" cy="1116512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A893E31B-2581-462F-9507-9763FDFBBF39}"/>
                </a:ext>
              </a:extLst>
            </p:cNvPr>
            <p:cNvSpPr/>
            <p:nvPr/>
          </p:nvSpPr>
          <p:spPr>
            <a:xfrm>
              <a:off x="4680436" y="905934"/>
              <a:ext cx="3125832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de-DE" sz="1600"/>
                <a:t>Activity Bus Board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EF1D7014-F52D-4447-B71B-704EFF56B3FB}"/>
                </a:ext>
              </a:extLst>
            </p:cNvPr>
            <p:cNvSpPr/>
            <p:nvPr/>
          </p:nvSpPr>
          <p:spPr>
            <a:xfrm>
              <a:off x="4876800" y="1616046"/>
              <a:ext cx="4826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de-DE" sz="1200"/>
                <a:t>USB</a:t>
              </a: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C61CFCC6-EE5B-4132-BE64-6A7D2DE55996}"/>
                </a:ext>
              </a:extLst>
            </p:cNvPr>
            <p:cNvSpPr/>
            <p:nvPr/>
          </p:nvSpPr>
          <p:spPr>
            <a:xfrm>
              <a:off x="5435599" y="1616046"/>
              <a:ext cx="4826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de-DE" sz="1200"/>
                <a:t>USB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2A4CB386-A532-4E33-BA60-AF19F5D6640F}"/>
                </a:ext>
              </a:extLst>
            </p:cNvPr>
            <p:cNvSpPr/>
            <p:nvPr/>
          </p:nvSpPr>
          <p:spPr>
            <a:xfrm>
              <a:off x="5994398" y="1616046"/>
              <a:ext cx="4826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de-DE" sz="1200"/>
                <a:t>USB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6C595145-DD5C-4AA2-BD31-953CE2D30301}"/>
                </a:ext>
              </a:extLst>
            </p:cNvPr>
            <p:cNvSpPr/>
            <p:nvPr/>
          </p:nvSpPr>
          <p:spPr>
            <a:xfrm>
              <a:off x="6559546" y="1605407"/>
              <a:ext cx="4826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de-DE" sz="1200"/>
                <a:t>USB</a:t>
              </a: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8AD7E23-9E98-43DF-B25A-24FD2796FB91}"/>
                </a:ext>
              </a:extLst>
            </p:cNvPr>
            <p:cNvSpPr/>
            <p:nvPr/>
          </p:nvSpPr>
          <p:spPr>
            <a:xfrm>
              <a:off x="7118345" y="1603235"/>
              <a:ext cx="4826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de-DE" sz="1200"/>
                <a:t>USB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D7FA56D4-AC53-4E43-9BB5-CD7E1532ABC2}"/>
              </a:ext>
            </a:extLst>
          </p:cNvPr>
          <p:cNvGrpSpPr/>
          <p:nvPr/>
        </p:nvGrpSpPr>
        <p:grpSpPr>
          <a:xfrm>
            <a:off x="2563769" y="3225800"/>
            <a:ext cx="1110765" cy="1117600"/>
            <a:chOff x="2563769" y="2768600"/>
            <a:chExt cx="1110765" cy="1117600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F1090F83-E92C-4F8B-8C1D-ACC4CC0D4452}"/>
                </a:ext>
              </a:extLst>
            </p:cNvPr>
            <p:cNvSpPr/>
            <p:nvPr/>
          </p:nvSpPr>
          <p:spPr>
            <a:xfrm>
              <a:off x="2563769" y="2971800"/>
              <a:ext cx="1110765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Peripherical 1</a:t>
              </a: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93AFC654-D1A0-4B4F-8363-741F50B131BC}"/>
                </a:ext>
              </a:extLst>
            </p:cNvPr>
            <p:cNvSpPr/>
            <p:nvPr/>
          </p:nvSpPr>
          <p:spPr>
            <a:xfrm>
              <a:off x="2877851" y="2768600"/>
              <a:ext cx="4826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USB</a:t>
              </a:r>
            </a:p>
          </p:txBody>
        </p:sp>
      </p:grpSp>
      <p:cxnSp>
        <p:nvCxnSpPr>
          <p:cNvPr id="13" name="Verbinder: gewinkelt 12">
            <a:extLst>
              <a:ext uri="{FF2B5EF4-FFF2-40B4-BE49-F238E27FC236}">
                <a16:creationId xmlns:a16="http://schemas.microsoft.com/office/drawing/2014/main" id="{2E552BDB-EFBE-4A7C-ACE9-AF28B01BCB05}"/>
              </a:ext>
            </a:extLst>
          </p:cNvPr>
          <p:cNvCxnSpPr>
            <a:stCxn id="5" idx="2"/>
            <a:endCxn id="11" idx="0"/>
          </p:cNvCxnSpPr>
          <p:nvPr/>
        </p:nvCxnSpPr>
        <p:spPr>
          <a:xfrm rot="5400000">
            <a:off x="3487314" y="1654283"/>
            <a:ext cx="1203354" cy="1939680"/>
          </a:xfrm>
          <a:prstGeom prst="bentConnector3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346EBC43-B912-4C48-9763-7CECF214FA30}"/>
              </a:ext>
            </a:extLst>
          </p:cNvPr>
          <p:cNvGrpSpPr/>
          <p:nvPr/>
        </p:nvGrpSpPr>
        <p:grpSpPr>
          <a:xfrm>
            <a:off x="4092615" y="3225800"/>
            <a:ext cx="1110765" cy="1117600"/>
            <a:chOff x="2563769" y="2768600"/>
            <a:chExt cx="1110765" cy="11176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87321528-AFD4-4F5C-B73B-390D8B426150}"/>
                </a:ext>
              </a:extLst>
            </p:cNvPr>
            <p:cNvSpPr/>
            <p:nvPr/>
          </p:nvSpPr>
          <p:spPr>
            <a:xfrm>
              <a:off x="2563769" y="2971800"/>
              <a:ext cx="1110765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Peripherical …</a:t>
              </a: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15C3ACA8-D6CD-445F-934A-C34A5CC118F9}"/>
                </a:ext>
              </a:extLst>
            </p:cNvPr>
            <p:cNvSpPr/>
            <p:nvPr/>
          </p:nvSpPr>
          <p:spPr>
            <a:xfrm>
              <a:off x="2877851" y="2768600"/>
              <a:ext cx="4826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USB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04FA151D-5C2D-4DA7-978F-BB695ADBD3F8}"/>
              </a:ext>
            </a:extLst>
          </p:cNvPr>
          <p:cNvGrpSpPr/>
          <p:nvPr/>
        </p:nvGrpSpPr>
        <p:grpSpPr>
          <a:xfrm>
            <a:off x="5621461" y="3225800"/>
            <a:ext cx="1110765" cy="1117600"/>
            <a:chOff x="2563769" y="2768600"/>
            <a:chExt cx="1110765" cy="1117600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EFC6A8EC-7A82-4A27-884F-906330410599}"/>
                </a:ext>
              </a:extLst>
            </p:cNvPr>
            <p:cNvSpPr/>
            <p:nvPr/>
          </p:nvSpPr>
          <p:spPr>
            <a:xfrm>
              <a:off x="2563769" y="2971800"/>
              <a:ext cx="1110765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…</a:t>
              </a: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27AD8E3E-CC5A-455A-A102-EA7FB7E7830B}"/>
                </a:ext>
              </a:extLst>
            </p:cNvPr>
            <p:cNvSpPr/>
            <p:nvPr/>
          </p:nvSpPr>
          <p:spPr>
            <a:xfrm>
              <a:off x="2877851" y="2768600"/>
              <a:ext cx="4826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USB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759F7920-453D-4A30-903D-5B47610F5DEA}"/>
              </a:ext>
            </a:extLst>
          </p:cNvPr>
          <p:cNvGrpSpPr/>
          <p:nvPr/>
        </p:nvGrpSpPr>
        <p:grpSpPr>
          <a:xfrm>
            <a:off x="7150307" y="3225800"/>
            <a:ext cx="1110765" cy="1117600"/>
            <a:chOff x="2563769" y="2768600"/>
            <a:chExt cx="1110765" cy="1117600"/>
          </a:xfrm>
        </p:grpSpPr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194CBD79-7646-4921-BDE0-4C2136F822AD}"/>
                </a:ext>
              </a:extLst>
            </p:cNvPr>
            <p:cNvSpPr/>
            <p:nvPr/>
          </p:nvSpPr>
          <p:spPr>
            <a:xfrm>
              <a:off x="2563769" y="2971800"/>
              <a:ext cx="1110765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Gadget 1</a:t>
              </a: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FB8E5F0C-2F40-4A1A-BF20-078EBB12C440}"/>
                </a:ext>
              </a:extLst>
            </p:cNvPr>
            <p:cNvSpPr/>
            <p:nvPr/>
          </p:nvSpPr>
          <p:spPr>
            <a:xfrm>
              <a:off x="2877851" y="2768600"/>
              <a:ext cx="4826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USB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7F6C3214-DF8C-4984-B704-36159DE76B83}"/>
              </a:ext>
            </a:extLst>
          </p:cNvPr>
          <p:cNvGrpSpPr/>
          <p:nvPr/>
        </p:nvGrpSpPr>
        <p:grpSpPr>
          <a:xfrm>
            <a:off x="8679151" y="3225800"/>
            <a:ext cx="1110765" cy="1117600"/>
            <a:chOff x="2563769" y="2768600"/>
            <a:chExt cx="1110765" cy="1117600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62F2E997-DB0B-4527-BD0F-AA1F61DCE8B0}"/>
                </a:ext>
              </a:extLst>
            </p:cNvPr>
            <p:cNvSpPr/>
            <p:nvPr/>
          </p:nvSpPr>
          <p:spPr>
            <a:xfrm>
              <a:off x="2563769" y="2971800"/>
              <a:ext cx="1110765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Gadget …</a:t>
              </a: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7FC7F559-B750-4253-A876-301E4388AA0B}"/>
                </a:ext>
              </a:extLst>
            </p:cNvPr>
            <p:cNvSpPr/>
            <p:nvPr/>
          </p:nvSpPr>
          <p:spPr>
            <a:xfrm>
              <a:off x="2877851" y="2768600"/>
              <a:ext cx="4826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USB</a:t>
              </a:r>
            </a:p>
          </p:txBody>
        </p:sp>
      </p:grpSp>
      <p:cxnSp>
        <p:nvCxnSpPr>
          <p:cNvPr id="28" name="Verbinder: gewinkelt 27">
            <a:extLst>
              <a:ext uri="{FF2B5EF4-FFF2-40B4-BE49-F238E27FC236}">
                <a16:creationId xmlns:a16="http://schemas.microsoft.com/office/drawing/2014/main" id="{EBD53AC9-5568-4967-B7BD-1A477558A7D1}"/>
              </a:ext>
            </a:extLst>
          </p:cNvPr>
          <p:cNvCxnSpPr>
            <a:cxnSpLocks/>
            <a:stCxn id="6" idx="2"/>
            <a:endCxn id="18" idx="0"/>
          </p:cNvCxnSpPr>
          <p:nvPr/>
        </p:nvCxnSpPr>
        <p:spPr>
          <a:xfrm rot="5400000">
            <a:off x="4531137" y="2139307"/>
            <a:ext cx="1203354" cy="969633"/>
          </a:xfrm>
          <a:prstGeom prst="bentConnector3">
            <a:avLst>
              <a:gd name="adj1" fmla="val 75329"/>
            </a:avLst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Verbinder: gewinkelt 31">
            <a:extLst>
              <a:ext uri="{FF2B5EF4-FFF2-40B4-BE49-F238E27FC236}">
                <a16:creationId xmlns:a16="http://schemas.microsoft.com/office/drawing/2014/main" id="{3A4473B9-3DDD-4E3F-906D-0DDE99A17845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16200000" flipH="1">
            <a:off x="5574959" y="2623916"/>
            <a:ext cx="1203354" cy="414"/>
          </a:xfrm>
          <a:prstGeom prst="bentConnector3">
            <a:avLst>
              <a:gd name="adj1" fmla="val 50000"/>
            </a:avLst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Verbinder: gewinkelt 32">
            <a:extLst>
              <a:ext uri="{FF2B5EF4-FFF2-40B4-BE49-F238E27FC236}">
                <a16:creationId xmlns:a16="http://schemas.microsoft.com/office/drawing/2014/main" id="{8C8AE359-0C4B-4400-9D43-1E477EB65048}"/>
              </a:ext>
            </a:extLst>
          </p:cNvPr>
          <p:cNvCxnSpPr>
            <a:cxnSpLocks/>
            <a:stCxn id="8" idx="2"/>
            <a:endCxn id="24" idx="0"/>
          </p:cNvCxnSpPr>
          <p:nvPr/>
        </p:nvCxnSpPr>
        <p:spPr>
          <a:xfrm rot="16200000" flipH="1">
            <a:off x="6616637" y="2136747"/>
            <a:ext cx="1213993" cy="964112"/>
          </a:xfrm>
          <a:prstGeom prst="bentConnector3">
            <a:avLst>
              <a:gd name="adj1" fmla="val 76502"/>
            </a:avLst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Verbinder: gewinkelt 33">
            <a:extLst>
              <a:ext uri="{FF2B5EF4-FFF2-40B4-BE49-F238E27FC236}">
                <a16:creationId xmlns:a16="http://schemas.microsoft.com/office/drawing/2014/main" id="{0B2B0859-0F09-49D8-A189-8F15EBD944A5}"/>
              </a:ext>
            </a:extLst>
          </p:cNvPr>
          <p:cNvCxnSpPr>
            <a:cxnSpLocks/>
            <a:stCxn id="9" idx="2"/>
            <a:endCxn id="27" idx="0"/>
          </p:cNvCxnSpPr>
          <p:nvPr/>
        </p:nvCxnSpPr>
        <p:spPr>
          <a:xfrm rot="16200000" flipH="1">
            <a:off x="7659372" y="1650638"/>
            <a:ext cx="1216165" cy="1934157"/>
          </a:xfrm>
          <a:prstGeom prst="bentConnector3">
            <a:avLst>
              <a:gd name="adj1" fmla="val 50000"/>
            </a:avLst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BCD8B910-404C-4088-86E0-7BD39B008DCA}"/>
              </a:ext>
            </a:extLst>
          </p:cNvPr>
          <p:cNvSpPr txBox="1"/>
          <p:nvPr/>
        </p:nvSpPr>
        <p:spPr>
          <a:xfrm>
            <a:off x="652018" y="1372659"/>
            <a:ext cx="16133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USB Pin Belegung</a:t>
            </a:r>
            <a:br>
              <a:rPr lang="de-DE" sz="1200" b="1"/>
            </a:br>
            <a:endParaRPr lang="de-DE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G : GND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D- : SDA (Ardino A4)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D+ : SCL (Ardino A5)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V : VCC (5V)</a:t>
            </a:r>
          </a:p>
        </p:txBody>
      </p:sp>
    </p:spTree>
    <p:extLst>
      <p:ext uri="{BB962C8B-B14F-4D97-AF65-F5344CB8AC3E}">
        <p14:creationId xmlns:p14="http://schemas.microsoft.com/office/powerpoint/2010/main" val="3295244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FD370A-9417-4AD3-B480-F79F6A32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CD4066 Specification</a:t>
            </a:r>
          </a:p>
        </p:txBody>
      </p:sp>
      <p:pic>
        <p:nvPicPr>
          <p:cNvPr id="1026" name="Picture 2" descr="The CD4066 is a classic CMOS integrated circuit that contains four  independent bilateral electronic switches. Each switch has a simple control  input that allows it to connect and disconnect analog s">
            <a:extLst>
              <a:ext uri="{FF2B5EF4-FFF2-40B4-BE49-F238E27FC236}">
                <a16:creationId xmlns:a16="http://schemas.microsoft.com/office/drawing/2014/main" id="{78EF064F-E039-40F0-9EF1-63C9074C3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71" y="1046607"/>
            <a:ext cx="5276850" cy="527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19C079E-A984-4BE0-93E1-1475F2F64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117" y="3320195"/>
            <a:ext cx="5934903" cy="314368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65D9ECE-51A7-4674-807E-579EDB151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724" y="1046607"/>
            <a:ext cx="2419688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88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e 3">
            <a:extLst>
              <a:ext uri="{FF2B5EF4-FFF2-40B4-BE49-F238E27FC236}">
                <a16:creationId xmlns:a16="http://schemas.microsoft.com/office/drawing/2014/main" id="{866DE5E4-E223-4F22-BAE4-36B2B784F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724825"/>
              </p:ext>
            </p:extLst>
          </p:nvPr>
        </p:nvGraphicFramePr>
        <p:xfrm>
          <a:off x="0" y="960120"/>
          <a:ext cx="12191999" cy="493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153977444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53235748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30840198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1173159219"/>
                    </a:ext>
                  </a:extLst>
                </a:gridCol>
                <a:gridCol w="3990975">
                  <a:extLst>
                    <a:ext uri="{9D8B030D-6E8A-4147-A177-3AD203B41FA5}">
                      <a16:colId xmlns:a16="http://schemas.microsoft.com/office/drawing/2014/main" val="217806879"/>
                    </a:ext>
                  </a:extLst>
                </a:gridCol>
                <a:gridCol w="1051127">
                  <a:extLst>
                    <a:ext uri="{9D8B030D-6E8A-4147-A177-3AD203B41FA5}">
                      <a16:colId xmlns:a16="http://schemas.microsoft.com/office/drawing/2014/main" val="82373693"/>
                    </a:ext>
                  </a:extLst>
                </a:gridCol>
                <a:gridCol w="637743">
                  <a:extLst>
                    <a:ext uri="{9D8B030D-6E8A-4147-A177-3AD203B41FA5}">
                      <a16:colId xmlns:a16="http://schemas.microsoft.com/office/drawing/2014/main" val="2322598111"/>
                    </a:ext>
                  </a:extLst>
                </a:gridCol>
                <a:gridCol w="425679">
                  <a:extLst>
                    <a:ext uri="{9D8B030D-6E8A-4147-A177-3AD203B41FA5}">
                      <a16:colId xmlns:a16="http://schemas.microsoft.com/office/drawing/2014/main" val="90653551"/>
                    </a:ext>
                  </a:extLst>
                </a:gridCol>
              </a:tblGrid>
              <a:tr h="262639">
                <a:tc>
                  <a:txBody>
                    <a:bodyPr/>
                    <a:lstStyle/>
                    <a:p>
                      <a:r>
                        <a:rPr lang="de-DE" sz="120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Gadget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Drehschalter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Activity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Activity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Drehschalter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Gadget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982814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r>
                        <a:rPr lang="de-DE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913058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r>
                        <a:rPr lang="de-DE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10 k</a:t>
                      </a:r>
                      <a:r>
                        <a:rPr lang="el-GR" sz="1200"/>
                        <a:t>Ω</a:t>
                      </a:r>
                      <a:r>
                        <a:rPr lang="de-DE" sz="1200"/>
                        <a:t> gegen 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GC1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659889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r>
                        <a:rPr lang="de-DE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10 k</a:t>
                      </a:r>
                      <a:r>
                        <a:rPr lang="el-GR" sz="1200"/>
                        <a:t>Ω</a:t>
                      </a:r>
                      <a:r>
                        <a:rPr lang="de-DE" sz="1200"/>
                        <a:t> gegen 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GC2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912469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r>
                        <a:rPr lang="de-DE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SCL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89404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r>
                        <a:rPr lang="de-DE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10 k</a:t>
                      </a:r>
                      <a:r>
                        <a:rPr lang="el-GR" sz="1200"/>
                        <a:t>Ω</a:t>
                      </a:r>
                      <a:r>
                        <a:rPr lang="de-DE" sz="1200"/>
                        <a:t> gegen 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SC2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449120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r>
                        <a:rPr lang="de-DE"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10 k</a:t>
                      </a:r>
                      <a:r>
                        <a:rPr lang="el-GR" sz="1200"/>
                        <a:t>Ω</a:t>
                      </a:r>
                      <a:r>
                        <a:rPr lang="de-DE" sz="1200"/>
                        <a:t> gegen 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SD2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809008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r>
                        <a:rPr lang="de-DE"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SDA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223528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635070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086533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546112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r>
                        <a:rPr lang="de-DE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975738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r>
                        <a:rPr lang="de-DE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10 k</a:t>
                      </a:r>
                      <a:r>
                        <a:rPr lang="el-GR" sz="1200"/>
                        <a:t>Ω</a:t>
                      </a:r>
                      <a:r>
                        <a:rPr lang="de-DE" sz="1200"/>
                        <a:t> gegen 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GC3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537215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r>
                        <a:rPr lang="de-DE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10 k</a:t>
                      </a:r>
                      <a:r>
                        <a:rPr lang="el-GR" sz="1200"/>
                        <a:t>Ω</a:t>
                      </a:r>
                      <a:r>
                        <a:rPr lang="de-DE" sz="1200"/>
                        <a:t> gegen 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GC4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481746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r>
                        <a:rPr lang="de-DE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SCL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783938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r>
                        <a:rPr lang="de-DE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10 k</a:t>
                      </a:r>
                      <a:r>
                        <a:rPr lang="el-GR" sz="1200"/>
                        <a:t>Ω</a:t>
                      </a:r>
                      <a:r>
                        <a:rPr lang="de-DE" sz="1200"/>
                        <a:t> gegen 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SC4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616500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r>
                        <a:rPr lang="de-DE"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10 k</a:t>
                      </a:r>
                      <a:r>
                        <a:rPr lang="el-GR" sz="1200"/>
                        <a:t>Ω</a:t>
                      </a:r>
                      <a:r>
                        <a:rPr lang="de-DE" sz="1200"/>
                        <a:t> gegen 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SD4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430252"/>
                  </a:ext>
                </a:extLst>
              </a:tr>
              <a:tr h="262639">
                <a:tc>
                  <a:txBody>
                    <a:bodyPr/>
                    <a:lstStyle/>
                    <a:p>
                      <a:r>
                        <a:rPr lang="de-DE"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SDA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896791"/>
                  </a:ext>
                </a:extLst>
              </a:tr>
            </a:tbl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82FD69D-264C-4866-9F81-CC0AC4288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CD4066 Gadget Dispatch Block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7DC3569-41A1-43B4-A338-2222C409E30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07536" y="1109940"/>
            <a:ext cx="2751411" cy="224229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C5D1A2D-B6C1-4C82-AF26-F636DC4B7E4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07536" y="3825371"/>
            <a:ext cx="2726916" cy="222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16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hteck 89">
            <a:extLst>
              <a:ext uri="{FF2B5EF4-FFF2-40B4-BE49-F238E27FC236}">
                <a16:creationId xmlns:a16="http://schemas.microsoft.com/office/drawing/2014/main" id="{17005C9F-C5D5-4192-9393-0EFB28EC81CE}"/>
              </a:ext>
            </a:extLst>
          </p:cNvPr>
          <p:cNvSpPr/>
          <p:nvPr/>
        </p:nvSpPr>
        <p:spPr>
          <a:xfrm>
            <a:off x="6643424" y="210018"/>
            <a:ext cx="470657" cy="4318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/>
              <a:t>5V</a:t>
            </a:r>
          </a:p>
        </p:txBody>
      </p:sp>
      <p:cxnSp>
        <p:nvCxnSpPr>
          <p:cNvPr id="92" name="Verbinder: gewinkelt 91">
            <a:extLst>
              <a:ext uri="{FF2B5EF4-FFF2-40B4-BE49-F238E27FC236}">
                <a16:creationId xmlns:a16="http://schemas.microsoft.com/office/drawing/2014/main" id="{53FACA46-9CAE-4248-B5B4-B29E796097EA}"/>
              </a:ext>
            </a:extLst>
          </p:cNvPr>
          <p:cNvCxnSpPr>
            <a:cxnSpLocks/>
            <a:stCxn id="90" idx="3"/>
            <a:endCxn id="112" idx="3"/>
          </p:cNvCxnSpPr>
          <p:nvPr/>
        </p:nvCxnSpPr>
        <p:spPr>
          <a:xfrm>
            <a:off x="7114081" y="425933"/>
            <a:ext cx="1177228" cy="774434"/>
          </a:xfrm>
          <a:prstGeom prst="bentConnector3">
            <a:avLst>
              <a:gd name="adj1" fmla="val 226608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Verbinder: gewinkelt 95">
            <a:extLst>
              <a:ext uri="{FF2B5EF4-FFF2-40B4-BE49-F238E27FC236}">
                <a16:creationId xmlns:a16="http://schemas.microsoft.com/office/drawing/2014/main" id="{CF028F66-4F8D-4DDA-B0FC-9CD3C1E0D293}"/>
              </a:ext>
            </a:extLst>
          </p:cNvPr>
          <p:cNvCxnSpPr>
            <a:cxnSpLocks/>
            <a:stCxn id="90" idx="3"/>
            <a:endCxn id="116" idx="3"/>
          </p:cNvCxnSpPr>
          <p:nvPr/>
        </p:nvCxnSpPr>
        <p:spPr>
          <a:xfrm>
            <a:off x="7114081" y="425933"/>
            <a:ext cx="1180976" cy="4069759"/>
          </a:xfrm>
          <a:prstGeom prst="bentConnector3">
            <a:avLst>
              <a:gd name="adj1" fmla="val 225433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hteck 98">
            <a:extLst>
              <a:ext uri="{FF2B5EF4-FFF2-40B4-BE49-F238E27FC236}">
                <a16:creationId xmlns:a16="http://schemas.microsoft.com/office/drawing/2014/main" id="{C105B860-66FC-408B-8AD5-B56A440BA8BE}"/>
              </a:ext>
            </a:extLst>
          </p:cNvPr>
          <p:cNvSpPr/>
          <p:nvPr/>
        </p:nvSpPr>
        <p:spPr>
          <a:xfrm>
            <a:off x="6078973" y="221357"/>
            <a:ext cx="470657" cy="4318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/>
              <a:t>GND</a:t>
            </a:r>
          </a:p>
        </p:txBody>
      </p:sp>
      <p:cxnSp>
        <p:nvCxnSpPr>
          <p:cNvPr id="102" name="Verbinder: gewinkelt 101">
            <a:extLst>
              <a:ext uri="{FF2B5EF4-FFF2-40B4-BE49-F238E27FC236}">
                <a16:creationId xmlns:a16="http://schemas.microsoft.com/office/drawing/2014/main" id="{005866DF-4EF2-4357-A503-16697BA63ED3}"/>
              </a:ext>
            </a:extLst>
          </p:cNvPr>
          <p:cNvCxnSpPr>
            <a:cxnSpLocks/>
            <a:stCxn id="99" idx="1"/>
            <a:endCxn id="115" idx="1"/>
          </p:cNvCxnSpPr>
          <p:nvPr/>
        </p:nvCxnSpPr>
        <p:spPr>
          <a:xfrm rot="10800000" flipV="1">
            <a:off x="4877387" y="437271"/>
            <a:ext cx="1201586" cy="2450329"/>
          </a:xfrm>
          <a:prstGeom prst="bentConnector3">
            <a:avLst>
              <a:gd name="adj1" fmla="val 185993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Verbinder: gewinkelt 104">
            <a:extLst>
              <a:ext uri="{FF2B5EF4-FFF2-40B4-BE49-F238E27FC236}">
                <a16:creationId xmlns:a16="http://schemas.microsoft.com/office/drawing/2014/main" id="{89B087D7-67A9-4FC2-AD52-D4499435C07F}"/>
              </a:ext>
            </a:extLst>
          </p:cNvPr>
          <p:cNvCxnSpPr>
            <a:cxnSpLocks/>
            <a:stCxn id="99" idx="1"/>
            <a:endCxn id="117" idx="1"/>
          </p:cNvCxnSpPr>
          <p:nvPr/>
        </p:nvCxnSpPr>
        <p:spPr>
          <a:xfrm rot="10800000" flipV="1">
            <a:off x="4764095" y="437272"/>
            <a:ext cx="1314878" cy="5910874"/>
          </a:xfrm>
          <a:prstGeom prst="bentConnector3">
            <a:avLst>
              <a:gd name="adj1" fmla="val 210573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D3AFF913-D249-4AC7-884F-C849851BDD86}"/>
              </a:ext>
            </a:extLst>
          </p:cNvPr>
          <p:cNvGrpSpPr/>
          <p:nvPr/>
        </p:nvGrpSpPr>
        <p:grpSpPr>
          <a:xfrm>
            <a:off x="4003097" y="914458"/>
            <a:ext cx="5468689" cy="2242292"/>
            <a:chOff x="3957448" y="721848"/>
            <a:chExt cx="5468689" cy="2242292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58C686AA-FD19-446A-8E68-D130E1E51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222070" y="721848"/>
              <a:ext cx="2751411" cy="2242292"/>
            </a:xfrm>
            <a:prstGeom prst="rect">
              <a:avLst/>
            </a:prstGeom>
          </p:spPr>
        </p:pic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3ADCFD48-F391-44DC-B936-28BF67473739}"/>
                </a:ext>
              </a:extLst>
            </p:cNvPr>
            <p:cNvSpPr txBox="1"/>
            <p:nvPr/>
          </p:nvSpPr>
          <p:spPr>
            <a:xfrm rot="16200000">
              <a:off x="3626556" y="1279579"/>
              <a:ext cx="1031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/>
                <a:t>Gadget 1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36B5C2D5-E9B8-4004-ADB3-5A9C2F92AAA3}"/>
                </a:ext>
              </a:extLst>
            </p:cNvPr>
            <p:cNvSpPr txBox="1"/>
            <p:nvPr/>
          </p:nvSpPr>
          <p:spPr>
            <a:xfrm rot="16200000">
              <a:off x="8725913" y="2062618"/>
              <a:ext cx="1031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Gadget 2</a:t>
              </a:r>
            </a:p>
          </p:txBody>
        </p:sp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86E1680E-3607-482E-88DB-1F06D667F118}"/>
                </a:ext>
              </a:extLst>
            </p:cNvPr>
            <p:cNvGrpSpPr/>
            <p:nvPr/>
          </p:nvGrpSpPr>
          <p:grpSpPr>
            <a:xfrm rot="5400000">
              <a:off x="4120929" y="1268993"/>
              <a:ext cx="914400" cy="507219"/>
              <a:chOff x="7636933" y="864440"/>
              <a:chExt cx="914400" cy="507219"/>
            </a:xfrm>
          </p:grpSpPr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DF33EF77-8921-4E47-ACE8-8EEACF1C1F50}"/>
                  </a:ext>
                </a:extLst>
              </p:cNvPr>
              <p:cNvSpPr/>
              <p:nvPr/>
            </p:nvSpPr>
            <p:spPr>
              <a:xfrm>
                <a:off x="7636933" y="939830"/>
                <a:ext cx="914400" cy="43182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100"/>
                  <a:t>SDA      SCL</a:t>
                </a:r>
              </a:p>
            </p:txBody>
          </p: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C3C235E4-3B93-46E4-B5FD-CBA01F2DF6C3}"/>
                  </a:ext>
                </a:extLst>
              </p:cNvPr>
              <p:cNvSpPr/>
              <p:nvPr/>
            </p:nvSpPr>
            <p:spPr>
              <a:xfrm>
                <a:off x="7814733" y="889030"/>
                <a:ext cx="152400" cy="17777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7E6A6BC6-53CB-404F-B1ED-B1781BDC7121}"/>
                  </a:ext>
                </a:extLst>
              </p:cNvPr>
              <p:cNvSpPr/>
              <p:nvPr/>
            </p:nvSpPr>
            <p:spPr>
              <a:xfrm>
                <a:off x="8183033" y="864440"/>
                <a:ext cx="152400" cy="17777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B604C8E7-4D58-43A1-BDC8-05184E89EEF4}"/>
                </a:ext>
              </a:extLst>
            </p:cNvPr>
            <p:cNvGrpSpPr/>
            <p:nvPr/>
          </p:nvGrpSpPr>
          <p:grpSpPr>
            <a:xfrm rot="16200000">
              <a:off x="8320206" y="1967493"/>
              <a:ext cx="914400" cy="507219"/>
              <a:chOff x="7636933" y="864440"/>
              <a:chExt cx="914400" cy="507219"/>
            </a:xfrm>
          </p:grpSpPr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DDA199B0-A1DB-4A4C-89F0-008993D2FF0A}"/>
                  </a:ext>
                </a:extLst>
              </p:cNvPr>
              <p:cNvSpPr/>
              <p:nvPr/>
            </p:nvSpPr>
            <p:spPr>
              <a:xfrm>
                <a:off x="7636933" y="939830"/>
                <a:ext cx="914400" cy="43182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100"/>
                  <a:t>SDA      SCL</a:t>
                </a:r>
              </a:p>
            </p:txBody>
          </p:sp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8018D633-8033-4DB4-B42C-C29108952FD6}"/>
                  </a:ext>
                </a:extLst>
              </p:cNvPr>
              <p:cNvSpPr/>
              <p:nvPr/>
            </p:nvSpPr>
            <p:spPr>
              <a:xfrm>
                <a:off x="7814733" y="889030"/>
                <a:ext cx="152400" cy="17777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5A2FD91D-18A0-4BDD-BCAB-0A5739826912}"/>
                  </a:ext>
                </a:extLst>
              </p:cNvPr>
              <p:cNvSpPr/>
              <p:nvPr/>
            </p:nvSpPr>
            <p:spPr>
              <a:xfrm>
                <a:off x="8183033" y="864440"/>
                <a:ext cx="152400" cy="17777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B4C62078-62B4-464C-93CF-D1320C9AF662}"/>
                </a:ext>
              </a:extLst>
            </p:cNvPr>
            <p:cNvCxnSpPr>
              <a:cxnSpLocks/>
              <a:stCxn id="25" idx="0"/>
            </p:cNvCxnSpPr>
            <p:nvPr/>
          </p:nvCxnSpPr>
          <p:spPr>
            <a:xfrm rot="16200000">
              <a:off x="5057810" y="1068741"/>
              <a:ext cx="0" cy="50132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2F293072-74F3-45C6-890E-DF520FD9A30F}"/>
                </a:ext>
              </a:extLst>
            </p:cNvPr>
            <p:cNvCxnSpPr>
              <a:cxnSpLocks/>
              <a:stCxn id="26" idx="0"/>
            </p:cNvCxnSpPr>
            <p:nvPr/>
          </p:nvCxnSpPr>
          <p:spPr>
            <a:xfrm flipV="1">
              <a:off x="4831739" y="1544064"/>
              <a:ext cx="476735" cy="14363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98341253-E5E8-4A68-B3E1-BAC9EBBD6428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7973481" y="2407086"/>
              <a:ext cx="574906" cy="1721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470C717B-E0D3-4A40-8E9A-3C0FC580CD22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flipV="1">
              <a:off x="7980140" y="2056003"/>
              <a:ext cx="543657" cy="2768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5A070B89-BA83-468D-831E-286A365BE341}"/>
                </a:ext>
              </a:extLst>
            </p:cNvPr>
            <p:cNvSpPr/>
            <p:nvPr/>
          </p:nvSpPr>
          <p:spPr>
            <a:xfrm rot="16200000">
              <a:off x="4281501" y="2092380"/>
              <a:ext cx="511369" cy="43183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/>
                <a:t>GC1</a:t>
              </a:r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CDC66396-024D-46DA-ABFD-ECB31032E93A}"/>
                </a:ext>
              </a:extLst>
            </p:cNvPr>
            <p:cNvSpPr/>
            <p:nvPr/>
          </p:nvSpPr>
          <p:spPr>
            <a:xfrm rot="16200000">
              <a:off x="8548034" y="1228807"/>
              <a:ext cx="511369" cy="43183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/>
                <a:t>GC2</a:t>
              </a:r>
            </a:p>
          </p:txBody>
        </p:sp>
        <p:cxnSp>
          <p:nvCxnSpPr>
            <p:cNvPr id="74" name="Gerader Verbinder 73">
              <a:extLst>
                <a:ext uri="{FF2B5EF4-FFF2-40B4-BE49-F238E27FC236}">
                  <a16:creationId xmlns:a16="http://schemas.microsoft.com/office/drawing/2014/main" id="{2F0D3116-C299-4E3C-B212-93CDE888190B}"/>
                </a:ext>
              </a:extLst>
            </p:cNvPr>
            <p:cNvCxnSpPr>
              <a:cxnSpLocks/>
              <a:stCxn id="70" idx="2"/>
            </p:cNvCxnSpPr>
            <p:nvPr/>
          </p:nvCxnSpPr>
          <p:spPr>
            <a:xfrm flipV="1">
              <a:off x="4753101" y="2141619"/>
              <a:ext cx="531007" cy="166676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F8584E75-86A3-4331-B2F5-58602E014849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H="1">
              <a:off x="7967208" y="1444722"/>
              <a:ext cx="620596" cy="10818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feld 111">
              <a:extLst>
                <a:ext uri="{FF2B5EF4-FFF2-40B4-BE49-F238E27FC236}">
                  <a16:creationId xmlns:a16="http://schemas.microsoft.com/office/drawing/2014/main" id="{D13D9F6D-AECF-4DD4-A5AD-D07472883712}"/>
                </a:ext>
              </a:extLst>
            </p:cNvPr>
            <p:cNvSpPr txBox="1"/>
            <p:nvPr/>
          </p:nvSpPr>
          <p:spPr>
            <a:xfrm>
              <a:off x="7908708" y="876952"/>
              <a:ext cx="3369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/>
                <a:t>V5</a:t>
              </a:r>
            </a:p>
          </p:txBody>
        </p:sp>
        <p:sp>
          <p:nvSpPr>
            <p:cNvPr id="115" name="Textfeld 114">
              <a:extLst>
                <a:ext uri="{FF2B5EF4-FFF2-40B4-BE49-F238E27FC236}">
                  <a16:creationId xmlns:a16="http://schemas.microsoft.com/office/drawing/2014/main" id="{56761C5C-107D-4BEE-8373-BF5DB1190C19}"/>
                </a:ext>
              </a:extLst>
            </p:cNvPr>
            <p:cNvSpPr txBox="1"/>
            <p:nvPr/>
          </p:nvSpPr>
          <p:spPr>
            <a:xfrm>
              <a:off x="4831738" y="2564186"/>
              <a:ext cx="45236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/>
                <a:t>GND</a:t>
              </a:r>
            </a:p>
          </p:txBody>
        </p:sp>
        <p:cxnSp>
          <p:nvCxnSpPr>
            <p:cNvPr id="134" name="Verbinder: gewinkelt 133">
              <a:extLst>
                <a:ext uri="{FF2B5EF4-FFF2-40B4-BE49-F238E27FC236}">
                  <a16:creationId xmlns:a16="http://schemas.microsoft.com/office/drawing/2014/main" id="{B390C781-24A8-4512-AE95-B6AD9A6D858E}"/>
                </a:ext>
              </a:extLst>
            </p:cNvPr>
            <p:cNvCxnSpPr/>
            <p:nvPr/>
          </p:nvCxnSpPr>
          <p:spPr>
            <a:xfrm flipV="1">
              <a:off x="5861304" y="1319402"/>
              <a:ext cx="1399032" cy="824648"/>
            </a:xfrm>
            <a:prstGeom prst="bentConnector3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Verbinder: gewinkelt 134">
              <a:extLst>
                <a:ext uri="{FF2B5EF4-FFF2-40B4-BE49-F238E27FC236}">
                  <a16:creationId xmlns:a16="http://schemas.microsoft.com/office/drawing/2014/main" id="{6F31DFA0-B270-466E-92B0-C5439D9E55BF}"/>
                </a:ext>
              </a:extLst>
            </p:cNvPr>
            <p:cNvCxnSpPr/>
            <p:nvPr/>
          </p:nvCxnSpPr>
          <p:spPr>
            <a:xfrm flipV="1">
              <a:off x="5867963" y="1586257"/>
              <a:ext cx="1399032" cy="824648"/>
            </a:xfrm>
            <a:prstGeom prst="bentConnector3">
              <a:avLst>
                <a:gd name="adj1" fmla="val 58497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uppieren 152">
            <a:extLst>
              <a:ext uri="{FF2B5EF4-FFF2-40B4-BE49-F238E27FC236}">
                <a16:creationId xmlns:a16="http://schemas.microsoft.com/office/drawing/2014/main" id="{35A6FD23-0CC6-4A7A-87C1-C4E4BD6A7A98}"/>
              </a:ext>
            </a:extLst>
          </p:cNvPr>
          <p:cNvGrpSpPr/>
          <p:nvPr/>
        </p:nvGrpSpPr>
        <p:grpSpPr>
          <a:xfrm>
            <a:off x="3936151" y="4263189"/>
            <a:ext cx="5628611" cy="2242292"/>
            <a:chOff x="3908719" y="3224585"/>
            <a:chExt cx="5628611" cy="2242292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926AD343-EA45-44F6-92DB-73296FD7E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183215" y="3224585"/>
              <a:ext cx="2751411" cy="2242292"/>
            </a:xfrm>
            <a:prstGeom prst="rect">
              <a:avLst/>
            </a:prstGeom>
          </p:spPr>
        </p:pic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FB0BE2D-9BDD-4707-BB3D-E1DA4F04E13F}"/>
                </a:ext>
              </a:extLst>
            </p:cNvPr>
            <p:cNvSpPr txBox="1"/>
            <p:nvPr/>
          </p:nvSpPr>
          <p:spPr>
            <a:xfrm rot="5400000">
              <a:off x="8837106" y="4602700"/>
              <a:ext cx="1031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Gadget 4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B48C2221-4B43-4B58-A8ED-2F2A09FB2E8B}"/>
                </a:ext>
              </a:extLst>
            </p:cNvPr>
            <p:cNvSpPr txBox="1"/>
            <p:nvPr/>
          </p:nvSpPr>
          <p:spPr>
            <a:xfrm rot="5400000">
              <a:off x="3577827" y="3873806"/>
              <a:ext cx="1031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Gadget 3</a:t>
              </a:r>
            </a:p>
          </p:txBody>
        </p: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6A88EBCF-9D67-4443-BEBF-89579CAA7865}"/>
                </a:ext>
              </a:extLst>
            </p:cNvPr>
            <p:cNvGrpSpPr/>
            <p:nvPr/>
          </p:nvGrpSpPr>
          <p:grpSpPr>
            <a:xfrm rot="16200000">
              <a:off x="8438284" y="4486936"/>
              <a:ext cx="914400" cy="507219"/>
              <a:chOff x="7636933" y="864440"/>
              <a:chExt cx="914400" cy="507219"/>
            </a:xfrm>
          </p:grpSpPr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158529BD-E114-4C18-AA80-10DDFEEEFDE7}"/>
                  </a:ext>
                </a:extLst>
              </p:cNvPr>
              <p:cNvSpPr/>
              <p:nvPr/>
            </p:nvSpPr>
            <p:spPr>
              <a:xfrm>
                <a:off x="7636933" y="939830"/>
                <a:ext cx="914400" cy="43182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100"/>
                  <a:t>SDA      SCL</a:t>
                </a:r>
              </a:p>
            </p:txBody>
          </p:sp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CC9F12CC-0A1A-4B97-97E6-0B105757A6BD}"/>
                  </a:ext>
                </a:extLst>
              </p:cNvPr>
              <p:cNvSpPr/>
              <p:nvPr/>
            </p:nvSpPr>
            <p:spPr>
              <a:xfrm>
                <a:off x="7814733" y="889030"/>
                <a:ext cx="152400" cy="17777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67655B8B-29FD-4276-B4CA-DF136E0D8754}"/>
                  </a:ext>
                </a:extLst>
              </p:cNvPr>
              <p:cNvSpPr/>
              <p:nvPr/>
            </p:nvSpPr>
            <p:spPr>
              <a:xfrm>
                <a:off x="8183033" y="864440"/>
                <a:ext cx="152400" cy="17777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DEE9EF5C-4FD4-434F-A97E-13837F29F1A7}"/>
                </a:ext>
              </a:extLst>
            </p:cNvPr>
            <p:cNvGrpSpPr/>
            <p:nvPr/>
          </p:nvGrpSpPr>
          <p:grpSpPr>
            <a:xfrm rot="5400000">
              <a:off x="4099860" y="3788436"/>
              <a:ext cx="914400" cy="507219"/>
              <a:chOff x="7636933" y="864440"/>
              <a:chExt cx="914400" cy="507219"/>
            </a:xfrm>
          </p:grpSpPr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EED6E23F-89D4-4B12-85C9-91854EC53877}"/>
                  </a:ext>
                </a:extLst>
              </p:cNvPr>
              <p:cNvSpPr/>
              <p:nvPr/>
            </p:nvSpPr>
            <p:spPr>
              <a:xfrm>
                <a:off x="7636933" y="939830"/>
                <a:ext cx="914400" cy="43182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100"/>
                  <a:t>SDA      SCL</a:t>
                </a:r>
              </a:p>
            </p:txBody>
          </p:sp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7CEB4C06-F63D-491E-A923-FD1D64F72FE6}"/>
                  </a:ext>
                </a:extLst>
              </p:cNvPr>
              <p:cNvSpPr/>
              <p:nvPr/>
            </p:nvSpPr>
            <p:spPr>
              <a:xfrm>
                <a:off x="7814733" y="889030"/>
                <a:ext cx="152400" cy="17777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6B71F117-47C7-48F3-AA5D-94FB96FAD9F8}"/>
                  </a:ext>
                </a:extLst>
              </p:cNvPr>
              <p:cNvSpPr/>
              <p:nvPr/>
            </p:nvSpPr>
            <p:spPr>
              <a:xfrm>
                <a:off x="8183033" y="864440"/>
                <a:ext cx="152400" cy="17777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F2A50D88-AB6B-4389-BB93-DE03E755FE7E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 rot="5400000">
              <a:off x="4994405" y="3630521"/>
              <a:ext cx="0" cy="41665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621F6F4F-B2EA-4749-B8EA-8C469F8FF438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 flipH="1">
              <a:off x="4810670" y="4058472"/>
              <a:ext cx="429617" cy="14867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7E8CAD06-B68E-4E93-9CEE-C6066C00A2D1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>
              <a:off x="7985425" y="4943746"/>
              <a:ext cx="85881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74FCDEF4-EDB1-495E-8083-69490BA18694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 flipH="1">
              <a:off x="7985425" y="4575446"/>
              <a:ext cx="834220" cy="2925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C6F611A1-662E-4F7A-A632-43D5F5D57836}"/>
                </a:ext>
              </a:extLst>
            </p:cNvPr>
            <p:cNvSpPr/>
            <p:nvPr/>
          </p:nvSpPr>
          <p:spPr>
            <a:xfrm rot="5400000">
              <a:off x="4263680" y="4741552"/>
              <a:ext cx="511369" cy="43183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/>
                <a:t>GC3</a:t>
              </a:r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31CCB4DB-011B-4D33-B55A-65EA10628B56}"/>
                </a:ext>
              </a:extLst>
            </p:cNvPr>
            <p:cNvSpPr/>
            <p:nvPr/>
          </p:nvSpPr>
          <p:spPr>
            <a:xfrm rot="5400000">
              <a:off x="8602104" y="3668071"/>
              <a:ext cx="511369" cy="43183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/>
                <a:t>GC4</a:t>
              </a:r>
            </a:p>
          </p:txBody>
        </p:sp>
        <p:cxnSp>
          <p:nvCxnSpPr>
            <p:cNvPr id="77" name="Gerader Verbinder 76">
              <a:extLst>
                <a:ext uri="{FF2B5EF4-FFF2-40B4-BE49-F238E27FC236}">
                  <a16:creationId xmlns:a16="http://schemas.microsoft.com/office/drawing/2014/main" id="{1534CD69-ACEC-4FDD-83E6-953D405447EF}"/>
                </a:ext>
              </a:extLst>
            </p:cNvPr>
            <p:cNvCxnSpPr>
              <a:cxnSpLocks/>
              <a:stCxn id="68" idx="0"/>
            </p:cNvCxnSpPr>
            <p:nvPr/>
          </p:nvCxnSpPr>
          <p:spPr>
            <a:xfrm rot="5400000" flipH="1" flipV="1">
              <a:off x="4793964" y="4568217"/>
              <a:ext cx="330567" cy="44793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6DA59D47-B693-4E9E-8F16-AD5D50EBE073}"/>
                </a:ext>
              </a:extLst>
            </p:cNvPr>
            <p:cNvCxnSpPr>
              <a:cxnSpLocks/>
              <a:stCxn id="69" idx="2"/>
            </p:cNvCxnSpPr>
            <p:nvPr/>
          </p:nvCxnSpPr>
          <p:spPr>
            <a:xfrm rot="5400000">
              <a:off x="8191250" y="3607848"/>
              <a:ext cx="174485" cy="7267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feld 115">
              <a:extLst>
                <a:ext uri="{FF2B5EF4-FFF2-40B4-BE49-F238E27FC236}">
                  <a16:creationId xmlns:a16="http://schemas.microsoft.com/office/drawing/2014/main" id="{B1768836-F259-496C-A8F2-603148C6D681}"/>
                </a:ext>
              </a:extLst>
            </p:cNvPr>
            <p:cNvSpPr txBox="1"/>
            <p:nvPr/>
          </p:nvSpPr>
          <p:spPr>
            <a:xfrm>
              <a:off x="7930673" y="3326283"/>
              <a:ext cx="3369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/>
                <a:t>V5</a:t>
              </a:r>
            </a:p>
          </p:txBody>
        </p:sp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E174B067-A683-4521-818E-738A903D3DE1}"/>
                </a:ext>
              </a:extLst>
            </p:cNvPr>
            <p:cNvSpPr txBox="1"/>
            <p:nvPr/>
          </p:nvSpPr>
          <p:spPr>
            <a:xfrm>
              <a:off x="4736663" y="5178737"/>
              <a:ext cx="45236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/>
                <a:t>GND</a:t>
              </a:r>
            </a:p>
          </p:txBody>
        </p:sp>
        <p:cxnSp>
          <p:nvCxnSpPr>
            <p:cNvPr id="137" name="Verbinder: gewinkelt 136">
              <a:extLst>
                <a:ext uri="{FF2B5EF4-FFF2-40B4-BE49-F238E27FC236}">
                  <a16:creationId xmlns:a16="http://schemas.microsoft.com/office/drawing/2014/main" id="{116A1C37-62D7-4689-BE62-BB240F12E28E}"/>
                </a:ext>
              </a:extLst>
            </p:cNvPr>
            <p:cNvCxnSpPr/>
            <p:nvPr/>
          </p:nvCxnSpPr>
          <p:spPr>
            <a:xfrm flipV="1">
              <a:off x="5848216" y="3809141"/>
              <a:ext cx="1399032" cy="824648"/>
            </a:xfrm>
            <a:prstGeom prst="bentConnector3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Verbinder: gewinkelt 137">
              <a:extLst>
                <a:ext uri="{FF2B5EF4-FFF2-40B4-BE49-F238E27FC236}">
                  <a16:creationId xmlns:a16="http://schemas.microsoft.com/office/drawing/2014/main" id="{FCB642C4-6E02-4823-B3BF-480A42ED61A6}"/>
                </a:ext>
              </a:extLst>
            </p:cNvPr>
            <p:cNvCxnSpPr/>
            <p:nvPr/>
          </p:nvCxnSpPr>
          <p:spPr>
            <a:xfrm flipV="1">
              <a:off x="5854875" y="4075996"/>
              <a:ext cx="1399032" cy="824648"/>
            </a:xfrm>
            <a:prstGeom prst="bentConnector3">
              <a:avLst>
                <a:gd name="adj1" fmla="val 58497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Rechteck 138">
            <a:extLst>
              <a:ext uri="{FF2B5EF4-FFF2-40B4-BE49-F238E27FC236}">
                <a16:creationId xmlns:a16="http://schemas.microsoft.com/office/drawing/2014/main" id="{66447F2D-6B7C-4A52-B9E3-FA73C6403CFA}"/>
              </a:ext>
            </a:extLst>
          </p:cNvPr>
          <p:cNvSpPr/>
          <p:nvPr/>
        </p:nvSpPr>
        <p:spPr>
          <a:xfrm>
            <a:off x="6105144" y="3383910"/>
            <a:ext cx="470657" cy="4318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</a:rPr>
              <a:t>SDA</a:t>
            </a:r>
          </a:p>
        </p:txBody>
      </p:sp>
      <p:sp>
        <p:nvSpPr>
          <p:cNvPr id="140" name="Rechteck 139">
            <a:extLst>
              <a:ext uri="{FF2B5EF4-FFF2-40B4-BE49-F238E27FC236}">
                <a16:creationId xmlns:a16="http://schemas.microsoft.com/office/drawing/2014/main" id="{CEC28764-448E-48BC-AF4D-AD187EEAEE48}"/>
              </a:ext>
            </a:extLst>
          </p:cNvPr>
          <p:cNvSpPr/>
          <p:nvPr/>
        </p:nvSpPr>
        <p:spPr>
          <a:xfrm>
            <a:off x="6717663" y="3389142"/>
            <a:ext cx="470657" cy="4318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</a:rPr>
              <a:t>SCL</a:t>
            </a:r>
          </a:p>
        </p:txBody>
      </p:sp>
      <p:cxnSp>
        <p:nvCxnSpPr>
          <p:cNvPr id="173" name="Verbinder: gewinkelt 172">
            <a:extLst>
              <a:ext uri="{FF2B5EF4-FFF2-40B4-BE49-F238E27FC236}">
                <a16:creationId xmlns:a16="http://schemas.microsoft.com/office/drawing/2014/main" id="{D5EA58DB-6F61-4E23-B3FC-9A62E2E71DA2}"/>
              </a:ext>
            </a:extLst>
          </p:cNvPr>
          <p:cNvCxnSpPr>
            <a:cxnSpLocks/>
          </p:cNvCxnSpPr>
          <p:nvPr/>
        </p:nvCxnSpPr>
        <p:spPr>
          <a:xfrm>
            <a:off x="5906953" y="1200367"/>
            <a:ext cx="1728287" cy="1687235"/>
          </a:xfrm>
          <a:prstGeom prst="bentConnector3">
            <a:avLst>
              <a:gd name="adj1" fmla="val 25133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Verbinder: gewinkelt 177">
            <a:extLst>
              <a:ext uri="{FF2B5EF4-FFF2-40B4-BE49-F238E27FC236}">
                <a16:creationId xmlns:a16="http://schemas.microsoft.com/office/drawing/2014/main" id="{EA0E071B-3B8A-4EEE-83C6-424FE0E3B26D}"/>
              </a:ext>
            </a:extLst>
          </p:cNvPr>
          <p:cNvCxnSpPr>
            <a:cxnSpLocks/>
          </p:cNvCxnSpPr>
          <p:nvPr/>
        </p:nvCxnSpPr>
        <p:spPr>
          <a:xfrm>
            <a:off x="5882307" y="2048256"/>
            <a:ext cx="1399032" cy="12700"/>
          </a:xfrm>
          <a:prstGeom prst="straightConnector1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Verbinder: gewinkelt 180">
            <a:extLst>
              <a:ext uri="{FF2B5EF4-FFF2-40B4-BE49-F238E27FC236}">
                <a16:creationId xmlns:a16="http://schemas.microsoft.com/office/drawing/2014/main" id="{AD802A0B-4AF5-4247-8A3B-EA7E0C2851CF}"/>
              </a:ext>
            </a:extLst>
          </p:cNvPr>
          <p:cNvCxnSpPr>
            <a:cxnSpLocks/>
          </p:cNvCxnSpPr>
          <p:nvPr/>
        </p:nvCxnSpPr>
        <p:spPr>
          <a:xfrm>
            <a:off x="5885006" y="4532339"/>
            <a:ext cx="1728287" cy="1687235"/>
          </a:xfrm>
          <a:prstGeom prst="bentConnector3">
            <a:avLst>
              <a:gd name="adj1" fmla="val 25662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Verbinder: gewinkelt 177">
            <a:extLst>
              <a:ext uri="{FF2B5EF4-FFF2-40B4-BE49-F238E27FC236}">
                <a16:creationId xmlns:a16="http://schemas.microsoft.com/office/drawing/2014/main" id="{2D10912E-C53F-42C5-B73F-7AB3A93E5FD4}"/>
              </a:ext>
            </a:extLst>
          </p:cNvPr>
          <p:cNvCxnSpPr>
            <a:cxnSpLocks/>
          </p:cNvCxnSpPr>
          <p:nvPr/>
        </p:nvCxnSpPr>
        <p:spPr>
          <a:xfrm>
            <a:off x="5860360" y="5380228"/>
            <a:ext cx="1399032" cy="12700"/>
          </a:xfrm>
          <a:prstGeom prst="straightConnector1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Verbinder: gewinkelt 192">
            <a:extLst>
              <a:ext uri="{FF2B5EF4-FFF2-40B4-BE49-F238E27FC236}">
                <a16:creationId xmlns:a16="http://schemas.microsoft.com/office/drawing/2014/main" id="{EED7D595-07B0-4650-9E38-40684F150019}"/>
              </a:ext>
            </a:extLst>
          </p:cNvPr>
          <p:cNvCxnSpPr>
            <a:cxnSpLocks/>
            <a:stCxn id="139" idx="0"/>
          </p:cNvCxnSpPr>
          <p:nvPr/>
        </p:nvCxnSpPr>
        <p:spPr>
          <a:xfrm flipV="1">
            <a:off x="6340473" y="2869143"/>
            <a:ext cx="0" cy="514767"/>
          </a:xfrm>
          <a:prstGeom prst="straightConnector1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Verbinder: gewinkelt 177">
            <a:extLst>
              <a:ext uri="{FF2B5EF4-FFF2-40B4-BE49-F238E27FC236}">
                <a16:creationId xmlns:a16="http://schemas.microsoft.com/office/drawing/2014/main" id="{FAF4EE52-5CFC-469E-A665-935F42D8484B}"/>
              </a:ext>
            </a:extLst>
          </p:cNvPr>
          <p:cNvCxnSpPr>
            <a:cxnSpLocks/>
            <a:endCxn id="140" idx="0"/>
          </p:cNvCxnSpPr>
          <p:nvPr/>
        </p:nvCxnSpPr>
        <p:spPr>
          <a:xfrm flipH="1">
            <a:off x="6952992" y="2061712"/>
            <a:ext cx="36271" cy="1327430"/>
          </a:xfrm>
          <a:prstGeom prst="straightConnector1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Verbinder: gewinkelt 177">
            <a:extLst>
              <a:ext uri="{FF2B5EF4-FFF2-40B4-BE49-F238E27FC236}">
                <a16:creationId xmlns:a16="http://schemas.microsoft.com/office/drawing/2014/main" id="{CF0F624E-ABC0-44A2-86C8-0C45256C3689}"/>
              </a:ext>
            </a:extLst>
          </p:cNvPr>
          <p:cNvCxnSpPr>
            <a:cxnSpLocks/>
            <a:endCxn id="140" idx="2"/>
          </p:cNvCxnSpPr>
          <p:nvPr/>
        </p:nvCxnSpPr>
        <p:spPr>
          <a:xfrm flipV="1">
            <a:off x="6952240" y="3820971"/>
            <a:ext cx="752" cy="1555741"/>
          </a:xfrm>
          <a:prstGeom prst="straightConnector1">
            <a:avLst/>
          </a:prstGeom>
          <a:ln w="317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Verbinder: gewinkelt 192">
            <a:extLst>
              <a:ext uri="{FF2B5EF4-FFF2-40B4-BE49-F238E27FC236}">
                <a16:creationId xmlns:a16="http://schemas.microsoft.com/office/drawing/2014/main" id="{4A3D0C4F-5F9B-4B72-9CBE-C70934DF7263}"/>
              </a:ext>
            </a:extLst>
          </p:cNvPr>
          <p:cNvCxnSpPr>
            <a:cxnSpLocks/>
            <a:stCxn id="139" idx="2"/>
          </p:cNvCxnSpPr>
          <p:nvPr/>
        </p:nvCxnSpPr>
        <p:spPr>
          <a:xfrm flipH="1">
            <a:off x="6335573" y="3815739"/>
            <a:ext cx="4900" cy="732628"/>
          </a:xfrm>
          <a:prstGeom prst="straightConnector1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272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A2FB788-04CB-4FCB-8DD6-D7FA734CF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Power Supply Board</a:t>
            </a:r>
          </a:p>
        </p:txBody>
      </p:sp>
    </p:spTree>
    <p:extLst>
      <p:ext uri="{BB962C8B-B14F-4D97-AF65-F5344CB8AC3E}">
        <p14:creationId xmlns:p14="http://schemas.microsoft.com/office/powerpoint/2010/main" val="3779349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hteck 206">
            <a:extLst>
              <a:ext uri="{FF2B5EF4-FFF2-40B4-BE49-F238E27FC236}">
                <a16:creationId xmlns:a16="http://schemas.microsoft.com/office/drawing/2014/main" id="{5A86CB1C-6A1D-4B16-8523-DFF366D356DE}"/>
              </a:ext>
            </a:extLst>
          </p:cNvPr>
          <p:cNvSpPr/>
          <p:nvPr/>
        </p:nvSpPr>
        <p:spPr>
          <a:xfrm>
            <a:off x="2633908" y="2269821"/>
            <a:ext cx="6333964" cy="18183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 sz="140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700B96D-6796-4707-AC8A-625251ABD0E3}"/>
              </a:ext>
            </a:extLst>
          </p:cNvPr>
          <p:cNvSpPr/>
          <p:nvPr/>
        </p:nvSpPr>
        <p:spPr>
          <a:xfrm>
            <a:off x="3695700" y="2756722"/>
            <a:ext cx="1238250" cy="6074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TP4056</a:t>
            </a:r>
            <a:br>
              <a:rPr lang="de-DE" sz="1050" b="1">
                <a:solidFill>
                  <a:schemeClr val="tx1"/>
                </a:solidFill>
              </a:rPr>
            </a:br>
            <a:r>
              <a:rPr lang="de-DE" sz="1050" b="1">
                <a:solidFill>
                  <a:schemeClr val="tx1"/>
                </a:solidFill>
              </a:rPr>
              <a:t>Charging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6D6CD16-1D3A-4E00-BC98-61C8A2B03627}"/>
              </a:ext>
            </a:extLst>
          </p:cNvPr>
          <p:cNvSpPr txBox="1"/>
          <p:nvPr/>
        </p:nvSpPr>
        <p:spPr>
          <a:xfrm>
            <a:off x="4949980" y="2809913"/>
            <a:ext cx="5068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50"/>
              <a:t>OUT+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3CB30E9-0069-4ABA-ACFE-5A8B9B29379A}"/>
              </a:ext>
            </a:extLst>
          </p:cNvPr>
          <p:cNvSpPr txBox="1"/>
          <p:nvPr/>
        </p:nvSpPr>
        <p:spPr>
          <a:xfrm>
            <a:off x="4963606" y="3086310"/>
            <a:ext cx="479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50"/>
              <a:t>OUT-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D93A1A9-C472-441E-A14A-46BAF65605ED}"/>
              </a:ext>
            </a:extLst>
          </p:cNvPr>
          <p:cNvSpPr txBox="1"/>
          <p:nvPr/>
        </p:nvSpPr>
        <p:spPr>
          <a:xfrm>
            <a:off x="4126498" y="3344641"/>
            <a:ext cx="14106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B+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F6176B5B-1F40-41FA-8300-3DD350D88359}"/>
              </a:ext>
            </a:extLst>
          </p:cNvPr>
          <p:cNvSpPr txBox="1"/>
          <p:nvPr/>
        </p:nvSpPr>
        <p:spPr>
          <a:xfrm>
            <a:off x="4315224" y="3344641"/>
            <a:ext cx="115416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B-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B8E86E4-5C5C-4038-8BB1-A691F34AAEA3}"/>
              </a:ext>
            </a:extLst>
          </p:cNvPr>
          <p:cNvSpPr/>
          <p:nvPr/>
        </p:nvSpPr>
        <p:spPr>
          <a:xfrm>
            <a:off x="1132677" y="4168757"/>
            <a:ext cx="1353347" cy="6074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>
                <a:solidFill>
                  <a:schemeClr val="tx1"/>
                </a:solidFill>
              </a:rPr>
              <a:t>Battery Pack</a:t>
            </a:r>
            <a:br>
              <a:rPr lang="de-DE" sz="1050">
                <a:solidFill>
                  <a:schemeClr val="tx1"/>
                </a:solidFill>
              </a:rPr>
            </a:br>
            <a:r>
              <a:rPr lang="de-DE" sz="1050">
                <a:solidFill>
                  <a:schemeClr val="tx1"/>
                </a:solidFill>
              </a:rPr>
              <a:t>3,7 V – 5200 mAh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277E3205-AB71-4BBF-A0CD-0D434071755D}"/>
              </a:ext>
            </a:extLst>
          </p:cNvPr>
          <p:cNvSpPr txBox="1"/>
          <p:nvPr/>
        </p:nvSpPr>
        <p:spPr>
          <a:xfrm>
            <a:off x="2454937" y="4164092"/>
            <a:ext cx="5950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50"/>
              <a:t>Red (+)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95DB3F22-5FEE-4C65-9A9D-F352E43AB019}"/>
              </a:ext>
            </a:extLst>
          </p:cNvPr>
          <p:cNvSpPr txBox="1"/>
          <p:nvPr/>
        </p:nvSpPr>
        <p:spPr>
          <a:xfrm>
            <a:off x="2428369" y="4508602"/>
            <a:ext cx="6463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50"/>
              <a:t>Black (-)</a:t>
            </a:r>
          </a:p>
        </p:txBody>
      </p:sp>
      <p:cxnSp>
        <p:nvCxnSpPr>
          <p:cNvPr id="39" name="Verbinder: gewinkelt 294">
            <a:extLst>
              <a:ext uri="{FF2B5EF4-FFF2-40B4-BE49-F238E27FC236}">
                <a16:creationId xmlns:a16="http://schemas.microsoft.com/office/drawing/2014/main" id="{0E4F8F5A-6751-4712-8245-15111CBCD360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4197030" y="3506224"/>
            <a:ext cx="0" cy="423966"/>
          </a:xfrm>
          <a:prstGeom prst="straightConnector1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Verbinder: gewinkelt 294">
            <a:extLst>
              <a:ext uri="{FF2B5EF4-FFF2-40B4-BE49-F238E27FC236}">
                <a16:creationId xmlns:a16="http://schemas.microsoft.com/office/drawing/2014/main" id="{CA4D2FDF-F2C4-409F-B684-D374C231B93C}"/>
              </a:ext>
            </a:extLst>
          </p:cNvPr>
          <p:cNvCxnSpPr>
            <a:cxnSpLocks/>
            <a:endCxn id="29" idx="2"/>
          </p:cNvCxnSpPr>
          <p:nvPr/>
        </p:nvCxnSpPr>
        <p:spPr>
          <a:xfrm flipH="1" flipV="1">
            <a:off x="4372932" y="3506224"/>
            <a:ext cx="1" cy="434738"/>
          </a:xfrm>
          <a:prstGeom prst="straightConnector1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159FC8F6-7798-4830-8A73-F26E5546B4F8}"/>
              </a:ext>
            </a:extLst>
          </p:cNvPr>
          <p:cNvSpPr/>
          <p:nvPr/>
        </p:nvSpPr>
        <p:spPr>
          <a:xfrm>
            <a:off x="9021677" y="2960614"/>
            <a:ext cx="1232308" cy="414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Power Switch</a:t>
            </a:r>
            <a:br>
              <a:rPr lang="de-DE" sz="1050"/>
            </a:br>
            <a:r>
              <a:rPr lang="de-DE" sz="1050"/>
              <a:t>on / off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43FCFF8C-D0A8-4703-B5F0-B1098396B973}"/>
              </a:ext>
            </a:extLst>
          </p:cNvPr>
          <p:cNvSpPr/>
          <p:nvPr/>
        </p:nvSpPr>
        <p:spPr>
          <a:xfrm>
            <a:off x="7497036" y="2775662"/>
            <a:ext cx="914400" cy="6074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MT3608</a:t>
            </a:r>
            <a:br>
              <a:rPr lang="de-DE" sz="1050" b="1">
                <a:solidFill>
                  <a:schemeClr val="tx1"/>
                </a:solidFill>
              </a:rPr>
            </a:br>
            <a:r>
              <a:rPr lang="de-DE" sz="1050" b="1">
                <a:solidFill>
                  <a:schemeClr val="tx1"/>
                </a:solidFill>
              </a:rPr>
              <a:t>Step Up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4AF5C448-EED2-459F-A180-411DCE9285CE}"/>
              </a:ext>
            </a:extLst>
          </p:cNvPr>
          <p:cNvSpPr txBox="1"/>
          <p:nvPr/>
        </p:nvSpPr>
        <p:spPr>
          <a:xfrm>
            <a:off x="7122396" y="3086310"/>
            <a:ext cx="4347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50"/>
              <a:t>VIN-</a:t>
            </a:r>
          </a:p>
        </p:txBody>
      </p:sp>
      <p:cxnSp>
        <p:nvCxnSpPr>
          <p:cNvPr id="68" name="Verbinder: gewinkelt 294">
            <a:extLst>
              <a:ext uri="{FF2B5EF4-FFF2-40B4-BE49-F238E27FC236}">
                <a16:creationId xmlns:a16="http://schemas.microsoft.com/office/drawing/2014/main" id="{BE086428-B6B3-4BC2-AA20-76874C5DDD54}"/>
              </a:ext>
            </a:extLst>
          </p:cNvPr>
          <p:cNvCxnSpPr>
            <a:cxnSpLocks/>
            <a:stCxn id="63" idx="1"/>
            <a:endCxn id="21" idx="3"/>
          </p:cNvCxnSpPr>
          <p:nvPr/>
        </p:nvCxnSpPr>
        <p:spPr>
          <a:xfrm flipH="1">
            <a:off x="5443224" y="3217115"/>
            <a:ext cx="1679172" cy="0"/>
          </a:xfrm>
          <a:prstGeom prst="straightConnector1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90BC1359-DA39-455A-830C-2052465231DB}"/>
              </a:ext>
            </a:extLst>
          </p:cNvPr>
          <p:cNvSpPr txBox="1"/>
          <p:nvPr/>
        </p:nvSpPr>
        <p:spPr>
          <a:xfrm>
            <a:off x="8371697" y="3048361"/>
            <a:ext cx="4619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50"/>
              <a:t>VIN+</a:t>
            </a:r>
          </a:p>
        </p:txBody>
      </p: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FA0E1C41-AF53-4D7C-8008-674295B65F9B}"/>
              </a:ext>
            </a:extLst>
          </p:cNvPr>
          <p:cNvCxnSpPr>
            <a:cxnSpLocks/>
            <a:endCxn id="87" idx="2"/>
          </p:cNvCxnSpPr>
          <p:nvPr/>
        </p:nvCxnSpPr>
        <p:spPr>
          <a:xfrm flipH="1" flipV="1">
            <a:off x="7879253" y="3544702"/>
            <a:ext cx="1" cy="379204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feld 86">
            <a:extLst>
              <a:ext uri="{FF2B5EF4-FFF2-40B4-BE49-F238E27FC236}">
                <a16:creationId xmlns:a16="http://schemas.microsoft.com/office/drawing/2014/main" id="{1843CE4C-5E99-4059-9F62-0F38BE90A0E4}"/>
              </a:ext>
            </a:extLst>
          </p:cNvPr>
          <p:cNvSpPr txBox="1"/>
          <p:nvPr/>
        </p:nvSpPr>
        <p:spPr>
          <a:xfrm>
            <a:off x="7724563" y="3383119"/>
            <a:ext cx="309380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OUT+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DFB7C54A-F719-43D1-8B01-40516E8C3584}"/>
              </a:ext>
            </a:extLst>
          </p:cNvPr>
          <p:cNvSpPr txBox="1"/>
          <p:nvPr/>
        </p:nvSpPr>
        <p:spPr>
          <a:xfrm>
            <a:off x="8025441" y="3376491"/>
            <a:ext cx="283732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OUT-</a:t>
            </a:r>
          </a:p>
        </p:txBody>
      </p:sp>
      <p:cxnSp>
        <p:nvCxnSpPr>
          <p:cNvPr id="98" name="Verbinder: gewinkelt 294">
            <a:extLst>
              <a:ext uri="{FF2B5EF4-FFF2-40B4-BE49-F238E27FC236}">
                <a16:creationId xmlns:a16="http://schemas.microsoft.com/office/drawing/2014/main" id="{767E1E8E-E626-4461-BF2E-3F92CE3154A9}"/>
              </a:ext>
            </a:extLst>
          </p:cNvPr>
          <p:cNvCxnSpPr>
            <a:cxnSpLocks/>
            <a:stCxn id="163" idx="1"/>
            <a:endCxn id="208" idx="2"/>
          </p:cNvCxnSpPr>
          <p:nvPr/>
        </p:nvCxnSpPr>
        <p:spPr>
          <a:xfrm rot="10800000">
            <a:off x="7997147" y="4200905"/>
            <a:ext cx="1246269" cy="146721"/>
          </a:xfrm>
          <a:prstGeom prst="bentConnector2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hteck 190">
            <a:extLst>
              <a:ext uri="{FF2B5EF4-FFF2-40B4-BE49-F238E27FC236}">
                <a16:creationId xmlns:a16="http://schemas.microsoft.com/office/drawing/2014/main" id="{E00775A1-31F3-4DD5-B560-7E05E5F4C36B}"/>
              </a:ext>
            </a:extLst>
          </p:cNvPr>
          <p:cNvSpPr/>
          <p:nvPr/>
        </p:nvSpPr>
        <p:spPr>
          <a:xfrm rot="16200000">
            <a:off x="797800" y="2793259"/>
            <a:ext cx="1266390" cy="5966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Charging</a:t>
            </a:r>
            <a:br>
              <a:rPr lang="de-DE" sz="1050"/>
            </a:br>
            <a:r>
              <a:rPr lang="de-DE" sz="1050"/>
              <a:t>Panel Port (USB)</a:t>
            </a:r>
          </a:p>
        </p:txBody>
      </p:sp>
      <p:cxnSp>
        <p:nvCxnSpPr>
          <p:cNvPr id="199" name="Gerader Verbinder 198">
            <a:extLst>
              <a:ext uri="{FF2B5EF4-FFF2-40B4-BE49-F238E27FC236}">
                <a16:creationId xmlns:a16="http://schemas.microsoft.com/office/drawing/2014/main" id="{15D8B97B-3FC8-44C1-A3A1-653970187007}"/>
              </a:ext>
            </a:extLst>
          </p:cNvPr>
          <p:cNvCxnSpPr>
            <a:cxnSpLocks/>
            <a:stCxn id="191" idx="2"/>
            <a:endCxn id="248" idx="1"/>
          </p:cNvCxnSpPr>
          <p:nvPr/>
        </p:nvCxnSpPr>
        <p:spPr>
          <a:xfrm flipV="1">
            <a:off x="1729311" y="3079390"/>
            <a:ext cx="1832305" cy="12185"/>
          </a:xfrm>
          <a:prstGeom prst="line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Rechteck 235">
            <a:extLst>
              <a:ext uri="{FF2B5EF4-FFF2-40B4-BE49-F238E27FC236}">
                <a16:creationId xmlns:a16="http://schemas.microsoft.com/office/drawing/2014/main" id="{6BA9EB47-7F69-4BA6-9A92-446B3BE21808}"/>
              </a:ext>
            </a:extLst>
          </p:cNvPr>
          <p:cNvSpPr/>
          <p:nvPr/>
        </p:nvSpPr>
        <p:spPr>
          <a:xfrm>
            <a:off x="5675925" y="3905385"/>
            <a:ext cx="443521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50"/>
          </a:p>
        </p:txBody>
      </p:sp>
      <p:cxnSp>
        <p:nvCxnSpPr>
          <p:cNvPr id="328" name="Gerader Verbinder 327">
            <a:extLst>
              <a:ext uri="{FF2B5EF4-FFF2-40B4-BE49-F238E27FC236}">
                <a16:creationId xmlns:a16="http://schemas.microsoft.com/office/drawing/2014/main" id="{5EC2CB09-D32D-4E33-9C7D-18FEA63E2BDA}"/>
              </a:ext>
            </a:extLst>
          </p:cNvPr>
          <p:cNvCxnSpPr>
            <a:cxnSpLocks/>
            <a:stCxn id="7" idx="0"/>
            <a:endCxn id="236" idx="2"/>
          </p:cNvCxnSpPr>
          <p:nvPr/>
        </p:nvCxnSpPr>
        <p:spPr>
          <a:xfrm flipV="1">
            <a:off x="5894289" y="4182384"/>
            <a:ext cx="3397" cy="206633"/>
          </a:xfrm>
          <a:prstGeom prst="line">
            <a:avLst/>
          </a:prstGeom>
          <a:ln w="38100" cmpd="dbl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Ellipse 333">
            <a:extLst>
              <a:ext uri="{FF2B5EF4-FFF2-40B4-BE49-F238E27FC236}">
                <a16:creationId xmlns:a16="http://schemas.microsoft.com/office/drawing/2014/main" id="{AED45E8C-D363-415D-9205-D95C84FB4602}"/>
              </a:ext>
            </a:extLst>
          </p:cNvPr>
          <p:cNvSpPr/>
          <p:nvPr/>
        </p:nvSpPr>
        <p:spPr>
          <a:xfrm>
            <a:off x="6360062" y="3436762"/>
            <a:ext cx="393294" cy="25106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>
                <a:solidFill>
                  <a:schemeClr val="tx1"/>
                </a:solidFill>
              </a:rPr>
              <a:t>220</a:t>
            </a:r>
          </a:p>
        </p:txBody>
      </p:sp>
      <p:cxnSp>
        <p:nvCxnSpPr>
          <p:cNvPr id="336" name="Gerader Verbinder 335">
            <a:extLst>
              <a:ext uri="{FF2B5EF4-FFF2-40B4-BE49-F238E27FC236}">
                <a16:creationId xmlns:a16="http://schemas.microsoft.com/office/drawing/2014/main" id="{0BD3A275-720B-4D08-8FB9-5B74FB039919}"/>
              </a:ext>
            </a:extLst>
          </p:cNvPr>
          <p:cNvCxnSpPr>
            <a:cxnSpLocks/>
            <a:stCxn id="236" idx="0"/>
            <a:endCxn id="334" idx="2"/>
          </p:cNvCxnSpPr>
          <p:nvPr/>
        </p:nvCxnSpPr>
        <p:spPr>
          <a:xfrm rot="5400000" flipH="1" flipV="1">
            <a:off x="5957329" y="3502652"/>
            <a:ext cx="343091" cy="462376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BCB77DB9-E4B4-4D51-8BC0-D8DE525F7200}"/>
              </a:ext>
            </a:extLst>
          </p:cNvPr>
          <p:cNvSpPr/>
          <p:nvPr/>
        </p:nvSpPr>
        <p:spPr>
          <a:xfrm>
            <a:off x="5437089" y="4389017"/>
            <a:ext cx="914400" cy="2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/>
              <a:t>Power LED</a:t>
            </a:r>
          </a:p>
        </p:txBody>
      </p:sp>
      <p:sp>
        <p:nvSpPr>
          <p:cNvPr id="208" name="Rechteck 207">
            <a:extLst>
              <a:ext uri="{FF2B5EF4-FFF2-40B4-BE49-F238E27FC236}">
                <a16:creationId xmlns:a16="http://schemas.microsoft.com/office/drawing/2014/main" id="{6A1C0678-4244-48A2-A436-0289FAC6548E}"/>
              </a:ext>
            </a:extLst>
          </p:cNvPr>
          <p:cNvSpPr/>
          <p:nvPr/>
        </p:nvSpPr>
        <p:spPr>
          <a:xfrm>
            <a:off x="7749674" y="3923905"/>
            <a:ext cx="494943" cy="276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15" name="Rechteck 214">
            <a:extLst>
              <a:ext uri="{FF2B5EF4-FFF2-40B4-BE49-F238E27FC236}">
                <a16:creationId xmlns:a16="http://schemas.microsoft.com/office/drawing/2014/main" id="{EA064811-8BBA-4419-BE89-35A052A4C918}"/>
              </a:ext>
            </a:extLst>
          </p:cNvPr>
          <p:cNvSpPr/>
          <p:nvPr/>
        </p:nvSpPr>
        <p:spPr>
          <a:xfrm>
            <a:off x="4032831" y="3933325"/>
            <a:ext cx="462462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50"/>
          </a:p>
        </p:txBody>
      </p:sp>
      <p:sp>
        <p:nvSpPr>
          <p:cNvPr id="248" name="Rechteck 247">
            <a:extLst>
              <a:ext uri="{FF2B5EF4-FFF2-40B4-BE49-F238E27FC236}">
                <a16:creationId xmlns:a16="http://schemas.microsoft.com/office/drawing/2014/main" id="{9AB04F8C-6B12-4664-8E7C-94E9E93B2C68}"/>
              </a:ext>
            </a:extLst>
          </p:cNvPr>
          <p:cNvSpPr/>
          <p:nvPr/>
        </p:nvSpPr>
        <p:spPr>
          <a:xfrm>
            <a:off x="3561616" y="2940890"/>
            <a:ext cx="271142" cy="276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cxnSp>
        <p:nvCxnSpPr>
          <p:cNvPr id="276" name="Verbinder: gewinkelt 208">
            <a:extLst>
              <a:ext uri="{FF2B5EF4-FFF2-40B4-BE49-F238E27FC236}">
                <a16:creationId xmlns:a16="http://schemas.microsoft.com/office/drawing/2014/main" id="{D1DDF369-6B48-45BE-88C4-30B26EE6D36B}"/>
              </a:ext>
            </a:extLst>
          </p:cNvPr>
          <p:cNvCxnSpPr>
            <a:cxnSpLocks/>
            <a:stCxn id="51" idx="0"/>
            <a:endCxn id="275" idx="3"/>
          </p:cNvCxnSpPr>
          <p:nvPr/>
        </p:nvCxnSpPr>
        <p:spPr>
          <a:xfrm rot="16200000" flipV="1">
            <a:off x="9187395" y="2510178"/>
            <a:ext cx="363734" cy="537138"/>
          </a:xfrm>
          <a:prstGeom prst="bentConnector2">
            <a:avLst/>
          </a:prstGeom>
          <a:ln w="38100" cmpd="dbl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Verbinder: gewinkelt 294">
            <a:extLst>
              <a:ext uri="{FF2B5EF4-FFF2-40B4-BE49-F238E27FC236}">
                <a16:creationId xmlns:a16="http://schemas.microsoft.com/office/drawing/2014/main" id="{80126379-88C1-4DC8-9465-4DFA7C7063A1}"/>
              </a:ext>
            </a:extLst>
          </p:cNvPr>
          <p:cNvCxnSpPr>
            <a:cxnSpLocks/>
            <a:endCxn id="8" idx="3"/>
          </p:cNvCxnSpPr>
          <p:nvPr/>
        </p:nvCxnSpPr>
        <p:spPr>
          <a:xfrm rot="10800000" flipV="1">
            <a:off x="5456850" y="2525788"/>
            <a:ext cx="3363303" cy="414929"/>
          </a:xfrm>
          <a:prstGeom prst="bentConnector3">
            <a:avLst>
              <a:gd name="adj1" fmla="val 50000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Verbinder: gewinkelt 294">
            <a:extLst>
              <a:ext uri="{FF2B5EF4-FFF2-40B4-BE49-F238E27FC236}">
                <a16:creationId xmlns:a16="http://schemas.microsoft.com/office/drawing/2014/main" id="{1EDB896E-94C8-4D67-819D-14519123BCD6}"/>
              </a:ext>
            </a:extLst>
          </p:cNvPr>
          <p:cNvCxnSpPr>
            <a:cxnSpLocks/>
            <a:stCxn id="275" idx="1"/>
            <a:endCxn id="73" idx="0"/>
          </p:cNvCxnSpPr>
          <p:nvPr/>
        </p:nvCxnSpPr>
        <p:spPr>
          <a:xfrm rot="10800000" flipV="1">
            <a:off x="8602691" y="2596879"/>
            <a:ext cx="226861" cy="451481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Gerader Verbinder 299">
            <a:extLst>
              <a:ext uri="{FF2B5EF4-FFF2-40B4-BE49-F238E27FC236}">
                <a16:creationId xmlns:a16="http://schemas.microsoft.com/office/drawing/2014/main" id="{6AB5D3D1-ED57-4FA3-AF3E-B04B96309989}"/>
              </a:ext>
            </a:extLst>
          </p:cNvPr>
          <p:cNvCxnSpPr>
            <a:cxnSpLocks/>
            <a:endCxn id="88" idx="2"/>
          </p:cNvCxnSpPr>
          <p:nvPr/>
        </p:nvCxnSpPr>
        <p:spPr>
          <a:xfrm flipV="1">
            <a:off x="8165749" y="3538074"/>
            <a:ext cx="1558" cy="398356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Gerader Verbinder 305">
            <a:extLst>
              <a:ext uri="{FF2B5EF4-FFF2-40B4-BE49-F238E27FC236}">
                <a16:creationId xmlns:a16="http://schemas.microsoft.com/office/drawing/2014/main" id="{96792978-CBE0-4FEE-A22F-8096BF308069}"/>
              </a:ext>
            </a:extLst>
          </p:cNvPr>
          <p:cNvCxnSpPr>
            <a:cxnSpLocks/>
            <a:endCxn id="334" idx="6"/>
          </p:cNvCxnSpPr>
          <p:nvPr/>
        </p:nvCxnSpPr>
        <p:spPr>
          <a:xfrm flipH="1">
            <a:off x="6753356" y="3544702"/>
            <a:ext cx="1116000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Verbinder: gewinkelt 208">
            <a:extLst>
              <a:ext uri="{FF2B5EF4-FFF2-40B4-BE49-F238E27FC236}">
                <a16:creationId xmlns:a16="http://schemas.microsoft.com/office/drawing/2014/main" id="{7B7FC965-FC56-4AF4-B9A9-30355A877DFB}"/>
              </a:ext>
            </a:extLst>
          </p:cNvPr>
          <p:cNvCxnSpPr>
            <a:cxnSpLocks/>
            <a:stCxn id="30" idx="3"/>
            <a:endCxn id="215" idx="2"/>
          </p:cNvCxnSpPr>
          <p:nvPr/>
        </p:nvCxnSpPr>
        <p:spPr>
          <a:xfrm flipV="1">
            <a:off x="2486024" y="4210324"/>
            <a:ext cx="1778038" cy="262162"/>
          </a:xfrm>
          <a:prstGeom prst="bentConnector2">
            <a:avLst/>
          </a:prstGeom>
          <a:ln w="38100" cmpd="dbl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Textfeld 360">
            <a:extLst>
              <a:ext uri="{FF2B5EF4-FFF2-40B4-BE49-F238E27FC236}">
                <a16:creationId xmlns:a16="http://schemas.microsoft.com/office/drawing/2014/main" id="{4C659698-1AF8-45B2-9E90-9F794F361A55}"/>
              </a:ext>
            </a:extLst>
          </p:cNvPr>
          <p:cNvSpPr txBox="1"/>
          <p:nvPr/>
        </p:nvSpPr>
        <p:spPr>
          <a:xfrm>
            <a:off x="2719831" y="2392884"/>
            <a:ext cx="1477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Power Supply Board</a:t>
            </a:r>
          </a:p>
        </p:txBody>
      </p:sp>
      <p:sp>
        <p:nvSpPr>
          <p:cNvPr id="275" name="Rechteck 274">
            <a:extLst>
              <a:ext uri="{FF2B5EF4-FFF2-40B4-BE49-F238E27FC236}">
                <a16:creationId xmlns:a16="http://schemas.microsoft.com/office/drawing/2014/main" id="{404CC8DF-4B19-4DFF-82FB-3C8638EF0588}"/>
              </a:ext>
            </a:extLst>
          </p:cNvPr>
          <p:cNvSpPr/>
          <p:nvPr/>
        </p:nvSpPr>
        <p:spPr>
          <a:xfrm>
            <a:off x="8829551" y="2458380"/>
            <a:ext cx="271142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50"/>
          </a:p>
        </p:txBody>
      </p:sp>
      <p:cxnSp>
        <p:nvCxnSpPr>
          <p:cNvPr id="387" name="Gerader Verbinder 335">
            <a:extLst>
              <a:ext uri="{FF2B5EF4-FFF2-40B4-BE49-F238E27FC236}">
                <a16:creationId xmlns:a16="http://schemas.microsoft.com/office/drawing/2014/main" id="{6B17035E-1BF3-4B40-BE1F-900A577051FF}"/>
              </a:ext>
            </a:extLst>
          </p:cNvPr>
          <p:cNvCxnSpPr>
            <a:cxnSpLocks/>
            <a:endCxn id="21" idx="3"/>
          </p:cNvCxnSpPr>
          <p:nvPr/>
        </p:nvCxnSpPr>
        <p:spPr>
          <a:xfrm rot="16200000" flipV="1">
            <a:off x="5258283" y="3402057"/>
            <a:ext cx="704281" cy="334397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hteck 162">
            <a:extLst>
              <a:ext uri="{FF2B5EF4-FFF2-40B4-BE49-F238E27FC236}">
                <a16:creationId xmlns:a16="http://schemas.microsoft.com/office/drawing/2014/main" id="{6620F3EC-E7DF-4BA2-9CB8-B9B3E05A40F0}"/>
              </a:ext>
            </a:extLst>
          </p:cNvPr>
          <p:cNvSpPr/>
          <p:nvPr/>
        </p:nvSpPr>
        <p:spPr>
          <a:xfrm>
            <a:off x="9243415" y="4049309"/>
            <a:ext cx="1224284" cy="5966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Power Output</a:t>
            </a:r>
            <a:br>
              <a:rPr lang="de-DE" sz="1050"/>
            </a:br>
            <a:r>
              <a:rPr lang="de-DE" sz="1050"/>
              <a:t>Panel Port (USB)</a:t>
            </a:r>
          </a:p>
        </p:txBody>
      </p:sp>
      <p:sp>
        <p:nvSpPr>
          <p:cNvPr id="178" name="Textfeld 177">
            <a:extLst>
              <a:ext uri="{FF2B5EF4-FFF2-40B4-BE49-F238E27FC236}">
                <a16:creationId xmlns:a16="http://schemas.microsoft.com/office/drawing/2014/main" id="{119A93CC-1E94-4684-9286-5A110A8B6740}"/>
              </a:ext>
            </a:extLst>
          </p:cNvPr>
          <p:cNvSpPr txBox="1"/>
          <p:nvPr/>
        </p:nvSpPr>
        <p:spPr>
          <a:xfrm>
            <a:off x="1104469" y="3709017"/>
            <a:ext cx="1375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/>
              <a:t>Charging</a:t>
            </a:r>
            <a:endParaRPr lang="de-DE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use any USB chager</a:t>
            </a:r>
          </a:p>
        </p:txBody>
      </p:sp>
      <p:sp>
        <p:nvSpPr>
          <p:cNvPr id="179" name="Textfeld 178">
            <a:extLst>
              <a:ext uri="{FF2B5EF4-FFF2-40B4-BE49-F238E27FC236}">
                <a16:creationId xmlns:a16="http://schemas.microsoft.com/office/drawing/2014/main" id="{FD0DC971-62E4-4432-A575-91BD3FDE9118}"/>
              </a:ext>
            </a:extLst>
          </p:cNvPr>
          <p:cNvSpPr txBox="1"/>
          <p:nvPr/>
        </p:nvSpPr>
        <p:spPr>
          <a:xfrm>
            <a:off x="6849070" y="4219211"/>
            <a:ext cx="1933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/>
              <a:t>Power 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only V5 and GND are provided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F21C4E-E33A-4F1C-9DE3-07A3E614E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Power Supply Board</a:t>
            </a:r>
          </a:p>
        </p:txBody>
      </p:sp>
      <p:sp>
        <p:nvSpPr>
          <p:cNvPr id="154" name="Textfeld 153">
            <a:extLst>
              <a:ext uri="{FF2B5EF4-FFF2-40B4-BE49-F238E27FC236}">
                <a16:creationId xmlns:a16="http://schemas.microsoft.com/office/drawing/2014/main" id="{453E40EE-528F-4AEF-9555-492B21695736}"/>
              </a:ext>
            </a:extLst>
          </p:cNvPr>
          <p:cNvSpPr txBox="1"/>
          <p:nvPr/>
        </p:nvSpPr>
        <p:spPr>
          <a:xfrm>
            <a:off x="8142460" y="5220676"/>
            <a:ext cx="13115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USB Pin Belegung</a:t>
            </a:r>
            <a:br>
              <a:rPr lang="de-DE" sz="1200" b="1"/>
            </a:br>
            <a:endParaRPr lang="de-DE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G : GND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V : VCC (5V)</a:t>
            </a:r>
          </a:p>
        </p:txBody>
      </p:sp>
    </p:spTree>
    <p:extLst>
      <p:ext uri="{BB962C8B-B14F-4D97-AF65-F5344CB8AC3E}">
        <p14:creationId xmlns:p14="http://schemas.microsoft.com/office/powerpoint/2010/main" val="3020722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9294B0-BCA9-4658-B01F-4A948A05F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Power Board Panel Laser Template Controls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C81D91A-1930-4505-82E8-656199E88503}"/>
              </a:ext>
            </a:extLst>
          </p:cNvPr>
          <p:cNvSpPr/>
          <p:nvPr/>
        </p:nvSpPr>
        <p:spPr>
          <a:xfrm>
            <a:off x="3600000" y="1080000"/>
            <a:ext cx="73891" cy="8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5767EED-AE32-4E4E-BE9D-CC7AE83284FE}"/>
              </a:ext>
            </a:extLst>
          </p:cNvPr>
          <p:cNvSpPr/>
          <p:nvPr/>
        </p:nvSpPr>
        <p:spPr>
          <a:xfrm>
            <a:off x="6766108" y="1080000"/>
            <a:ext cx="73891" cy="8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3A7AA4A-B9C6-49BF-9867-618EF6204099}"/>
              </a:ext>
            </a:extLst>
          </p:cNvPr>
          <p:cNvSpPr/>
          <p:nvPr/>
        </p:nvSpPr>
        <p:spPr>
          <a:xfrm>
            <a:off x="3599999" y="4380872"/>
            <a:ext cx="73891" cy="8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06EC625-93E9-45E1-9439-0280E2F8361C}"/>
              </a:ext>
            </a:extLst>
          </p:cNvPr>
          <p:cNvSpPr/>
          <p:nvPr/>
        </p:nvSpPr>
        <p:spPr>
          <a:xfrm>
            <a:off x="6766109" y="4380871"/>
            <a:ext cx="73891" cy="8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7DA6A1E-307B-45CC-B50F-6D8205C3369E}"/>
              </a:ext>
            </a:extLst>
          </p:cNvPr>
          <p:cNvSpPr/>
          <p:nvPr/>
        </p:nvSpPr>
        <p:spPr>
          <a:xfrm>
            <a:off x="3600000" y="1080000"/>
            <a:ext cx="3240000" cy="338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3E11A70-FC8F-4C60-AD38-45AFDA945A17}"/>
              </a:ext>
            </a:extLst>
          </p:cNvPr>
          <p:cNvSpPr txBox="1"/>
          <p:nvPr/>
        </p:nvSpPr>
        <p:spPr>
          <a:xfrm>
            <a:off x="628072" y="1163127"/>
            <a:ext cx="1337226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/>
              <a:t>Panel</a:t>
            </a:r>
            <a:r>
              <a:rPr lang="de-DE" sz="1100"/>
              <a:t> </a:t>
            </a:r>
          </a:p>
          <a:p>
            <a:pPr marL="171450" indent="-171450">
              <a:buFontTx/>
              <a:buChar char="-"/>
            </a:pPr>
            <a:r>
              <a:rPr lang="de-DE" sz="1100"/>
              <a:t>inkl. nut : 90 x 94</a:t>
            </a:r>
          </a:p>
          <a:p>
            <a:pPr marL="171450" indent="-171450">
              <a:buFontTx/>
              <a:buChar char="-"/>
            </a:pPr>
            <a:r>
              <a:rPr lang="de-DE" sz="1100"/>
              <a:t>innen : 80 x 84</a:t>
            </a:r>
          </a:p>
          <a:p>
            <a:pPr marL="171450" indent="-171450">
              <a:buFontTx/>
              <a:buChar char="-"/>
            </a:pPr>
            <a:endParaRPr lang="de-DE" sz="1100"/>
          </a:p>
          <a:p>
            <a:r>
              <a:rPr lang="de-DE" sz="1100" b="1"/>
              <a:t>Platine</a:t>
            </a:r>
          </a:p>
          <a:p>
            <a:pPr marL="171450" indent="-171450">
              <a:buFontTx/>
              <a:buChar char="-"/>
            </a:pPr>
            <a:r>
              <a:rPr lang="de-DE" sz="1100"/>
              <a:t>Höhe : 30</a:t>
            </a:r>
          </a:p>
          <a:p>
            <a:pPr marL="171450" indent="-171450">
              <a:buFontTx/>
              <a:buChar char="-"/>
            </a:pPr>
            <a:endParaRPr lang="de-DE" sz="1100"/>
          </a:p>
          <a:p>
            <a:r>
              <a:rPr lang="de-DE" sz="1100" b="1"/>
              <a:t>Battery Pack</a:t>
            </a:r>
          </a:p>
          <a:p>
            <a:pPr marL="171450" indent="-171450">
              <a:buFontTx/>
              <a:buChar char="-"/>
            </a:pPr>
            <a:r>
              <a:rPr lang="de-DE" sz="1100"/>
              <a:t>Höhe : 39</a:t>
            </a:r>
          </a:p>
          <a:p>
            <a:pPr marL="171450" indent="-171450">
              <a:buFontTx/>
              <a:buChar char="-"/>
            </a:pPr>
            <a:endParaRPr lang="de-DE" sz="1100"/>
          </a:p>
          <a:p>
            <a:r>
              <a:rPr lang="de-DE" sz="1100" b="1"/>
              <a:t>Controls Area</a:t>
            </a:r>
          </a:p>
          <a:p>
            <a:pPr marL="171450" indent="-171450">
              <a:buFontTx/>
              <a:buChar char="-"/>
            </a:pPr>
            <a:r>
              <a:rPr lang="de-DE" sz="1100"/>
              <a:t>Höhe : 15</a:t>
            </a:r>
          </a:p>
          <a:p>
            <a:pPr marL="171450" indent="-171450">
              <a:buFontTx/>
              <a:buChar char="-"/>
            </a:pPr>
            <a:r>
              <a:rPr lang="de-DE" sz="1100"/>
              <a:t>Breite : 80</a:t>
            </a:r>
          </a:p>
          <a:p>
            <a:pPr marL="171450" indent="-171450">
              <a:buFontTx/>
              <a:buChar char="-"/>
            </a:pPr>
            <a:endParaRPr lang="de-DE" sz="1100"/>
          </a:p>
          <a:p>
            <a:r>
              <a:rPr lang="de-DE" sz="1100"/>
              <a:t>Charging USB (links)</a:t>
            </a:r>
          </a:p>
          <a:p>
            <a:r>
              <a:rPr lang="de-DE" sz="1100"/>
              <a:t>- Links : 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14A08C4-0307-453D-8C17-5F3113F8C87E}"/>
              </a:ext>
            </a:extLst>
          </p:cNvPr>
          <p:cNvSpPr/>
          <p:nvPr/>
        </p:nvSpPr>
        <p:spPr>
          <a:xfrm>
            <a:off x="3826180" y="4662000"/>
            <a:ext cx="720000" cy="2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/>
              <a:t>USB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D2E5A28-2F9A-4120-BFC9-898400E94B58}"/>
              </a:ext>
            </a:extLst>
          </p:cNvPr>
          <p:cNvSpPr/>
          <p:nvPr/>
        </p:nvSpPr>
        <p:spPr>
          <a:xfrm>
            <a:off x="5893820" y="4662000"/>
            <a:ext cx="720000" cy="2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/>
              <a:t>USB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1192636-0A1A-43C7-9477-27310FE2E7D2}"/>
              </a:ext>
            </a:extLst>
          </p:cNvPr>
          <p:cNvSpPr/>
          <p:nvPr/>
        </p:nvSpPr>
        <p:spPr>
          <a:xfrm>
            <a:off x="4635393" y="4554000"/>
            <a:ext cx="756000" cy="5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/>
              <a:t>SW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59503DE1-317F-4A98-A577-A2F40CC794D9}"/>
              </a:ext>
            </a:extLst>
          </p:cNvPr>
          <p:cNvSpPr/>
          <p:nvPr/>
        </p:nvSpPr>
        <p:spPr>
          <a:xfrm>
            <a:off x="5480606" y="4626000"/>
            <a:ext cx="324000" cy="324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E478058-908A-4A2D-9C62-2623755B1F7F}"/>
              </a:ext>
            </a:extLst>
          </p:cNvPr>
          <p:cNvSpPr/>
          <p:nvPr/>
        </p:nvSpPr>
        <p:spPr>
          <a:xfrm>
            <a:off x="4024180" y="2546800"/>
            <a:ext cx="324000" cy="12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CE471DB-91D1-40D4-8D06-1D65D66F4510}"/>
              </a:ext>
            </a:extLst>
          </p:cNvPr>
          <p:cNvSpPr/>
          <p:nvPr/>
        </p:nvSpPr>
        <p:spPr>
          <a:xfrm>
            <a:off x="6081868" y="2546800"/>
            <a:ext cx="324000" cy="12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3A8D630-2529-4B51-8DE9-F97821A4A414}"/>
              </a:ext>
            </a:extLst>
          </p:cNvPr>
          <p:cNvSpPr/>
          <p:nvPr/>
        </p:nvSpPr>
        <p:spPr>
          <a:xfrm>
            <a:off x="4671393" y="2375800"/>
            <a:ext cx="684000" cy="46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FE6BD11C-5FA5-4430-923E-AAA9C865BC6F}"/>
              </a:ext>
            </a:extLst>
          </p:cNvPr>
          <p:cNvSpPr/>
          <p:nvPr/>
        </p:nvSpPr>
        <p:spPr>
          <a:xfrm>
            <a:off x="5507606" y="2474800"/>
            <a:ext cx="270000" cy="270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199256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9294B0-BCA9-4658-B01F-4A948A05F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Power Board Panel Laser Template Labels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C81D91A-1930-4505-82E8-656199E88503}"/>
              </a:ext>
            </a:extLst>
          </p:cNvPr>
          <p:cNvSpPr/>
          <p:nvPr/>
        </p:nvSpPr>
        <p:spPr>
          <a:xfrm>
            <a:off x="3600000" y="1080000"/>
            <a:ext cx="18000" cy="1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5767EED-AE32-4E4E-BE9D-CC7AE83284FE}"/>
              </a:ext>
            </a:extLst>
          </p:cNvPr>
          <p:cNvSpPr/>
          <p:nvPr/>
        </p:nvSpPr>
        <p:spPr>
          <a:xfrm>
            <a:off x="6766108" y="1080000"/>
            <a:ext cx="18000" cy="1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3A7AA4A-B9C6-49BF-9867-618EF6204099}"/>
              </a:ext>
            </a:extLst>
          </p:cNvPr>
          <p:cNvSpPr/>
          <p:nvPr/>
        </p:nvSpPr>
        <p:spPr>
          <a:xfrm>
            <a:off x="3599999" y="4380872"/>
            <a:ext cx="18000" cy="1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06EC625-93E9-45E1-9439-0280E2F8361C}"/>
              </a:ext>
            </a:extLst>
          </p:cNvPr>
          <p:cNvSpPr/>
          <p:nvPr/>
        </p:nvSpPr>
        <p:spPr>
          <a:xfrm>
            <a:off x="6766109" y="4380871"/>
            <a:ext cx="18000" cy="1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3E11A70-FC8F-4C60-AD38-45AFDA945A17}"/>
              </a:ext>
            </a:extLst>
          </p:cNvPr>
          <p:cNvSpPr txBox="1"/>
          <p:nvPr/>
        </p:nvSpPr>
        <p:spPr>
          <a:xfrm>
            <a:off x="628072" y="1163127"/>
            <a:ext cx="1337226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/>
              <a:t>Panel</a:t>
            </a:r>
            <a:r>
              <a:rPr lang="de-DE" sz="1100"/>
              <a:t> </a:t>
            </a:r>
          </a:p>
          <a:p>
            <a:pPr marL="171450" indent="-171450">
              <a:buFontTx/>
              <a:buChar char="-"/>
            </a:pPr>
            <a:r>
              <a:rPr lang="de-DE" sz="1100"/>
              <a:t>inkl. nut : 90 x 94</a:t>
            </a:r>
          </a:p>
          <a:p>
            <a:pPr marL="171450" indent="-171450">
              <a:buFontTx/>
              <a:buChar char="-"/>
            </a:pPr>
            <a:r>
              <a:rPr lang="de-DE" sz="1100"/>
              <a:t>innen : 80 x 84</a:t>
            </a:r>
          </a:p>
          <a:p>
            <a:pPr marL="171450" indent="-171450">
              <a:buFontTx/>
              <a:buChar char="-"/>
            </a:pPr>
            <a:endParaRPr lang="de-DE" sz="1100"/>
          </a:p>
          <a:p>
            <a:r>
              <a:rPr lang="de-DE" sz="1100" b="1"/>
              <a:t>Platine</a:t>
            </a:r>
          </a:p>
          <a:p>
            <a:pPr marL="171450" indent="-171450">
              <a:buFontTx/>
              <a:buChar char="-"/>
            </a:pPr>
            <a:r>
              <a:rPr lang="de-DE" sz="1100"/>
              <a:t>Höhe : 30</a:t>
            </a:r>
          </a:p>
          <a:p>
            <a:pPr marL="171450" indent="-171450">
              <a:buFontTx/>
              <a:buChar char="-"/>
            </a:pPr>
            <a:endParaRPr lang="de-DE" sz="1100"/>
          </a:p>
          <a:p>
            <a:r>
              <a:rPr lang="de-DE" sz="1100" b="1"/>
              <a:t>Battery Pack</a:t>
            </a:r>
          </a:p>
          <a:p>
            <a:pPr marL="171450" indent="-171450">
              <a:buFontTx/>
              <a:buChar char="-"/>
            </a:pPr>
            <a:r>
              <a:rPr lang="de-DE" sz="1100"/>
              <a:t>Höhe : 39</a:t>
            </a:r>
          </a:p>
          <a:p>
            <a:pPr marL="171450" indent="-171450">
              <a:buFontTx/>
              <a:buChar char="-"/>
            </a:pPr>
            <a:endParaRPr lang="de-DE" sz="1100"/>
          </a:p>
          <a:p>
            <a:r>
              <a:rPr lang="de-DE" sz="1100" b="1"/>
              <a:t>Controls Area</a:t>
            </a:r>
          </a:p>
          <a:p>
            <a:pPr marL="171450" indent="-171450">
              <a:buFontTx/>
              <a:buChar char="-"/>
            </a:pPr>
            <a:r>
              <a:rPr lang="de-DE" sz="1100"/>
              <a:t>Höhe : 15</a:t>
            </a:r>
          </a:p>
          <a:p>
            <a:pPr marL="171450" indent="-171450">
              <a:buFontTx/>
              <a:buChar char="-"/>
            </a:pPr>
            <a:r>
              <a:rPr lang="de-DE" sz="1100"/>
              <a:t>Breite : 80</a:t>
            </a:r>
          </a:p>
          <a:p>
            <a:pPr marL="171450" indent="-171450">
              <a:buFontTx/>
              <a:buChar char="-"/>
            </a:pPr>
            <a:endParaRPr lang="de-DE" sz="1100"/>
          </a:p>
          <a:p>
            <a:r>
              <a:rPr lang="de-DE" sz="1100"/>
              <a:t>Charging USB (links)</a:t>
            </a:r>
          </a:p>
          <a:p>
            <a:r>
              <a:rPr lang="de-DE" sz="1100"/>
              <a:t>- Links : 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14A08C4-0307-453D-8C17-5F3113F8C87E}"/>
              </a:ext>
            </a:extLst>
          </p:cNvPr>
          <p:cNvSpPr/>
          <p:nvPr/>
        </p:nvSpPr>
        <p:spPr>
          <a:xfrm>
            <a:off x="3826180" y="4662000"/>
            <a:ext cx="720000" cy="2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/>
              <a:t>USB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D2E5A28-2F9A-4120-BFC9-898400E94B58}"/>
              </a:ext>
            </a:extLst>
          </p:cNvPr>
          <p:cNvSpPr/>
          <p:nvPr/>
        </p:nvSpPr>
        <p:spPr>
          <a:xfrm>
            <a:off x="5893820" y="4662000"/>
            <a:ext cx="720000" cy="2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/>
              <a:t>USB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1192636-0A1A-43C7-9477-27310FE2E7D2}"/>
              </a:ext>
            </a:extLst>
          </p:cNvPr>
          <p:cNvSpPr/>
          <p:nvPr/>
        </p:nvSpPr>
        <p:spPr>
          <a:xfrm>
            <a:off x="4635393" y="4554000"/>
            <a:ext cx="756000" cy="5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/>
              <a:t>SW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59503DE1-317F-4A98-A577-A2F40CC794D9}"/>
              </a:ext>
            </a:extLst>
          </p:cNvPr>
          <p:cNvSpPr/>
          <p:nvPr/>
        </p:nvSpPr>
        <p:spPr>
          <a:xfrm>
            <a:off x="5480606" y="4626000"/>
            <a:ext cx="324000" cy="324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302751F-6859-4E08-9DED-5FE54C9D12CE}"/>
              </a:ext>
            </a:extLst>
          </p:cNvPr>
          <p:cNvSpPr txBox="1"/>
          <p:nvPr/>
        </p:nvSpPr>
        <p:spPr>
          <a:xfrm>
            <a:off x="5067888" y="1514287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>
                <a:latin typeface="Milkyway DEMO" pitchFamily="2" charset="0"/>
              </a:rPr>
              <a:t>Fizz Bizz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48589BE7-CF80-4684-9F56-1E6C33DE7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115" y="1231800"/>
            <a:ext cx="990977" cy="1020052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5BECCF3D-32C1-4BA3-9B02-C17E0CFA8720}"/>
              </a:ext>
            </a:extLst>
          </p:cNvPr>
          <p:cNvSpPr txBox="1"/>
          <p:nvPr/>
        </p:nvSpPr>
        <p:spPr>
          <a:xfrm>
            <a:off x="3982115" y="2920697"/>
            <a:ext cx="4342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1200"/>
              <a:t>Charge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C25ED4F-00C5-4839-99AD-FAEBC045F34D}"/>
              </a:ext>
            </a:extLst>
          </p:cNvPr>
          <p:cNvSpPr txBox="1"/>
          <p:nvPr/>
        </p:nvSpPr>
        <p:spPr>
          <a:xfrm>
            <a:off x="6035506" y="2920697"/>
            <a:ext cx="44563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200"/>
              <a:t>Output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AA0DEED-015B-4979-B5AA-2E72A93DDC15}"/>
              </a:ext>
            </a:extLst>
          </p:cNvPr>
          <p:cNvSpPr txBox="1"/>
          <p:nvPr/>
        </p:nvSpPr>
        <p:spPr>
          <a:xfrm>
            <a:off x="4579230" y="2920697"/>
            <a:ext cx="88953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1200"/>
              <a:t>Master Switch</a:t>
            </a: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5124C6E3-1E81-440B-AC49-37D9D702CB58}"/>
              </a:ext>
            </a:extLst>
          </p:cNvPr>
          <p:cNvCxnSpPr>
            <a:stCxn id="14" idx="2"/>
          </p:cNvCxnSpPr>
          <p:nvPr/>
        </p:nvCxnSpPr>
        <p:spPr>
          <a:xfrm>
            <a:off x="5013393" y="5094000"/>
            <a:ext cx="0" cy="1325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4A5E8504-C3A7-4354-AF91-DD9C120D87F8}"/>
              </a:ext>
            </a:extLst>
          </p:cNvPr>
          <p:cNvSpPr txBox="1"/>
          <p:nvPr/>
        </p:nvSpPr>
        <p:spPr>
          <a:xfrm>
            <a:off x="4799994" y="3684504"/>
            <a:ext cx="170931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de-DE" sz="1400"/>
              <a:t>[Power Supply Module]</a:t>
            </a:r>
          </a:p>
        </p:txBody>
      </p:sp>
    </p:spTree>
    <p:extLst>
      <p:ext uri="{BB962C8B-B14F-4D97-AF65-F5344CB8AC3E}">
        <p14:creationId xmlns:p14="http://schemas.microsoft.com/office/powerpoint/2010/main" val="165762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9294B0-BCA9-4658-B01F-4A948A05F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Power Board Panel Laser Template Frame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3E11A70-FC8F-4C60-AD38-45AFDA945A17}"/>
              </a:ext>
            </a:extLst>
          </p:cNvPr>
          <p:cNvSpPr txBox="1"/>
          <p:nvPr/>
        </p:nvSpPr>
        <p:spPr>
          <a:xfrm>
            <a:off x="628072" y="1163127"/>
            <a:ext cx="1377300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/>
              <a:t>Frame</a:t>
            </a:r>
            <a:endParaRPr lang="de-DE" sz="1100"/>
          </a:p>
          <a:p>
            <a:pPr marL="171450" indent="-171450">
              <a:buFontTx/>
              <a:buChar char="-"/>
            </a:pPr>
            <a:r>
              <a:rPr lang="de-DE" sz="1100"/>
              <a:t>außen : 115 x 120</a:t>
            </a:r>
          </a:p>
          <a:p>
            <a:pPr marL="171450" indent="-171450">
              <a:buFontTx/>
              <a:buChar char="-"/>
            </a:pPr>
            <a:r>
              <a:rPr lang="de-DE" sz="1100"/>
              <a:t>innen : 79 x 84</a:t>
            </a:r>
          </a:p>
          <a:p>
            <a:pPr marL="171450" indent="-171450">
              <a:buFontTx/>
              <a:buChar char="-"/>
            </a:pPr>
            <a:r>
              <a:rPr lang="de-DE" sz="1100"/>
              <a:t>Rand : 18</a:t>
            </a:r>
          </a:p>
          <a:p>
            <a:pPr marL="171450" indent="-171450">
              <a:buFontTx/>
              <a:buChar char="-"/>
            </a:pPr>
            <a:endParaRPr lang="de-DE" sz="110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E7979BF-32E9-498A-9E85-2DC5E9CC91AC}"/>
              </a:ext>
            </a:extLst>
          </p:cNvPr>
          <p:cNvSpPr/>
          <p:nvPr/>
        </p:nvSpPr>
        <p:spPr>
          <a:xfrm>
            <a:off x="3600000" y="1080000"/>
            <a:ext cx="4140000" cy="4320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C1F3B6CE-2FE8-4784-8157-46A446CBE155}"/>
              </a:ext>
            </a:extLst>
          </p:cNvPr>
          <p:cNvSpPr/>
          <p:nvPr/>
        </p:nvSpPr>
        <p:spPr>
          <a:xfrm>
            <a:off x="4248000" y="1728000"/>
            <a:ext cx="2844000" cy="3024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95D773B-9993-46BB-BBF5-52E12D959019}"/>
              </a:ext>
            </a:extLst>
          </p:cNvPr>
          <p:cNvSpPr txBox="1"/>
          <p:nvPr/>
        </p:nvSpPr>
        <p:spPr>
          <a:xfrm>
            <a:off x="4897665" y="1234312"/>
            <a:ext cx="17988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>
                <a:latin typeface="Henny Penny" panose="02000505000000020004" pitchFamily="2" charset="0"/>
              </a:rPr>
              <a:t>Fizz Bizz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603BA08-B135-4F9F-89B4-07F8E2B1B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989" y="1858620"/>
            <a:ext cx="360000" cy="82865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612329D-99F7-44BF-857B-021129535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25514" y="1826707"/>
            <a:ext cx="360000" cy="82865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4314ADB0-6711-4275-941C-AB271D80B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11824" y="4822546"/>
            <a:ext cx="454660" cy="468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D6C6DA60-373D-4B53-A18F-02B7E37DD7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97007">
            <a:off x="3767336" y="3202985"/>
            <a:ext cx="360000" cy="695676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0310D0D7-B8F6-425B-8730-5A68E484D4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902993" flipH="1">
            <a:off x="7195988" y="2708861"/>
            <a:ext cx="360000" cy="695676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55873220-F3AE-4F53-82C8-BC1660D0E769}"/>
              </a:ext>
            </a:extLst>
          </p:cNvPr>
          <p:cNvSpPr txBox="1"/>
          <p:nvPr/>
        </p:nvSpPr>
        <p:spPr>
          <a:xfrm>
            <a:off x="4888800" y="4887269"/>
            <a:ext cx="1679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/>
              <a:t>power supply 5V=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644D659D-333E-47F5-89F4-C8CAB36A07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370" y="4822546"/>
            <a:ext cx="523648" cy="468000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5938BC38-D75C-48F0-8929-AA525D584AC2}"/>
              </a:ext>
            </a:extLst>
          </p:cNvPr>
          <p:cNvSpPr/>
          <p:nvPr/>
        </p:nvSpPr>
        <p:spPr>
          <a:xfrm>
            <a:off x="3600000" y="1080000"/>
            <a:ext cx="18000" cy="1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1F6D01C-3D07-406B-9A39-BBC891121386}"/>
              </a:ext>
            </a:extLst>
          </p:cNvPr>
          <p:cNvSpPr/>
          <p:nvPr/>
        </p:nvSpPr>
        <p:spPr>
          <a:xfrm>
            <a:off x="7740000" y="1079764"/>
            <a:ext cx="18000" cy="1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47A39B0A-2D54-4BE1-A601-8BF2421CB5DE}"/>
              </a:ext>
            </a:extLst>
          </p:cNvPr>
          <p:cNvSpPr/>
          <p:nvPr/>
        </p:nvSpPr>
        <p:spPr>
          <a:xfrm>
            <a:off x="3600236" y="5386250"/>
            <a:ext cx="18000" cy="1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D414200A-9328-41DF-8466-31BEE6A06265}"/>
              </a:ext>
            </a:extLst>
          </p:cNvPr>
          <p:cNvSpPr/>
          <p:nvPr/>
        </p:nvSpPr>
        <p:spPr>
          <a:xfrm>
            <a:off x="7730764" y="5390764"/>
            <a:ext cx="18000" cy="1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5652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7AEB966-3C77-4E8D-A40C-4FD3CCA4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Sound Module</a:t>
            </a:r>
          </a:p>
        </p:txBody>
      </p:sp>
    </p:spTree>
    <p:extLst>
      <p:ext uri="{BB962C8B-B14F-4D97-AF65-F5344CB8AC3E}">
        <p14:creationId xmlns:p14="http://schemas.microsoft.com/office/powerpoint/2010/main" val="36363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hteck 88">
            <a:extLst>
              <a:ext uri="{FF2B5EF4-FFF2-40B4-BE49-F238E27FC236}">
                <a16:creationId xmlns:a16="http://schemas.microsoft.com/office/drawing/2014/main" id="{67336FBD-A536-4A33-9C71-AB7A2FE7083A}"/>
              </a:ext>
            </a:extLst>
          </p:cNvPr>
          <p:cNvSpPr/>
          <p:nvPr/>
        </p:nvSpPr>
        <p:spPr>
          <a:xfrm>
            <a:off x="2506375" y="1379879"/>
            <a:ext cx="7757726" cy="27456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de-DE" sz="1400"/>
          </a:p>
        </p:txBody>
      </p:sp>
      <p:cxnSp>
        <p:nvCxnSpPr>
          <p:cNvPr id="172" name="Gerader Verbinder 171">
            <a:extLst>
              <a:ext uri="{FF2B5EF4-FFF2-40B4-BE49-F238E27FC236}">
                <a16:creationId xmlns:a16="http://schemas.microsoft.com/office/drawing/2014/main" id="{41E71FE6-6375-4681-9273-FB500C8EB1E3}"/>
              </a:ext>
            </a:extLst>
          </p:cNvPr>
          <p:cNvCxnSpPr>
            <a:cxnSpLocks/>
            <a:endCxn id="174" idx="2"/>
          </p:cNvCxnSpPr>
          <p:nvPr/>
        </p:nvCxnSpPr>
        <p:spPr>
          <a:xfrm flipH="1" flipV="1">
            <a:off x="7797392" y="2812718"/>
            <a:ext cx="8274" cy="116963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hteck 89">
            <a:extLst>
              <a:ext uri="{FF2B5EF4-FFF2-40B4-BE49-F238E27FC236}">
                <a16:creationId xmlns:a16="http://schemas.microsoft.com/office/drawing/2014/main" id="{9D467D04-E886-4023-84FB-A16A0D53571E}"/>
              </a:ext>
            </a:extLst>
          </p:cNvPr>
          <p:cNvSpPr/>
          <p:nvPr/>
        </p:nvSpPr>
        <p:spPr>
          <a:xfrm>
            <a:off x="7062413" y="2160298"/>
            <a:ext cx="2155161" cy="476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Arduino Nano</a:t>
            </a:r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4C014239-BDE4-41D0-AFA8-36BC284E29AE}"/>
              </a:ext>
            </a:extLst>
          </p:cNvPr>
          <p:cNvSpPr/>
          <p:nvPr/>
        </p:nvSpPr>
        <p:spPr>
          <a:xfrm>
            <a:off x="7723654" y="3982346"/>
            <a:ext cx="475946" cy="276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139" name="Textfeld 138">
            <a:extLst>
              <a:ext uri="{FF2B5EF4-FFF2-40B4-BE49-F238E27FC236}">
                <a16:creationId xmlns:a16="http://schemas.microsoft.com/office/drawing/2014/main" id="{9FA228E7-5D61-42B0-A168-DE2F4E1CA615}"/>
              </a:ext>
            </a:extLst>
          </p:cNvPr>
          <p:cNvSpPr txBox="1"/>
          <p:nvPr/>
        </p:nvSpPr>
        <p:spPr>
          <a:xfrm>
            <a:off x="2560412" y="1477430"/>
            <a:ext cx="15421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Sound Module Board</a:t>
            </a:r>
          </a:p>
        </p:txBody>
      </p:sp>
      <p:sp>
        <p:nvSpPr>
          <p:cNvPr id="140" name="Ellipse 139">
            <a:extLst>
              <a:ext uri="{FF2B5EF4-FFF2-40B4-BE49-F238E27FC236}">
                <a16:creationId xmlns:a16="http://schemas.microsoft.com/office/drawing/2014/main" id="{E26FDBB4-88AA-471E-898A-9E497082372C}"/>
              </a:ext>
            </a:extLst>
          </p:cNvPr>
          <p:cNvSpPr/>
          <p:nvPr/>
        </p:nvSpPr>
        <p:spPr>
          <a:xfrm>
            <a:off x="7364903" y="3532871"/>
            <a:ext cx="287753" cy="25106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>
                <a:solidFill>
                  <a:schemeClr val="tx1"/>
                </a:solidFill>
              </a:rPr>
              <a:t>5k</a:t>
            </a:r>
          </a:p>
        </p:txBody>
      </p: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EA604A2B-2E31-4D01-BA10-ACBA897060F0}"/>
              </a:ext>
            </a:extLst>
          </p:cNvPr>
          <p:cNvCxnSpPr>
            <a:cxnSpLocks/>
            <a:stCxn id="140" idx="6"/>
          </p:cNvCxnSpPr>
          <p:nvPr/>
        </p:nvCxnSpPr>
        <p:spPr>
          <a:xfrm>
            <a:off x="7652656" y="3658403"/>
            <a:ext cx="153010" cy="323943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Gerader Verbinder 144">
            <a:extLst>
              <a:ext uri="{FF2B5EF4-FFF2-40B4-BE49-F238E27FC236}">
                <a16:creationId xmlns:a16="http://schemas.microsoft.com/office/drawing/2014/main" id="{F4511CB7-EF66-495A-BCEA-0874825221E6}"/>
              </a:ext>
            </a:extLst>
          </p:cNvPr>
          <p:cNvCxnSpPr>
            <a:cxnSpLocks/>
          </p:cNvCxnSpPr>
          <p:nvPr/>
        </p:nvCxnSpPr>
        <p:spPr>
          <a:xfrm>
            <a:off x="8092404" y="2812718"/>
            <a:ext cx="10148" cy="1169628"/>
          </a:xfrm>
          <a:prstGeom prst="straightConnector1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Gerader Verbinder 147">
            <a:extLst>
              <a:ext uri="{FF2B5EF4-FFF2-40B4-BE49-F238E27FC236}">
                <a16:creationId xmlns:a16="http://schemas.microsoft.com/office/drawing/2014/main" id="{F2EFEC8B-D998-4BB2-9772-3EE5188DE519}"/>
              </a:ext>
            </a:extLst>
          </p:cNvPr>
          <p:cNvCxnSpPr>
            <a:cxnSpLocks/>
            <a:stCxn id="140" idx="2"/>
            <a:endCxn id="357" idx="3"/>
          </p:cNvCxnSpPr>
          <p:nvPr/>
        </p:nvCxnSpPr>
        <p:spPr>
          <a:xfrm flipH="1" flipV="1">
            <a:off x="7083595" y="3648839"/>
            <a:ext cx="281308" cy="9564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feld 166">
            <a:extLst>
              <a:ext uri="{FF2B5EF4-FFF2-40B4-BE49-F238E27FC236}">
                <a16:creationId xmlns:a16="http://schemas.microsoft.com/office/drawing/2014/main" id="{0FFBE0AD-24B5-44C1-A01F-F6DFBAC38FF5}"/>
              </a:ext>
            </a:extLst>
          </p:cNvPr>
          <p:cNvSpPr txBox="1"/>
          <p:nvPr/>
        </p:nvSpPr>
        <p:spPr>
          <a:xfrm>
            <a:off x="8028423" y="2651135"/>
            <a:ext cx="147476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A5</a:t>
            </a:r>
          </a:p>
        </p:txBody>
      </p:sp>
      <p:sp>
        <p:nvSpPr>
          <p:cNvPr id="174" name="Textfeld 173">
            <a:extLst>
              <a:ext uri="{FF2B5EF4-FFF2-40B4-BE49-F238E27FC236}">
                <a16:creationId xmlns:a16="http://schemas.microsoft.com/office/drawing/2014/main" id="{180416A4-B5FB-46A4-8397-1F1ACEEE9B39}"/>
              </a:ext>
            </a:extLst>
          </p:cNvPr>
          <p:cNvSpPr txBox="1"/>
          <p:nvPr/>
        </p:nvSpPr>
        <p:spPr>
          <a:xfrm>
            <a:off x="7723654" y="2651135"/>
            <a:ext cx="147476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A4</a:t>
            </a:r>
          </a:p>
        </p:txBody>
      </p:sp>
      <p:sp>
        <p:nvSpPr>
          <p:cNvPr id="206" name="Rechteck 205">
            <a:extLst>
              <a:ext uri="{FF2B5EF4-FFF2-40B4-BE49-F238E27FC236}">
                <a16:creationId xmlns:a16="http://schemas.microsoft.com/office/drawing/2014/main" id="{14E12E35-C99B-4DCA-B33E-47A5CB6F9910}"/>
              </a:ext>
            </a:extLst>
          </p:cNvPr>
          <p:cNvSpPr/>
          <p:nvPr/>
        </p:nvSpPr>
        <p:spPr>
          <a:xfrm>
            <a:off x="5116268" y="2608088"/>
            <a:ext cx="1463070" cy="476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DFPlayer Mini</a:t>
            </a:r>
          </a:p>
        </p:txBody>
      </p:sp>
      <p:sp>
        <p:nvSpPr>
          <p:cNvPr id="210" name="Textfeld 209">
            <a:extLst>
              <a:ext uri="{FF2B5EF4-FFF2-40B4-BE49-F238E27FC236}">
                <a16:creationId xmlns:a16="http://schemas.microsoft.com/office/drawing/2014/main" id="{15E56F38-2954-4F02-8C47-4F4104C7A6E7}"/>
              </a:ext>
            </a:extLst>
          </p:cNvPr>
          <p:cNvSpPr txBox="1"/>
          <p:nvPr/>
        </p:nvSpPr>
        <p:spPr>
          <a:xfrm>
            <a:off x="4633438" y="2505424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50"/>
              <a:t>Pin 6</a:t>
            </a:r>
          </a:p>
        </p:txBody>
      </p:sp>
      <p:sp>
        <p:nvSpPr>
          <p:cNvPr id="211" name="Textfeld 210">
            <a:extLst>
              <a:ext uri="{FF2B5EF4-FFF2-40B4-BE49-F238E27FC236}">
                <a16:creationId xmlns:a16="http://schemas.microsoft.com/office/drawing/2014/main" id="{1D0B6898-7D25-4334-8A60-6AAB38AC0AD3}"/>
              </a:ext>
            </a:extLst>
          </p:cNvPr>
          <p:cNvSpPr txBox="1"/>
          <p:nvPr/>
        </p:nvSpPr>
        <p:spPr>
          <a:xfrm>
            <a:off x="4604846" y="2891115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50"/>
              <a:t>Pin 8</a:t>
            </a:r>
          </a:p>
        </p:txBody>
      </p:sp>
      <p:cxnSp>
        <p:nvCxnSpPr>
          <p:cNvPr id="216" name="Gerader Verbinder 215">
            <a:extLst>
              <a:ext uri="{FF2B5EF4-FFF2-40B4-BE49-F238E27FC236}">
                <a16:creationId xmlns:a16="http://schemas.microsoft.com/office/drawing/2014/main" id="{D1BF3E73-4AEB-4197-8944-042287116D20}"/>
              </a:ext>
            </a:extLst>
          </p:cNvPr>
          <p:cNvCxnSpPr>
            <a:cxnSpLocks/>
            <a:endCxn id="217" idx="0"/>
          </p:cNvCxnSpPr>
          <p:nvPr/>
        </p:nvCxnSpPr>
        <p:spPr>
          <a:xfrm>
            <a:off x="5551946" y="2085909"/>
            <a:ext cx="233" cy="29715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feld 216">
            <a:extLst>
              <a:ext uri="{FF2B5EF4-FFF2-40B4-BE49-F238E27FC236}">
                <a16:creationId xmlns:a16="http://schemas.microsoft.com/office/drawing/2014/main" id="{BC354AA3-A7BD-45EA-81DA-4167F3BCA577}"/>
              </a:ext>
            </a:extLst>
          </p:cNvPr>
          <p:cNvSpPr txBox="1"/>
          <p:nvPr/>
        </p:nvSpPr>
        <p:spPr>
          <a:xfrm>
            <a:off x="5517714" y="2383064"/>
            <a:ext cx="6892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2</a:t>
            </a:r>
          </a:p>
        </p:txBody>
      </p:sp>
      <p:sp>
        <p:nvSpPr>
          <p:cNvPr id="218" name="Textfeld 217">
            <a:extLst>
              <a:ext uri="{FF2B5EF4-FFF2-40B4-BE49-F238E27FC236}">
                <a16:creationId xmlns:a16="http://schemas.microsoft.com/office/drawing/2014/main" id="{92E457C6-2A3A-4EA8-A523-DF6B36237A77}"/>
              </a:ext>
            </a:extLst>
          </p:cNvPr>
          <p:cNvSpPr txBox="1"/>
          <p:nvPr/>
        </p:nvSpPr>
        <p:spPr>
          <a:xfrm>
            <a:off x="6080125" y="2383064"/>
            <a:ext cx="6892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3</a:t>
            </a:r>
          </a:p>
        </p:txBody>
      </p:sp>
      <p:sp>
        <p:nvSpPr>
          <p:cNvPr id="224" name="Textfeld 223">
            <a:extLst>
              <a:ext uri="{FF2B5EF4-FFF2-40B4-BE49-F238E27FC236}">
                <a16:creationId xmlns:a16="http://schemas.microsoft.com/office/drawing/2014/main" id="{4B001F22-FA11-491F-9B3E-183A3A633C95}"/>
              </a:ext>
            </a:extLst>
          </p:cNvPr>
          <p:cNvSpPr txBox="1"/>
          <p:nvPr/>
        </p:nvSpPr>
        <p:spPr>
          <a:xfrm>
            <a:off x="7440702" y="1945819"/>
            <a:ext cx="22121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D11</a:t>
            </a:r>
          </a:p>
        </p:txBody>
      </p:sp>
      <p:sp>
        <p:nvSpPr>
          <p:cNvPr id="231" name="Textfeld 230">
            <a:extLst>
              <a:ext uri="{FF2B5EF4-FFF2-40B4-BE49-F238E27FC236}">
                <a16:creationId xmlns:a16="http://schemas.microsoft.com/office/drawing/2014/main" id="{BBD4C68B-282F-40B6-9B90-BE38A2B4C638}"/>
              </a:ext>
            </a:extLst>
          </p:cNvPr>
          <p:cNvSpPr txBox="1"/>
          <p:nvPr/>
        </p:nvSpPr>
        <p:spPr>
          <a:xfrm>
            <a:off x="7752963" y="1945819"/>
            <a:ext cx="22121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D10</a:t>
            </a:r>
          </a:p>
        </p:txBody>
      </p:sp>
      <p:sp>
        <p:nvSpPr>
          <p:cNvPr id="232" name="Textfeld 231">
            <a:extLst>
              <a:ext uri="{FF2B5EF4-FFF2-40B4-BE49-F238E27FC236}">
                <a16:creationId xmlns:a16="http://schemas.microsoft.com/office/drawing/2014/main" id="{C030D176-FE95-4800-856B-0CAFE9A5840F}"/>
              </a:ext>
            </a:extLst>
          </p:cNvPr>
          <p:cNvSpPr txBox="1"/>
          <p:nvPr/>
        </p:nvSpPr>
        <p:spPr>
          <a:xfrm>
            <a:off x="2860125" y="1909449"/>
            <a:ext cx="19351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/>
              <a:t>Player Pin Mapping</a:t>
            </a:r>
            <a:endParaRPr lang="de-DE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Pin 2 (RX) : D10 (TX) (1 k Ohm)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Pin 3 (TX) : D11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Pin 16 (busy) : D12</a:t>
            </a:r>
          </a:p>
        </p:txBody>
      </p:sp>
      <p:sp>
        <p:nvSpPr>
          <p:cNvPr id="233" name="Rechteck 232">
            <a:extLst>
              <a:ext uri="{FF2B5EF4-FFF2-40B4-BE49-F238E27FC236}">
                <a16:creationId xmlns:a16="http://schemas.microsoft.com/office/drawing/2014/main" id="{A4E33D0B-6202-4920-ADDA-8E50DD9CA717}"/>
              </a:ext>
            </a:extLst>
          </p:cNvPr>
          <p:cNvSpPr/>
          <p:nvPr/>
        </p:nvSpPr>
        <p:spPr>
          <a:xfrm rot="5400000">
            <a:off x="6751847" y="1877475"/>
            <a:ext cx="318062" cy="1335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cxnSp>
        <p:nvCxnSpPr>
          <p:cNvPr id="220" name="Verbinder: gewinkelt 219">
            <a:extLst>
              <a:ext uri="{FF2B5EF4-FFF2-40B4-BE49-F238E27FC236}">
                <a16:creationId xmlns:a16="http://schemas.microsoft.com/office/drawing/2014/main" id="{363365AA-D539-44FC-8D39-2A0B641DABB9}"/>
              </a:ext>
            </a:extLst>
          </p:cNvPr>
          <p:cNvCxnSpPr>
            <a:cxnSpLocks/>
            <a:stCxn id="218" idx="0"/>
            <a:endCxn id="224" idx="0"/>
          </p:cNvCxnSpPr>
          <p:nvPr/>
        </p:nvCxnSpPr>
        <p:spPr>
          <a:xfrm rot="5400000" flipH="1" flipV="1">
            <a:off x="6614327" y="1446083"/>
            <a:ext cx="437245" cy="1436719"/>
          </a:xfrm>
          <a:prstGeom prst="bentConnector3">
            <a:avLst>
              <a:gd name="adj1" fmla="val 121300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Verbinder: gewinkelt 227">
            <a:extLst>
              <a:ext uri="{FF2B5EF4-FFF2-40B4-BE49-F238E27FC236}">
                <a16:creationId xmlns:a16="http://schemas.microsoft.com/office/drawing/2014/main" id="{0617C71A-4D13-4E1D-AB55-8EB0CC4F45A1}"/>
              </a:ext>
            </a:extLst>
          </p:cNvPr>
          <p:cNvCxnSpPr>
            <a:cxnSpLocks/>
            <a:stCxn id="214" idx="0"/>
            <a:endCxn id="231" idx="0"/>
          </p:cNvCxnSpPr>
          <p:nvPr/>
        </p:nvCxnSpPr>
        <p:spPr>
          <a:xfrm rot="5400000" flipH="1" flipV="1">
            <a:off x="6696570" y="801195"/>
            <a:ext cx="22376" cy="2311624"/>
          </a:xfrm>
          <a:prstGeom prst="bentConnector3">
            <a:avLst>
              <a:gd name="adj1" fmla="val 1121630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Rechteck 236">
            <a:extLst>
              <a:ext uri="{FF2B5EF4-FFF2-40B4-BE49-F238E27FC236}">
                <a16:creationId xmlns:a16="http://schemas.microsoft.com/office/drawing/2014/main" id="{2158EAAD-B0B1-4BE3-99A3-A65826249689}"/>
              </a:ext>
            </a:extLst>
          </p:cNvPr>
          <p:cNvSpPr/>
          <p:nvPr/>
        </p:nvSpPr>
        <p:spPr>
          <a:xfrm rot="16200000">
            <a:off x="-41122" y="4043793"/>
            <a:ext cx="1267833" cy="5966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Sound Upload</a:t>
            </a:r>
            <a:br>
              <a:rPr lang="de-DE" sz="1050"/>
            </a:br>
            <a:r>
              <a:rPr lang="de-DE" sz="1050"/>
              <a:t>Panel Port (USB)</a:t>
            </a:r>
          </a:p>
        </p:txBody>
      </p:sp>
      <p:sp>
        <p:nvSpPr>
          <p:cNvPr id="256" name="Textfeld 255">
            <a:extLst>
              <a:ext uri="{FF2B5EF4-FFF2-40B4-BE49-F238E27FC236}">
                <a16:creationId xmlns:a16="http://schemas.microsoft.com/office/drawing/2014/main" id="{B514F9FA-8901-4690-9A84-AADE571F2AC7}"/>
              </a:ext>
            </a:extLst>
          </p:cNvPr>
          <p:cNvSpPr txBox="1"/>
          <p:nvPr/>
        </p:nvSpPr>
        <p:spPr>
          <a:xfrm>
            <a:off x="5377685" y="3107059"/>
            <a:ext cx="13785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14</a:t>
            </a:r>
          </a:p>
        </p:txBody>
      </p:sp>
      <p:sp>
        <p:nvSpPr>
          <p:cNvPr id="257" name="Textfeld 256">
            <a:extLst>
              <a:ext uri="{FF2B5EF4-FFF2-40B4-BE49-F238E27FC236}">
                <a16:creationId xmlns:a16="http://schemas.microsoft.com/office/drawing/2014/main" id="{52BD9B14-896E-4E82-88EF-B00BCFC530A4}"/>
              </a:ext>
            </a:extLst>
          </p:cNvPr>
          <p:cNvSpPr txBox="1"/>
          <p:nvPr/>
        </p:nvSpPr>
        <p:spPr>
          <a:xfrm>
            <a:off x="5682726" y="3107059"/>
            <a:ext cx="13785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15</a:t>
            </a:r>
          </a:p>
        </p:txBody>
      </p:sp>
      <p:cxnSp>
        <p:nvCxnSpPr>
          <p:cNvPr id="278" name="Verbinder: gewinkelt 277">
            <a:extLst>
              <a:ext uri="{FF2B5EF4-FFF2-40B4-BE49-F238E27FC236}">
                <a16:creationId xmlns:a16="http://schemas.microsoft.com/office/drawing/2014/main" id="{9F08172A-EEE1-451C-8272-C081CE1B7777}"/>
              </a:ext>
            </a:extLst>
          </p:cNvPr>
          <p:cNvCxnSpPr>
            <a:cxnSpLocks/>
            <a:stCxn id="279" idx="0"/>
            <a:endCxn id="283" idx="1"/>
          </p:cNvCxnSpPr>
          <p:nvPr/>
        </p:nvCxnSpPr>
        <p:spPr>
          <a:xfrm rot="5400000" flipH="1" flipV="1">
            <a:off x="6625523" y="1876314"/>
            <a:ext cx="352621" cy="653216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Textfeld 278">
            <a:extLst>
              <a:ext uri="{FF2B5EF4-FFF2-40B4-BE49-F238E27FC236}">
                <a16:creationId xmlns:a16="http://schemas.microsoft.com/office/drawing/2014/main" id="{0B42947F-3DBD-4F02-AE19-605FC9D4B467}"/>
              </a:ext>
            </a:extLst>
          </p:cNvPr>
          <p:cNvSpPr txBox="1"/>
          <p:nvPr/>
        </p:nvSpPr>
        <p:spPr>
          <a:xfrm>
            <a:off x="6406296" y="2379232"/>
            <a:ext cx="13785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16</a:t>
            </a:r>
          </a:p>
        </p:txBody>
      </p:sp>
      <p:sp>
        <p:nvSpPr>
          <p:cNvPr id="283" name="Textfeld 282">
            <a:extLst>
              <a:ext uri="{FF2B5EF4-FFF2-40B4-BE49-F238E27FC236}">
                <a16:creationId xmlns:a16="http://schemas.microsoft.com/office/drawing/2014/main" id="{EDB063B0-3A05-49A5-9235-5450EEFB079E}"/>
              </a:ext>
            </a:extLst>
          </p:cNvPr>
          <p:cNvSpPr txBox="1"/>
          <p:nvPr/>
        </p:nvSpPr>
        <p:spPr>
          <a:xfrm>
            <a:off x="7128441" y="1945819"/>
            <a:ext cx="22121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D12</a:t>
            </a:r>
          </a:p>
        </p:txBody>
      </p:sp>
      <p:sp>
        <p:nvSpPr>
          <p:cNvPr id="288" name="Textfeld 287">
            <a:extLst>
              <a:ext uri="{FF2B5EF4-FFF2-40B4-BE49-F238E27FC236}">
                <a16:creationId xmlns:a16="http://schemas.microsoft.com/office/drawing/2014/main" id="{9A2E01C4-6264-4992-8319-936B41C82B24}"/>
              </a:ext>
            </a:extLst>
          </p:cNvPr>
          <p:cNvSpPr txBox="1"/>
          <p:nvPr/>
        </p:nvSpPr>
        <p:spPr>
          <a:xfrm>
            <a:off x="4211751" y="3499034"/>
            <a:ext cx="150682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D+</a:t>
            </a:r>
          </a:p>
        </p:txBody>
      </p:sp>
      <p:sp>
        <p:nvSpPr>
          <p:cNvPr id="289" name="Textfeld 288">
            <a:extLst>
              <a:ext uri="{FF2B5EF4-FFF2-40B4-BE49-F238E27FC236}">
                <a16:creationId xmlns:a16="http://schemas.microsoft.com/office/drawing/2014/main" id="{509ABFF2-FD7A-4A59-83DB-A0BF209C59CE}"/>
              </a:ext>
            </a:extLst>
          </p:cNvPr>
          <p:cNvSpPr txBox="1"/>
          <p:nvPr/>
        </p:nvSpPr>
        <p:spPr>
          <a:xfrm>
            <a:off x="4209345" y="3708193"/>
            <a:ext cx="12503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D-</a:t>
            </a:r>
          </a:p>
        </p:txBody>
      </p:sp>
      <p:sp>
        <p:nvSpPr>
          <p:cNvPr id="290" name="Textfeld 289">
            <a:extLst>
              <a:ext uri="{FF2B5EF4-FFF2-40B4-BE49-F238E27FC236}">
                <a16:creationId xmlns:a16="http://schemas.microsoft.com/office/drawing/2014/main" id="{FB4FEE0E-8F76-4342-A759-EF8C04797898}"/>
              </a:ext>
            </a:extLst>
          </p:cNvPr>
          <p:cNvSpPr txBox="1"/>
          <p:nvPr/>
        </p:nvSpPr>
        <p:spPr>
          <a:xfrm>
            <a:off x="3194630" y="3131963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cxnSp>
        <p:nvCxnSpPr>
          <p:cNvPr id="292" name="Verbinder: gewinkelt 291">
            <a:extLst>
              <a:ext uri="{FF2B5EF4-FFF2-40B4-BE49-F238E27FC236}">
                <a16:creationId xmlns:a16="http://schemas.microsoft.com/office/drawing/2014/main" id="{02AFA98E-7DAF-457D-9E1E-9700947816C7}"/>
              </a:ext>
            </a:extLst>
          </p:cNvPr>
          <p:cNvCxnSpPr>
            <a:cxnSpLocks/>
            <a:stCxn id="288" idx="3"/>
            <a:endCxn id="256" idx="2"/>
          </p:cNvCxnSpPr>
          <p:nvPr/>
        </p:nvCxnSpPr>
        <p:spPr>
          <a:xfrm flipV="1">
            <a:off x="4362433" y="3268642"/>
            <a:ext cx="1084181" cy="311184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Verbinder: gewinkelt 293">
            <a:extLst>
              <a:ext uri="{FF2B5EF4-FFF2-40B4-BE49-F238E27FC236}">
                <a16:creationId xmlns:a16="http://schemas.microsoft.com/office/drawing/2014/main" id="{52455471-C592-4715-B5F3-E9BB61C75262}"/>
              </a:ext>
            </a:extLst>
          </p:cNvPr>
          <p:cNvCxnSpPr>
            <a:cxnSpLocks/>
            <a:stCxn id="289" idx="3"/>
            <a:endCxn id="257" idx="2"/>
          </p:cNvCxnSpPr>
          <p:nvPr/>
        </p:nvCxnSpPr>
        <p:spPr>
          <a:xfrm flipV="1">
            <a:off x="4334379" y="3268642"/>
            <a:ext cx="1417276" cy="520343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Rechteck 296">
            <a:extLst>
              <a:ext uri="{FF2B5EF4-FFF2-40B4-BE49-F238E27FC236}">
                <a16:creationId xmlns:a16="http://schemas.microsoft.com/office/drawing/2014/main" id="{BF071DB8-B47C-48D8-B131-81E028642DA3}"/>
              </a:ext>
            </a:extLst>
          </p:cNvPr>
          <p:cNvSpPr/>
          <p:nvPr/>
        </p:nvSpPr>
        <p:spPr>
          <a:xfrm>
            <a:off x="2946816" y="3358146"/>
            <a:ext cx="1238250" cy="6074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USB C Breakout Board</a:t>
            </a:r>
          </a:p>
        </p:txBody>
      </p:sp>
      <p:cxnSp>
        <p:nvCxnSpPr>
          <p:cNvPr id="298" name="Gerader Verbinder 297">
            <a:extLst>
              <a:ext uri="{FF2B5EF4-FFF2-40B4-BE49-F238E27FC236}">
                <a16:creationId xmlns:a16="http://schemas.microsoft.com/office/drawing/2014/main" id="{C45CE2F2-324B-44F2-9230-AB9C04032E5E}"/>
              </a:ext>
            </a:extLst>
          </p:cNvPr>
          <p:cNvCxnSpPr>
            <a:cxnSpLocks/>
            <a:stCxn id="237" idx="2"/>
            <a:endCxn id="297" idx="1"/>
          </p:cNvCxnSpPr>
          <p:nvPr/>
        </p:nvCxnSpPr>
        <p:spPr>
          <a:xfrm flipV="1">
            <a:off x="891111" y="3661875"/>
            <a:ext cx="2055705" cy="680234"/>
          </a:xfrm>
          <a:prstGeom prst="bentConnector3">
            <a:avLst>
              <a:gd name="adj1" fmla="val 50000"/>
            </a:avLst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Textfeld 321">
            <a:extLst>
              <a:ext uri="{FF2B5EF4-FFF2-40B4-BE49-F238E27FC236}">
                <a16:creationId xmlns:a16="http://schemas.microsoft.com/office/drawing/2014/main" id="{32CAC357-EE61-45AA-8F37-4075F079212D}"/>
              </a:ext>
            </a:extLst>
          </p:cNvPr>
          <p:cNvSpPr txBox="1"/>
          <p:nvPr/>
        </p:nvSpPr>
        <p:spPr>
          <a:xfrm>
            <a:off x="3698652" y="3131963"/>
            <a:ext cx="90409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VBUS (left open)</a:t>
            </a:r>
          </a:p>
        </p:txBody>
      </p:sp>
      <p:sp>
        <p:nvSpPr>
          <p:cNvPr id="346" name="Rechteck 345">
            <a:extLst>
              <a:ext uri="{FF2B5EF4-FFF2-40B4-BE49-F238E27FC236}">
                <a16:creationId xmlns:a16="http://schemas.microsoft.com/office/drawing/2014/main" id="{0B834E6B-3D20-465E-A172-C3B3853B6A34}"/>
              </a:ext>
            </a:extLst>
          </p:cNvPr>
          <p:cNvSpPr/>
          <p:nvPr/>
        </p:nvSpPr>
        <p:spPr>
          <a:xfrm rot="5400000">
            <a:off x="8529888" y="2849992"/>
            <a:ext cx="242627" cy="1545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347" name="Rechteck 346">
            <a:extLst>
              <a:ext uri="{FF2B5EF4-FFF2-40B4-BE49-F238E27FC236}">
                <a16:creationId xmlns:a16="http://schemas.microsoft.com/office/drawing/2014/main" id="{F185F030-BF8A-44C2-939A-E6D4925F9371}"/>
              </a:ext>
            </a:extLst>
          </p:cNvPr>
          <p:cNvSpPr/>
          <p:nvPr/>
        </p:nvSpPr>
        <p:spPr>
          <a:xfrm rot="16200000">
            <a:off x="-125986" y="2550950"/>
            <a:ext cx="1437562" cy="5966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Speaker Panel Port</a:t>
            </a:r>
            <a:br>
              <a:rPr lang="de-DE" sz="1050"/>
            </a:br>
            <a:r>
              <a:rPr lang="de-DE" sz="1050"/>
              <a:t>(Banana Sockets)</a:t>
            </a:r>
          </a:p>
        </p:txBody>
      </p:sp>
      <p:sp>
        <p:nvSpPr>
          <p:cNvPr id="358" name="Textfeld 357">
            <a:extLst>
              <a:ext uri="{FF2B5EF4-FFF2-40B4-BE49-F238E27FC236}">
                <a16:creationId xmlns:a16="http://schemas.microsoft.com/office/drawing/2014/main" id="{74B08A6F-849D-4D47-A554-946C6894A8C3}"/>
              </a:ext>
            </a:extLst>
          </p:cNvPr>
          <p:cNvSpPr txBox="1"/>
          <p:nvPr/>
        </p:nvSpPr>
        <p:spPr>
          <a:xfrm>
            <a:off x="852903" y="2898958"/>
            <a:ext cx="5950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50"/>
              <a:t>Red (+)</a:t>
            </a:r>
          </a:p>
        </p:txBody>
      </p:sp>
      <p:sp>
        <p:nvSpPr>
          <p:cNvPr id="359" name="Textfeld 358">
            <a:extLst>
              <a:ext uri="{FF2B5EF4-FFF2-40B4-BE49-F238E27FC236}">
                <a16:creationId xmlns:a16="http://schemas.microsoft.com/office/drawing/2014/main" id="{78EDEA6E-E974-4910-BB9D-4734406ED12B}"/>
              </a:ext>
            </a:extLst>
          </p:cNvPr>
          <p:cNvSpPr txBox="1"/>
          <p:nvPr/>
        </p:nvSpPr>
        <p:spPr>
          <a:xfrm>
            <a:off x="877746" y="2587940"/>
            <a:ext cx="6463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50"/>
              <a:t>Black (-)</a:t>
            </a:r>
          </a:p>
        </p:txBody>
      </p:sp>
      <p:sp>
        <p:nvSpPr>
          <p:cNvPr id="171" name="Rechteck 170">
            <a:extLst>
              <a:ext uri="{FF2B5EF4-FFF2-40B4-BE49-F238E27FC236}">
                <a16:creationId xmlns:a16="http://schemas.microsoft.com/office/drawing/2014/main" id="{354C9745-94FE-4F51-8BC7-375613A8DA2A}"/>
              </a:ext>
            </a:extLst>
          </p:cNvPr>
          <p:cNvSpPr/>
          <p:nvPr/>
        </p:nvSpPr>
        <p:spPr>
          <a:xfrm>
            <a:off x="10556967" y="2190928"/>
            <a:ext cx="1231223" cy="414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050"/>
              <a:t>Volume Control</a:t>
            </a:r>
          </a:p>
        </p:txBody>
      </p:sp>
      <p:sp>
        <p:nvSpPr>
          <p:cNvPr id="190" name="Textfeld 189">
            <a:extLst>
              <a:ext uri="{FF2B5EF4-FFF2-40B4-BE49-F238E27FC236}">
                <a16:creationId xmlns:a16="http://schemas.microsoft.com/office/drawing/2014/main" id="{1CD0A63F-0A8A-435B-91A5-22DC3A101394}"/>
              </a:ext>
            </a:extLst>
          </p:cNvPr>
          <p:cNvSpPr txBox="1"/>
          <p:nvPr/>
        </p:nvSpPr>
        <p:spPr>
          <a:xfrm>
            <a:off x="10577475" y="2586923"/>
            <a:ext cx="150233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/>
              <a:t>Rotary Encoder 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CLK : D2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DT : D3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SW : D4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GND : GND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+ : 5V</a:t>
            </a:r>
          </a:p>
        </p:txBody>
      </p:sp>
      <p:sp>
        <p:nvSpPr>
          <p:cNvPr id="194" name="Rechteck 193">
            <a:extLst>
              <a:ext uri="{FF2B5EF4-FFF2-40B4-BE49-F238E27FC236}">
                <a16:creationId xmlns:a16="http://schemas.microsoft.com/office/drawing/2014/main" id="{7CCAC5FF-312A-4F8D-9A8B-0F1D13D7060C}"/>
              </a:ext>
            </a:extLst>
          </p:cNvPr>
          <p:cNvSpPr/>
          <p:nvPr/>
        </p:nvSpPr>
        <p:spPr>
          <a:xfrm>
            <a:off x="10133366" y="2259923"/>
            <a:ext cx="271142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50"/>
          </a:p>
        </p:txBody>
      </p: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FA31875F-8B0B-44FD-8AFF-9B8113D12537}"/>
              </a:ext>
            </a:extLst>
          </p:cNvPr>
          <p:cNvCxnSpPr>
            <a:cxnSpLocks/>
            <a:stCxn id="171" idx="1"/>
            <a:endCxn id="194" idx="3"/>
          </p:cNvCxnSpPr>
          <p:nvPr/>
        </p:nvCxnSpPr>
        <p:spPr>
          <a:xfrm flipH="1">
            <a:off x="10404508" y="2398422"/>
            <a:ext cx="152459" cy="1"/>
          </a:xfrm>
          <a:prstGeom prst="line">
            <a:avLst/>
          </a:prstGeom>
          <a:ln w="12065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Gerader Verbinder 241">
            <a:extLst>
              <a:ext uri="{FF2B5EF4-FFF2-40B4-BE49-F238E27FC236}">
                <a16:creationId xmlns:a16="http://schemas.microsoft.com/office/drawing/2014/main" id="{6819984F-09CF-4495-AD41-9D9F89DE8CE8}"/>
              </a:ext>
            </a:extLst>
          </p:cNvPr>
          <p:cNvCxnSpPr>
            <a:cxnSpLocks/>
            <a:stCxn id="123" idx="2"/>
            <a:endCxn id="146" idx="0"/>
          </p:cNvCxnSpPr>
          <p:nvPr/>
        </p:nvCxnSpPr>
        <p:spPr>
          <a:xfrm flipH="1">
            <a:off x="7960890" y="4259345"/>
            <a:ext cx="737" cy="254949"/>
          </a:xfrm>
          <a:prstGeom prst="line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Rechteck 245">
            <a:extLst>
              <a:ext uri="{FF2B5EF4-FFF2-40B4-BE49-F238E27FC236}">
                <a16:creationId xmlns:a16="http://schemas.microsoft.com/office/drawing/2014/main" id="{873B94CA-615C-4942-A262-5FB401D6F8CB}"/>
              </a:ext>
            </a:extLst>
          </p:cNvPr>
          <p:cNvSpPr/>
          <p:nvPr/>
        </p:nvSpPr>
        <p:spPr>
          <a:xfrm>
            <a:off x="2399216" y="2707714"/>
            <a:ext cx="271142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50"/>
          </a:p>
        </p:txBody>
      </p:sp>
      <p:cxnSp>
        <p:nvCxnSpPr>
          <p:cNvPr id="267" name="Verbinder: gewinkelt 208">
            <a:extLst>
              <a:ext uri="{FF2B5EF4-FFF2-40B4-BE49-F238E27FC236}">
                <a16:creationId xmlns:a16="http://schemas.microsoft.com/office/drawing/2014/main" id="{5A0CA580-B79F-42DA-A63F-23541C39345B}"/>
              </a:ext>
            </a:extLst>
          </p:cNvPr>
          <p:cNvCxnSpPr>
            <a:cxnSpLocks/>
            <a:stCxn id="347" idx="2"/>
            <a:endCxn id="246" idx="1"/>
          </p:cNvCxnSpPr>
          <p:nvPr/>
        </p:nvCxnSpPr>
        <p:spPr>
          <a:xfrm flipV="1">
            <a:off x="891111" y="2846214"/>
            <a:ext cx="1508105" cy="3052"/>
          </a:xfrm>
          <a:prstGeom prst="straightConnector1">
            <a:avLst/>
          </a:prstGeom>
          <a:ln w="38100" cmpd="dbl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Rechteck 304">
            <a:extLst>
              <a:ext uri="{FF2B5EF4-FFF2-40B4-BE49-F238E27FC236}">
                <a16:creationId xmlns:a16="http://schemas.microsoft.com/office/drawing/2014/main" id="{2C953FF2-EACD-4B17-B16B-F0B367520752}"/>
              </a:ext>
            </a:extLst>
          </p:cNvPr>
          <p:cNvSpPr/>
          <p:nvPr/>
        </p:nvSpPr>
        <p:spPr>
          <a:xfrm>
            <a:off x="2780865" y="3499034"/>
            <a:ext cx="271142" cy="276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214" name="Ellipse 213">
            <a:extLst>
              <a:ext uri="{FF2B5EF4-FFF2-40B4-BE49-F238E27FC236}">
                <a16:creationId xmlns:a16="http://schemas.microsoft.com/office/drawing/2014/main" id="{05E88ABE-27C5-450F-9502-A577E4FBE666}"/>
              </a:ext>
            </a:extLst>
          </p:cNvPr>
          <p:cNvSpPr/>
          <p:nvPr/>
        </p:nvSpPr>
        <p:spPr>
          <a:xfrm>
            <a:off x="5408069" y="1968195"/>
            <a:ext cx="287753" cy="25106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>
                <a:solidFill>
                  <a:schemeClr val="tx1"/>
                </a:solidFill>
              </a:rPr>
              <a:t>1k</a:t>
            </a:r>
          </a:p>
        </p:txBody>
      </p:sp>
      <p:sp>
        <p:nvSpPr>
          <p:cNvPr id="357" name="Textfeld 356">
            <a:extLst>
              <a:ext uri="{FF2B5EF4-FFF2-40B4-BE49-F238E27FC236}">
                <a16:creationId xmlns:a16="http://schemas.microsoft.com/office/drawing/2014/main" id="{3259B324-28F6-4CE3-925D-AD7F51F4589E}"/>
              </a:ext>
            </a:extLst>
          </p:cNvPr>
          <p:cNvSpPr txBox="1"/>
          <p:nvPr/>
        </p:nvSpPr>
        <p:spPr>
          <a:xfrm>
            <a:off x="6937721" y="3568047"/>
            <a:ext cx="14587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5V</a:t>
            </a:r>
          </a:p>
        </p:txBody>
      </p:sp>
      <p:cxnSp>
        <p:nvCxnSpPr>
          <p:cNvPr id="425" name="Gerader Verbinder 424">
            <a:extLst>
              <a:ext uri="{FF2B5EF4-FFF2-40B4-BE49-F238E27FC236}">
                <a16:creationId xmlns:a16="http://schemas.microsoft.com/office/drawing/2014/main" id="{AD3E4BD7-8671-42B0-A878-D7238330D290}"/>
              </a:ext>
            </a:extLst>
          </p:cNvPr>
          <p:cNvCxnSpPr>
            <a:cxnSpLocks/>
          </p:cNvCxnSpPr>
          <p:nvPr/>
        </p:nvCxnSpPr>
        <p:spPr>
          <a:xfrm flipH="1" flipV="1">
            <a:off x="9195313" y="2310621"/>
            <a:ext cx="1015769" cy="2077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Gerader Verbinder 429">
            <a:extLst>
              <a:ext uri="{FF2B5EF4-FFF2-40B4-BE49-F238E27FC236}">
                <a16:creationId xmlns:a16="http://schemas.microsoft.com/office/drawing/2014/main" id="{0EEF97ED-9B9D-4B3A-8764-03BDE814083E}"/>
              </a:ext>
            </a:extLst>
          </p:cNvPr>
          <p:cNvCxnSpPr>
            <a:cxnSpLocks/>
            <a:endCxn id="481" idx="3"/>
          </p:cNvCxnSpPr>
          <p:nvPr/>
        </p:nvCxnSpPr>
        <p:spPr>
          <a:xfrm flipH="1">
            <a:off x="9605978" y="2407948"/>
            <a:ext cx="623576" cy="266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Gerader Verbinder 430">
            <a:extLst>
              <a:ext uri="{FF2B5EF4-FFF2-40B4-BE49-F238E27FC236}">
                <a16:creationId xmlns:a16="http://schemas.microsoft.com/office/drawing/2014/main" id="{5D3A26F2-6F31-47CA-949C-35C70E09C29A}"/>
              </a:ext>
            </a:extLst>
          </p:cNvPr>
          <p:cNvCxnSpPr>
            <a:cxnSpLocks/>
          </p:cNvCxnSpPr>
          <p:nvPr/>
        </p:nvCxnSpPr>
        <p:spPr>
          <a:xfrm flipH="1">
            <a:off x="9587506" y="2493673"/>
            <a:ext cx="623576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Gerader Verbinder 431">
            <a:extLst>
              <a:ext uri="{FF2B5EF4-FFF2-40B4-BE49-F238E27FC236}">
                <a16:creationId xmlns:a16="http://schemas.microsoft.com/office/drawing/2014/main" id="{54278CD3-05A1-4896-A6F2-662C950A7FA4}"/>
              </a:ext>
            </a:extLst>
          </p:cNvPr>
          <p:cNvCxnSpPr>
            <a:cxnSpLocks/>
          </p:cNvCxnSpPr>
          <p:nvPr/>
        </p:nvCxnSpPr>
        <p:spPr>
          <a:xfrm flipV="1">
            <a:off x="2670358" y="2789063"/>
            <a:ext cx="2445910" cy="1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Gerader Verbinder 434">
            <a:extLst>
              <a:ext uri="{FF2B5EF4-FFF2-40B4-BE49-F238E27FC236}">
                <a16:creationId xmlns:a16="http://schemas.microsoft.com/office/drawing/2014/main" id="{64148C4C-A593-442B-A2B3-14EFF0B8C696}"/>
              </a:ext>
            </a:extLst>
          </p:cNvPr>
          <p:cNvCxnSpPr>
            <a:cxnSpLocks/>
          </p:cNvCxnSpPr>
          <p:nvPr/>
        </p:nvCxnSpPr>
        <p:spPr>
          <a:xfrm flipV="1">
            <a:off x="2670358" y="2893838"/>
            <a:ext cx="2445910" cy="1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Textfeld 435">
            <a:extLst>
              <a:ext uri="{FF2B5EF4-FFF2-40B4-BE49-F238E27FC236}">
                <a16:creationId xmlns:a16="http://schemas.microsoft.com/office/drawing/2014/main" id="{89B716C7-E4A7-40BB-AE2F-95A010974EF0}"/>
              </a:ext>
            </a:extLst>
          </p:cNvPr>
          <p:cNvSpPr txBox="1"/>
          <p:nvPr/>
        </p:nvSpPr>
        <p:spPr>
          <a:xfrm>
            <a:off x="2156926" y="4185747"/>
            <a:ext cx="17844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/>
              <a:t>Sound Upload Board Mapping</a:t>
            </a:r>
            <a:endParaRPr lang="de-DE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D+ : Pin 14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D- : Pin 15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GND : connected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>
                <a:solidFill>
                  <a:srgbClr val="FF0000"/>
                </a:solidFill>
              </a:rPr>
              <a:t>VBUS : left open</a:t>
            </a:r>
          </a:p>
        </p:txBody>
      </p:sp>
      <p:sp>
        <p:nvSpPr>
          <p:cNvPr id="444" name="Textfeld 443">
            <a:extLst>
              <a:ext uri="{FF2B5EF4-FFF2-40B4-BE49-F238E27FC236}">
                <a16:creationId xmlns:a16="http://schemas.microsoft.com/office/drawing/2014/main" id="{9E5AC0A0-E27E-4999-A321-7F545B6AAA53}"/>
              </a:ext>
            </a:extLst>
          </p:cNvPr>
          <p:cNvSpPr txBox="1"/>
          <p:nvPr/>
        </p:nvSpPr>
        <p:spPr>
          <a:xfrm>
            <a:off x="5929115" y="3103856"/>
            <a:ext cx="56906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1      7 (10)</a:t>
            </a:r>
          </a:p>
        </p:txBody>
      </p:sp>
      <p:sp>
        <p:nvSpPr>
          <p:cNvPr id="445" name="Textfeld 444">
            <a:extLst>
              <a:ext uri="{FF2B5EF4-FFF2-40B4-BE49-F238E27FC236}">
                <a16:creationId xmlns:a16="http://schemas.microsoft.com/office/drawing/2014/main" id="{184794FA-478A-4B54-8587-1D5C3082235D}"/>
              </a:ext>
            </a:extLst>
          </p:cNvPr>
          <p:cNvSpPr txBox="1"/>
          <p:nvPr/>
        </p:nvSpPr>
        <p:spPr>
          <a:xfrm>
            <a:off x="6766013" y="2247663"/>
            <a:ext cx="259686" cy="3231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de-DE" sz="1050" b="1"/>
              <a:t>5V</a:t>
            </a:r>
            <a:br>
              <a:rPr lang="de-DE" sz="1050" b="1"/>
            </a:br>
            <a:r>
              <a:rPr lang="de-DE" sz="1050" b="1"/>
              <a:t>GND</a:t>
            </a:r>
          </a:p>
        </p:txBody>
      </p:sp>
      <p:sp>
        <p:nvSpPr>
          <p:cNvPr id="446" name="Rechteck 445">
            <a:extLst>
              <a:ext uri="{FF2B5EF4-FFF2-40B4-BE49-F238E27FC236}">
                <a16:creationId xmlns:a16="http://schemas.microsoft.com/office/drawing/2014/main" id="{494EBC1D-1C3D-4DFE-BD9B-DFC58315EE7F}"/>
              </a:ext>
            </a:extLst>
          </p:cNvPr>
          <p:cNvSpPr/>
          <p:nvPr/>
        </p:nvSpPr>
        <p:spPr>
          <a:xfrm>
            <a:off x="10095633" y="3645370"/>
            <a:ext cx="313100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50"/>
          </a:p>
        </p:txBody>
      </p:sp>
      <p:cxnSp>
        <p:nvCxnSpPr>
          <p:cNvPr id="447" name="Gerader Verbinder 446">
            <a:extLst>
              <a:ext uri="{FF2B5EF4-FFF2-40B4-BE49-F238E27FC236}">
                <a16:creationId xmlns:a16="http://schemas.microsoft.com/office/drawing/2014/main" id="{DA0D4782-081C-4AB0-BD51-40EAF3234614}"/>
              </a:ext>
            </a:extLst>
          </p:cNvPr>
          <p:cNvCxnSpPr>
            <a:cxnSpLocks/>
            <a:stCxn id="450" idx="1"/>
            <a:endCxn id="446" idx="3"/>
          </p:cNvCxnSpPr>
          <p:nvPr/>
        </p:nvCxnSpPr>
        <p:spPr>
          <a:xfrm flipH="1" flipV="1">
            <a:off x="10408733" y="3783870"/>
            <a:ext cx="196147" cy="959"/>
          </a:xfrm>
          <a:prstGeom prst="line">
            <a:avLst/>
          </a:prstGeom>
          <a:ln w="38100" cmpd="dbl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8" name="Ellipse 447">
            <a:extLst>
              <a:ext uri="{FF2B5EF4-FFF2-40B4-BE49-F238E27FC236}">
                <a16:creationId xmlns:a16="http://schemas.microsoft.com/office/drawing/2014/main" id="{6F841032-39FE-4BE3-A006-1EA37D033E75}"/>
              </a:ext>
            </a:extLst>
          </p:cNvPr>
          <p:cNvSpPr/>
          <p:nvPr/>
        </p:nvSpPr>
        <p:spPr>
          <a:xfrm>
            <a:off x="8250866" y="3414160"/>
            <a:ext cx="393294" cy="25106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>
                <a:solidFill>
                  <a:schemeClr val="tx1"/>
                </a:solidFill>
              </a:rPr>
              <a:t>220</a:t>
            </a:r>
          </a:p>
        </p:txBody>
      </p:sp>
      <p:cxnSp>
        <p:nvCxnSpPr>
          <p:cNvPr id="449" name="Gerader Verbinder 335">
            <a:extLst>
              <a:ext uri="{FF2B5EF4-FFF2-40B4-BE49-F238E27FC236}">
                <a16:creationId xmlns:a16="http://schemas.microsoft.com/office/drawing/2014/main" id="{9E0E92B8-65FC-405D-AAD2-BB54DB5112CB}"/>
              </a:ext>
            </a:extLst>
          </p:cNvPr>
          <p:cNvCxnSpPr>
            <a:cxnSpLocks/>
            <a:stCxn id="448" idx="4"/>
          </p:cNvCxnSpPr>
          <p:nvPr/>
        </p:nvCxnSpPr>
        <p:spPr>
          <a:xfrm rot="16200000" flipH="1">
            <a:off x="9222115" y="2890622"/>
            <a:ext cx="106796" cy="1656000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Rechteck 449">
            <a:extLst>
              <a:ext uri="{FF2B5EF4-FFF2-40B4-BE49-F238E27FC236}">
                <a16:creationId xmlns:a16="http://schemas.microsoft.com/office/drawing/2014/main" id="{5294CFC4-6609-4E11-B931-440C5038A753}"/>
              </a:ext>
            </a:extLst>
          </p:cNvPr>
          <p:cNvSpPr/>
          <p:nvPr/>
        </p:nvSpPr>
        <p:spPr>
          <a:xfrm>
            <a:off x="10604880" y="3642331"/>
            <a:ext cx="1178341" cy="2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/>
              <a:t>Player LED</a:t>
            </a:r>
          </a:p>
        </p:txBody>
      </p:sp>
      <p:cxnSp>
        <p:nvCxnSpPr>
          <p:cNvPr id="460" name="Gerader Verbinder 459">
            <a:extLst>
              <a:ext uri="{FF2B5EF4-FFF2-40B4-BE49-F238E27FC236}">
                <a16:creationId xmlns:a16="http://schemas.microsoft.com/office/drawing/2014/main" id="{EF1B7313-63AF-414E-9FEE-A9488603D628}"/>
              </a:ext>
            </a:extLst>
          </p:cNvPr>
          <p:cNvCxnSpPr>
            <a:cxnSpLocks/>
            <a:stCxn id="448" idx="0"/>
            <a:endCxn id="463" idx="2"/>
          </p:cNvCxnSpPr>
          <p:nvPr/>
        </p:nvCxnSpPr>
        <p:spPr>
          <a:xfrm flipV="1">
            <a:off x="8447513" y="2812718"/>
            <a:ext cx="3052" cy="601442"/>
          </a:xfrm>
          <a:prstGeom prst="straightConnector1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feld 460">
            <a:extLst>
              <a:ext uri="{FF2B5EF4-FFF2-40B4-BE49-F238E27FC236}">
                <a16:creationId xmlns:a16="http://schemas.microsoft.com/office/drawing/2014/main" id="{5733726D-5422-43FE-8AC8-4506E8327223}"/>
              </a:ext>
            </a:extLst>
          </p:cNvPr>
          <p:cNvSpPr txBox="1"/>
          <p:nvPr/>
        </p:nvSpPr>
        <p:spPr>
          <a:xfrm>
            <a:off x="9638810" y="3806977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sp>
        <p:nvSpPr>
          <p:cNvPr id="463" name="Textfeld 462">
            <a:extLst>
              <a:ext uri="{FF2B5EF4-FFF2-40B4-BE49-F238E27FC236}">
                <a16:creationId xmlns:a16="http://schemas.microsoft.com/office/drawing/2014/main" id="{A927356F-2EC7-477F-A1E5-99C8B9E97349}"/>
              </a:ext>
            </a:extLst>
          </p:cNvPr>
          <p:cNvSpPr txBox="1"/>
          <p:nvPr/>
        </p:nvSpPr>
        <p:spPr>
          <a:xfrm>
            <a:off x="8374422" y="2651135"/>
            <a:ext cx="152286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D9</a:t>
            </a:r>
          </a:p>
        </p:txBody>
      </p:sp>
      <p:cxnSp>
        <p:nvCxnSpPr>
          <p:cNvPr id="471" name="Verbinder: gewinkelt 470">
            <a:extLst>
              <a:ext uri="{FF2B5EF4-FFF2-40B4-BE49-F238E27FC236}">
                <a16:creationId xmlns:a16="http://schemas.microsoft.com/office/drawing/2014/main" id="{1CE75FBD-E17B-4D0D-AC9B-C853027F7D25}"/>
              </a:ext>
            </a:extLst>
          </p:cNvPr>
          <p:cNvCxnSpPr>
            <a:cxnSpLocks/>
            <a:stCxn id="461" idx="3"/>
          </p:cNvCxnSpPr>
          <p:nvPr/>
        </p:nvCxnSpPr>
        <p:spPr>
          <a:xfrm flipV="1">
            <a:off x="9893688" y="3879766"/>
            <a:ext cx="186666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" name="Textfeld 480">
            <a:extLst>
              <a:ext uri="{FF2B5EF4-FFF2-40B4-BE49-F238E27FC236}">
                <a16:creationId xmlns:a16="http://schemas.microsoft.com/office/drawing/2014/main" id="{6657958E-345B-4958-80EC-AC6BC61437A6}"/>
              </a:ext>
            </a:extLst>
          </p:cNvPr>
          <p:cNvSpPr txBox="1"/>
          <p:nvPr/>
        </p:nvSpPr>
        <p:spPr>
          <a:xfrm>
            <a:off x="9239186" y="2172485"/>
            <a:ext cx="366792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sz="1050">
                <a:solidFill>
                  <a:schemeClr val="tx1"/>
                </a:solidFill>
              </a:rPr>
              <a:t>D2</a:t>
            </a:r>
            <a:br>
              <a:rPr lang="de-DE" sz="1050">
                <a:solidFill>
                  <a:schemeClr val="tx1"/>
                </a:solidFill>
              </a:rPr>
            </a:br>
            <a:r>
              <a:rPr lang="de-DE" sz="1050">
                <a:solidFill>
                  <a:schemeClr val="tx1"/>
                </a:solidFill>
              </a:rPr>
              <a:t>D3</a:t>
            </a:r>
            <a:br>
              <a:rPr lang="de-DE" sz="1050">
                <a:solidFill>
                  <a:schemeClr val="tx1"/>
                </a:solidFill>
              </a:rPr>
            </a:br>
            <a:r>
              <a:rPr lang="de-DE" sz="1050">
                <a:solidFill>
                  <a:schemeClr val="tx1"/>
                </a:solidFill>
              </a:rPr>
              <a:t>D4</a:t>
            </a:r>
          </a:p>
        </p:txBody>
      </p:sp>
      <p:sp>
        <p:nvSpPr>
          <p:cNvPr id="482" name="Ellipse 481">
            <a:extLst>
              <a:ext uri="{FF2B5EF4-FFF2-40B4-BE49-F238E27FC236}">
                <a16:creationId xmlns:a16="http://schemas.microsoft.com/office/drawing/2014/main" id="{BCD1F32D-D5DA-45D8-BD68-BE2DB56BF628}"/>
              </a:ext>
            </a:extLst>
          </p:cNvPr>
          <p:cNvSpPr/>
          <p:nvPr/>
        </p:nvSpPr>
        <p:spPr>
          <a:xfrm>
            <a:off x="5843719" y="3426422"/>
            <a:ext cx="706354" cy="34559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>
                <a:solidFill>
                  <a:schemeClr val="tx1"/>
                </a:solidFill>
              </a:rPr>
              <a:t>470 µF </a:t>
            </a:r>
          </a:p>
        </p:txBody>
      </p:sp>
      <p:cxnSp>
        <p:nvCxnSpPr>
          <p:cNvPr id="484" name="Gerader Verbinder 483">
            <a:extLst>
              <a:ext uri="{FF2B5EF4-FFF2-40B4-BE49-F238E27FC236}">
                <a16:creationId xmlns:a16="http://schemas.microsoft.com/office/drawing/2014/main" id="{D869EC3C-A413-4C8C-AF12-466EA24A9737}"/>
              </a:ext>
            </a:extLst>
          </p:cNvPr>
          <p:cNvCxnSpPr>
            <a:stCxn id="482" idx="1"/>
          </p:cNvCxnSpPr>
          <p:nvPr/>
        </p:nvCxnSpPr>
        <p:spPr>
          <a:xfrm flipV="1">
            <a:off x="5947162" y="3304930"/>
            <a:ext cx="0" cy="172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Gerader Verbinder 484">
            <a:extLst>
              <a:ext uri="{FF2B5EF4-FFF2-40B4-BE49-F238E27FC236}">
                <a16:creationId xmlns:a16="http://schemas.microsoft.com/office/drawing/2014/main" id="{8A5DABD0-D5AE-4572-9723-4F9083DB1CC7}"/>
              </a:ext>
            </a:extLst>
          </p:cNvPr>
          <p:cNvCxnSpPr>
            <a:cxnSpLocks/>
            <a:stCxn id="482" idx="7"/>
          </p:cNvCxnSpPr>
          <p:nvPr/>
        </p:nvCxnSpPr>
        <p:spPr>
          <a:xfrm flipH="1" flipV="1">
            <a:off x="6441176" y="3288522"/>
            <a:ext cx="0" cy="18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hteck 150">
            <a:extLst>
              <a:ext uri="{FF2B5EF4-FFF2-40B4-BE49-F238E27FC236}">
                <a16:creationId xmlns:a16="http://schemas.microsoft.com/office/drawing/2014/main" id="{070857AC-D4A5-41ED-BC2C-4382243BA073}"/>
              </a:ext>
            </a:extLst>
          </p:cNvPr>
          <p:cNvSpPr/>
          <p:nvPr/>
        </p:nvSpPr>
        <p:spPr>
          <a:xfrm>
            <a:off x="8862466" y="2007211"/>
            <a:ext cx="271142" cy="276999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163" name="Rechteck 162">
            <a:extLst>
              <a:ext uri="{FF2B5EF4-FFF2-40B4-BE49-F238E27FC236}">
                <a16:creationId xmlns:a16="http://schemas.microsoft.com/office/drawing/2014/main" id="{6620F3EC-E7DF-4BA2-9CB8-B9B3E05A40F0}"/>
              </a:ext>
            </a:extLst>
          </p:cNvPr>
          <p:cNvSpPr/>
          <p:nvPr/>
        </p:nvSpPr>
        <p:spPr>
          <a:xfrm>
            <a:off x="8405215" y="648884"/>
            <a:ext cx="1224284" cy="5966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Service </a:t>
            </a:r>
            <a:br>
              <a:rPr lang="de-DE" sz="1050"/>
            </a:br>
            <a:r>
              <a:rPr lang="de-DE" sz="1050"/>
              <a:t>Panel Port (USB)</a:t>
            </a:r>
          </a:p>
        </p:txBody>
      </p:sp>
      <p:cxnSp>
        <p:nvCxnSpPr>
          <p:cNvPr id="165" name="Gerader Verbinder 164">
            <a:extLst>
              <a:ext uri="{FF2B5EF4-FFF2-40B4-BE49-F238E27FC236}">
                <a16:creationId xmlns:a16="http://schemas.microsoft.com/office/drawing/2014/main" id="{D86C80A3-D06C-41CF-98EA-C550E44B949B}"/>
              </a:ext>
            </a:extLst>
          </p:cNvPr>
          <p:cNvCxnSpPr>
            <a:cxnSpLocks/>
            <a:stCxn id="163" idx="2"/>
            <a:endCxn id="151" idx="0"/>
          </p:cNvCxnSpPr>
          <p:nvPr/>
        </p:nvCxnSpPr>
        <p:spPr>
          <a:xfrm flipH="1">
            <a:off x="8998037" y="1245516"/>
            <a:ext cx="19320" cy="761695"/>
          </a:xfrm>
          <a:prstGeom prst="line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feld 169">
            <a:extLst>
              <a:ext uri="{FF2B5EF4-FFF2-40B4-BE49-F238E27FC236}">
                <a16:creationId xmlns:a16="http://schemas.microsoft.com/office/drawing/2014/main" id="{5DED1841-1AF2-42B5-994A-8C5C95D4DB7F}"/>
              </a:ext>
            </a:extLst>
          </p:cNvPr>
          <p:cNvSpPr txBox="1"/>
          <p:nvPr/>
        </p:nvSpPr>
        <p:spPr>
          <a:xfrm>
            <a:off x="10080354" y="346789"/>
            <a:ext cx="19848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/>
              <a:t>Service 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GND, D-, D+ pass thru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>
                <a:solidFill>
                  <a:srgbClr val="FF0000"/>
                </a:solidFill>
              </a:rPr>
              <a:t>VBUS left open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connect computer for software</a:t>
            </a:r>
            <a:br>
              <a:rPr lang="de-DE" sz="1000"/>
            </a:br>
            <a:r>
              <a:rPr lang="de-DE" sz="1000"/>
              <a:t>upload and debugging</a:t>
            </a:r>
          </a:p>
        </p:txBody>
      </p:sp>
      <p:sp>
        <p:nvSpPr>
          <p:cNvPr id="182" name="Textfeld 181">
            <a:extLst>
              <a:ext uri="{FF2B5EF4-FFF2-40B4-BE49-F238E27FC236}">
                <a16:creationId xmlns:a16="http://schemas.microsoft.com/office/drawing/2014/main" id="{1B4B742F-A411-4346-A148-F6288BA57588}"/>
              </a:ext>
            </a:extLst>
          </p:cNvPr>
          <p:cNvSpPr txBox="1"/>
          <p:nvPr/>
        </p:nvSpPr>
        <p:spPr>
          <a:xfrm>
            <a:off x="8492466" y="3944046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sp>
        <p:nvSpPr>
          <p:cNvPr id="183" name="Textfeld 182">
            <a:extLst>
              <a:ext uri="{FF2B5EF4-FFF2-40B4-BE49-F238E27FC236}">
                <a16:creationId xmlns:a16="http://schemas.microsoft.com/office/drawing/2014/main" id="{FE2F2558-A33C-4DF9-86AC-172D95FE8E4A}"/>
              </a:ext>
            </a:extLst>
          </p:cNvPr>
          <p:cNvSpPr txBox="1"/>
          <p:nvPr/>
        </p:nvSpPr>
        <p:spPr>
          <a:xfrm>
            <a:off x="6937721" y="3934810"/>
            <a:ext cx="14587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5V</a:t>
            </a:r>
          </a:p>
        </p:txBody>
      </p:sp>
      <p:cxnSp>
        <p:nvCxnSpPr>
          <p:cNvPr id="184" name="Verbinder: gewinkelt 470">
            <a:extLst>
              <a:ext uri="{FF2B5EF4-FFF2-40B4-BE49-F238E27FC236}">
                <a16:creationId xmlns:a16="http://schemas.microsoft.com/office/drawing/2014/main" id="{4B2CDC05-ACDC-4A2C-AE15-60C1B4B7A9E7}"/>
              </a:ext>
            </a:extLst>
          </p:cNvPr>
          <p:cNvCxnSpPr>
            <a:cxnSpLocks/>
            <a:stCxn id="183" idx="3"/>
          </p:cNvCxnSpPr>
          <p:nvPr/>
        </p:nvCxnSpPr>
        <p:spPr>
          <a:xfrm>
            <a:off x="7083595" y="4015602"/>
            <a:ext cx="640059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Verbinder: gewinkelt 470">
            <a:extLst>
              <a:ext uri="{FF2B5EF4-FFF2-40B4-BE49-F238E27FC236}">
                <a16:creationId xmlns:a16="http://schemas.microsoft.com/office/drawing/2014/main" id="{14DA0739-02B5-4D32-BEFA-CBA5979FE7EA}"/>
              </a:ext>
            </a:extLst>
          </p:cNvPr>
          <p:cNvCxnSpPr>
            <a:cxnSpLocks/>
            <a:endCxn id="182" idx="1"/>
          </p:cNvCxnSpPr>
          <p:nvPr/>
        </p:nvCxnSpPr>
        <p:spPr>
          <a:xfrm>
            <a:off x="8244021" y="4010295"/>
            <a:ext cx="248445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feld 168">
            <a:extLst>
              <a:ext uri="{FF2B5EF4-FFF2-40B4-BE49-F238E27FC236}">
                <a16:creationId xmlns:a16="http://schemas.microsoft.com/office/drawing/2014/main" id="{754B5183-B504-4520-90B3-BDB7BB05AA8B}"/>
              </a:ext>
            </a:extLst>
          </p:cNvPr>
          <p:cNvSpPr txBox="1"/>
          <p:nvPr/>
        </p:nvSpPr>
        <p:spPr>
          <a:xfrm>
            <a:off x="268968" y="4990631"/>
            <a:ext cx="1992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/>
              <a:t>Sound Upload</a:t>
            </a:r>
            <a:endParaRPr lang="de-DE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connect computer USB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use explorer to manage sd card</a:t>
            </a:r>
          </a:p>
        </p:txBody>
      </p:sp>
      <p:sp>
        <p:nvSpPr>
          <p:cNvPr id="177" name="Textfeld 176">
            <a:extLst>
              <a:ext uri="{FF2B5EF4-FFF2-40B4-BE49-F238E27FC236}">
                <a16:creationId xmlns:a16="http://schemas.microsoft.com/office/drawing/2014/main" id="{4A01B606-B581-433F-A1AD-815F5149FEBE}"/>
              </a:ext>
            </a:extLst>
          </p:cNvPr>
          <p:cNvSpPr txBox="1"/>
          <p:nvPr/>
        </p:nvSpPr>
        <p:spPr>
          <a:xfrm>
            <a:off x="234062" y="1587297"/>
            <a:ext cx="156164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/>
              <a:t>Speaker</a:t>
            </a:r>
            <a:endParaRPr lang="de-DE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connect 8 Ohm 4 Watt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use banana connectors</a:t>
            </a: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30B57D2F-5972-43B8-AE11-71DF6CB1BE22}"/>
              </a:ext>
            </a:extLst>
          </p:cNvPr>
          <p:cNvSpPr txBox="1"/>
          <p:nvPr/>
        </p:nvSpPr>
        <p:spPr>
          <a:xfrm>
            <a:off x="6542462" y="2635043"/>
            <a:ext cx="1242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/>
              <a:t>5V and GND connections </a:t>
            </a:r>
            <a:br>
              <a:rPr lang="de-DE" sz="800"/>
            </a:br>
            <a:r>
              <a:rPr lang="de-DE" sz="800"/>
              <a:t>not shown in diagram</a:t>
            </a:r>
          </a:p>
        </p:txBody>
      </p:sp>
      <p:sp>
        <p:nvSpPr>
          <p:cNvPr id="146" name="Rechteck 145">
            <a:extLst>
              <a:ext uri="{FF2B5EF4-FFF2-40B4-BE49-F238E27FC236}">
                <a16:creationId xmlns:a16="http://schemas.microsoft.com/office/drawing/2014/main" id="{1ADD2CA3-8759-4943-8063-993D94DCA3D2}"/>
              </a:ext>
            </a:extLst>
          </p:cNvPr>
          <p:cNvSpPr/>
          <p:nvPr/>
        </p:nvSpPr>
        <p:spPr>
          <a:xfrm>
            <a:off x="7348748" y="4514294"/>
            <a:ext cx="1224284" cy="5966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Activity Bus </a:t>
            </a:r>
            <a:br>
              <a:rPr lang="de-DE" sz="1050"/>
            </a:br>
            <a:r>
              <a:rPr lang="de-DE" sz="1050"/>
              <a:t>Panel Port (USB)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44691D0-EE19-4165-8353-F0345C82B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Sound Module</a:t>
            </a:r>
          </a:p>
        </p:txBody>
      </p: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F03909D7-89EA-453E-BC24-36282B621F95}"/>
              </a:ext>
            </a:extLst>
          </p:cNvPr>
          <p:cNvCxnSpPr>
            <a:cxnSpLocks/>
            <a:stCxn id="194" idx="1"/>
            <a:endCxn id="153" idx="3"/>
          </p:cNvCxnSpPr>
          <p:nvPr/>
        </p:nvCxnSpPr>
        <p:spPr>
          <a:xfrm rot="10800000">
            <a:off x="9989766" y="1925459"/>
            <a:ext cx="143601" cy="472964"/>
          </a:xfrm>
          <a:prstGeom prst="bentConnector3">
            <a:avLst>
              <a:gd name="adj1" fmla="val -16329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feld 152">
            <a:extLst>
              <a:ext uri="{FF2B5EF4-FFF2-40B4-BE49-F238E27FC236}">
                <a16:creationId xmlns:a16="http://schemas.microsoft.com/office/drawing/2014/main" id="{E7911481-17B2-466B-9312-AA489637A752}"/>
              </a:ext>
            </a:extLst>
          </p:cNvPr>
          <p:cNvSpPr txBox="1"/>
          <p:nvPr/>
        </p:nvSpPr>
        <p:spPr>
          <a:xfrm>
            <a:off x="9734887" y="1844667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cxnSp>
        <p:nvCxnSpPr>
          <p:cNvPr id="157" name="Gerader Verbinder 148">
            <a:extLst>
              <a:ext uri="{FF2B5EF4-FFF2-40B4-BE49-F238E27FC236}">
                <a16:creationId xmlns:a16="http://schemas.microsoft.com/office/drawing/2014/main" id="{95E9883F-14D1-43A2-AD2D-5589D310F688}"/>
              </a:ext>
            </a:extLst>
          </p:cNvPr>
          <p:cNvCxnSpPr>
            <a:cxnSpLocks/>
            <a:stCxn id="194" idx="1"/>
            <a:endCxn id="158" idx="3"/>
          </p:cNvCxnSpPr>
          <p:nvPr/>
        </p:nvCxnSpPr>
        <p:spPr>
          <a:xfrm rot="10800000" flipV="1">
            <a:off x="10002892" y="2398423"/>
            <a:ext cx="130475" cy="478756"/>
          </a:xfrm>
          <a:prstGeom prst="bentConnector3">
            <a:avLst>
              <a:gd name="adj1" fmla="val -30302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feld 157">
            <a:extLst>
              <a:ext uri="{FF2B5EF4-FFF2-40B4-BE49-F238E27FC236}">
                <a16:creationId xmlns:a16="http://schemas.microsoft.com/office/drawing/2014/main" id="{7DA36872-3B07-4A5E-A24D-AF293203D455}"/>
              </a:ext>
            </a:extLst>
          </p:cNvPr>
          <p:cNvSpPr txBox="1"/>
          <p:nvPr/>
        </p:nvSpPr>
        <p:spPr>
          <a:xfrm>
            <a:off x="9748013" y="2796387"/>
            <a:ext cx="25487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050"/>
              <a:t>5V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04E501EB-2BEB-4BB2-9045-F61B45F706F8}"/>
              </a:ext>
            </a:extLst>
          </p:cNvPr>
          <p:cNvSpPr txBox="1"/>
          <p:nvPr/>
        </p:nvSpPr>
        <p:spPr>
          <a:xfrm>
            <a:off x="8704128" y="4472171"/>
            <a:ext cx="2322752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b="1"/>
              <a:t>I2C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Address: 0x10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Libraries: </a:t>
            </a:r>
          </a:p>
          <a:p>
            <a:pPr marL="360000" lvl="1" indent="-171450">
              <a:buFont typeface="Symbol" panose="05050102010706020507" pitchFamily="18" charset="2"/>
              <a:buChar char="-"/>
            </a:pPr>
            <a:r>
              <a:rPr lang="de-DE" sz="105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dfrobot</a:t>
            </a:r>
            <a:r>
              <a:rPr lang="de-DE" sz="1050"/>
              <a:t>/DFRobotDFPlayerMini</a:t>
            </a:r>
          </a:p>
          <a:p>
            <a:pPr marL="360000" lvl="1" indent="-171450">
              <a:buFont typeface="Symbol" panose="05050102010706020507" pitchFamily="18" charset="2"/>
              <a:buChar char="-"/>
            </a:pPr>
            <a:r>
              <a:rPr lang="de-DE" sz="105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paulstoffregen/Encoder</a:t>
            </a:r>
          </a:p>
          <a:p>
            <a:pPr marL="360000" lvl="1" indent="-171450">
              <a:buFont typeface="Symbol" panose="05050102010706020507" pitchFamily="18" charset="2"/>
              <a:buChar char="-"/>
            </a:pPr>
            <a:r>
              <a:rPr lang="de-DE" sz="105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arkhipenko/TaskScheduler</a:t>
            </a:r>
          </a:p>
        </p:txBody>
      </p:sp>
    </p:spTree>
    <p:extLst>
      <p:ext uri="{BB962C8B-B14F-4D97-AF65-F5344CB8AC3E}">
        <p14:creationId xmlns:p14="http://schemas.microsoft.com/office/powerpoint/2010/main" val="1684981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nbelegung des DFPlayer Mini">
            <a:extLst>
              <a:ext uri="{FF2B5EF4-FFF2-40B4-BE49-F238E27FC236}">
                <a16:creationId xmlns:a16="http://schemas.microsoft.com/office/drawing/2014/main" id="{802EE27A-3205-44B8-B56B-5C4229C34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6035" y="93133"/>
            <a:ext cx="3224107" cy="2370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7070A5B-19CF-4870-98AC-61E90EE69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586" y="2472267"/>
            <a:ext cx="5404556" cy="427566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419424E-F768-4D6F-8455-A483E287C3B0}"/>
              </a:ext>
            </a:extLst>
          </p:cNvPr>
          <p:cNvSpPr txBox="1"/>
          <p:nvPr/>
        </p:nvSpPr>
        <p:spPr>
          <a:xfrm>
            <a:off x="593658" y="339004"/>
            <a:ext cx="485581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DFRobotDFPlayerMini</a:t>
            </a:r>
            <a:r>
              <a:rPr lang="de-DE" sz="1400" b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400" b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de-DE" sz="1400" b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SoftwareSerial</a:t>
            </a:r>
            <a:r>
              <a:rPr lang="en-US" sz="1400" b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playerSerial</a:t>
            </a:r>
            <a:r>
              <a:rPr lang="en-US" sz="1400" b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400" b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>
                <a:solidFill>
                  <a:srgbClr val="95A5A6"/>
                </a:solidFill>
                <a:effectLst/>
                <a:latin typeface="Consolas" panose="020B0609020204030204" pitchFamily="49" charset="0"/>
              </a:rPr>
              <a:t>  // RX, TX</a:t>
            </a:r>
            <a:endParaRPr lang="en-US" sz="1400" b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400"/>
              <a:t>…</a:t>
            </a:r>
            <a:br>
              <a:rPr lang="de-DE" sz="1400"/>
            </a:br>
            <a:r>
              <a:rPr lang="de-DE" sz="1400" err="1"/>
              <a:t>setup</a:t>
            </a:r>
            <a:endParaRPr lang="de-DE" sz="1400"/>
          </a:p>
          <a:p>
            <a:r>
              <a:rPr lang="de-DE" sz="1400">
                <a:solidFill>
                  <a:srgbClr val="D35400"/>
                </a:solidFill>
                <a:latin typeface="Consolas" panose="020B0609020204030204" pitchFamily="49" charset="0"/>
              </a:rPr>
              <a:t>  </a:t>
            </a:r>
            <a:r>
              <a:rPr lang="de-DE" sz="1400" b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playerSerial</a:t>
            </a:r>
            <a:r>
              <a:rPr lang="de-DE" sz="1400" b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400" b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de-DE" sz="1400" b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400" b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9600</a:t>
            </a:r>
            <a:r>
              <a:rPr lang="de-DE" sz="1400" b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sz="1400" b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de-DE" sz="1400" b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de-DE" sz="1400" b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sz="1400" b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playerSerial</a:t>
            </a:r>
            <a:r>
              <a:rPr lang="en-US" sz="1400" b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400" b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1400" b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de-DE" sz="1400" b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loop</a:t>
            </a:r>
            <a:br>
              <a:rPr lang="de-DE" sz="1400" b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r>
              <a:rPr lang="de-DE" sz="1400" b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de-DE" sz="1400" b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de-DE" sz="1400" b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400" b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de-DE" sz="1400" b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de-DE" sz="1400" b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D0C2AC1-D49E-47E7-98C6-99DD1FA4CAEA}"/>
              </a:ext>
            </a:extLst>
          </p:cNvPr>
          <p:cNvSpPr txBox="1"/>
          <p:nvPr/>
        </p:nvSpPr>
        <p:spPr>
          <a:xfrm>
            <a:off x="381000" y="2616200"/>
            <a:ext cx="504497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latin typeface="Consolas" panose="020B0609020204030204" pitchFamily="49" charset="0"/>
              </a:rPr>
              <a:t>Arduino Pin auf Player Pin</a:t>
            </a:r>
          </a:p>
          <a:p>
            <a:pPr marL="285750" indent="-285750">
              <a:buFontTx/>
              <a:buChar char="-"/>
            </a:pPr>
            <a:r>
              <a:rPr lang="de-DE" sz="1400">
                <a:latin typeface="Consolas" panose="020B0609020204030204" pitchFamily="49" charset="0"/>
              </a:rPr>
              <a:t>D2 (TX) auf 10 (RX) braucht 1 k Ohm Widerstand</a:t>
            </a:r>
          </a:p>
          <a:p>
            <a:pPr marL="285750" indent="-285750">
              <a:buFontTx/>
              <a:buChar char="-"/>
            </a:pPr>
            <a:r>
              <a:rPr lang="de-DE" sz="1400">
                <a:latin typeface="Consolas" panose="020B0609020204030204" pitchFamily="49" charset="0"/>
              </a:rPr>
              <a:t>D3 (RX) auf 11 (TX)</a:t>
            </a:r>
          </a:p>
        </p:txBody>
      </p:sp>
    </p:spTree>
    <p:extLst>
      <p:ext uri="{BB962C8B-B14F-4D97-AF65-F5344CB8AC3E}">
        <p14:creationId xmlns:p14="http://schemas.microsoft.com/office/powerpoint/2010/main" val="1036943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7AEB966-3C77-4E8D-A40C-4FD3CCA4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Numpad Module</a:t>
            </a:r>
          </a:p>
        </p:txBody>
      </p:sp>
    </p:spTree>
    <p:extLst>
      <p:ext uri="{BB962C8B-B14F-4D97-AF65-F5344CB8AC3E}">
        <p14:creationId xmlns:p14="http://schemas.microsoft.com/office/powerpoint/2010/main" val="3429327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C6FE79-B9AE-4A86-BA21-1691DCF60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Numpad Module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EC744CD-49AF-4519-BBD3-98DC18C0A490}"/>
              </a:ext>
            </a:extLst>
          </p:cNvPr>
          <p:cNvSpPr/>
          <p:nvPr/>
        </p:nvSpPr>
        <p:spPr>
          <a:xfrm>
            <a:off x="2506375" y="1379879"/>
            <a:ext cx="4448607" cy="27456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de-DE" sz="140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6FAABFF-D107-468E-9DAB-B2C07003CFE1}"/>
              </a:ext>
            </a:extLst>
          </p:cNvPr>
          <p:cNvSpPr/>
          <p:nvPr/>
        </p:nvSpPr>
        <p:spPr>
          <a:xfrm>
            <a:off x="2268402" y="2571204"/>
            <a:ext cx="475946" cy="276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6F72438-2631-498A-93FE-E94A6B407DC9}"/>
              </a:ext>
            </a:extLst>
          </p:cNvPr>
          <p:cNvSpPr txBox="1"/>
          <p:nvPr/>
        </p:nvSpPr>
        <p:spPr>
          <a:xfrm>
            <a:off x="5221704" y="1659389"/>
            <a:ext cx="1688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Numpad Module Board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C8980B2-FF0B-49EB-BF73-420EFE0B7D26}"/>
              </a:ext>
            </a:extLst>
          </p:cNvPr>
          <p:cNvCxnSpPr>
            <a:cxnSpLocks/>
            <a:stCxn id="4" idx="1"/>
            <a:endCxn id="7" idx="3"/>
          </p:cNvCxnSpPr>
          <p:nvPr/>
        </p:nvCxnSpPr>
        <p:spPr>
          <a:xfrm flipH="1">
            <a:off x="1834851" y="2709704"/>
            <a:ext cx="433551" cy="0"/>
          </a:xfrm>
          <a:prstGeom prst="line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2E8C89E6-3AE5-4D17-842E-4FD0D3BDA2ED}"/>
              </a:ext>
            </a:extLst>
          </p:cNvPr>
          <p:cNvSpPr/>
          <p:nvPr/>
        </p:nvSpPr>
        <p:spPr>
          <a:xfrm>
            <a:off x="610567" y="2411388"/>
            <a:ext cx="1224284" cy="5966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Activity Bus </a:t>
            </a:r>
            <a:br>
              <a:rPr lang="de-DE" sz="1050"/>
            </a:br>
            <a:r>
              <a:rPr lang="de-DE" sz="1050"/>
              <a:t>Panel Port (USB)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0F2217F-2FA8-4C90-AEF8-5405AC483490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2744348" y="2709704"/>
            <a:ext cx="908749" cy="0"/>
          </a:xfrm>
          <a:prstGeom prst="line">
            <a:avLst/>
          </a:prstGeom>
          <a:ln w="73025" cmpd="tri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1F4B38DF-B6F8-4A51-9C54-A11FB8887326}"/>
              </a:ext>
            </a:extLst>
          </p:cNvPr>
          <p:cNvSpPr/>
          <p:nvPr/>
        </p:nvSpPr>
        <p:spPr>
          <a:xfrm>
            <a:off x="3653097" y="2471579"/>
            <a:ext cx="2155161" cy="476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PCF8574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1E5E489-8F8A-4158-B3FF-D951437445B8}"/>
              </a:ext>
            </a:extLst>
          </p:cNvPr>
          <p:cNvSpPr txBox="1"/>
          <p:nvPr/>
        </p:nvSpPr>
        <p:spPr>
          <a:xfrm>
            <a:off x="3279233" y="2366328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6F1C7A7-94D3-437F-A644-0A536426AF40}"/>
              </a:ext>
            </a:extLst>
          </p:cNvPr>
          <p:cNvSpPr txBox="1"/>
          <p:nvPr/>
        </p:nvSpPr>
        <p:spPr>
          <a:xfrm>
            <a:off x="3296065" y="2184535"/>
            <a:ext cx="22121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VCC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DEDB657-E6B6-4B35-8560-BF3A8C0B7922}"/>
              </a:ext>
            </a:extLst>
          </p:cNvPr>
          <p:cNvSpPr/>
          <p:nvPr/>
        </p:nvSpPr>
        <p:spPr>
          <a:xfrm>
            <a:off x="4138179" y="4575110"/>
            <a:ext cx="1670074" cy="5966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Numpad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5258AE5-2960-40DA-B34D-E13C021B3E83}"/>
              </a:ext>
            </a:extLst>
          </p:cNvPr>
          <p:cNvSpPr txBox="1"/>
          <p:nvPr/>
        </p:nvSpPr>
        <p:spPr>
          <a:xfrm>
            <a:off x="3311293" y="2983347"/>
            <a:ext cx="19075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SCL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FA935AFC-07E8-4B54-87EF-A256C6EC14FD}"/>
              </a:ext>
            </a:extLst>
          </p:cNvPr>
          <p:cNvSpPr txBox="1"/>
          <p:nvPr/>
        </p:nvSpPr>
        <p:spPr>
          <a:xfrm>
            <a:off x="3294462" y="2801554"/>
            <a:ext cx="224420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SDA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BE2FE2C4-1C2E-4C93-9B71-E62C39C97F25}"/>
              </a:ext>
            </a:extLst>
          </p:cNvPr>
          <p:cNvSpPr txBox="1"/>
          <p:nvPr/>
        </p:nvSpPr>
        <p:spPr>
          <a:xfrm>
            <a:off x="956824" y="952545"/>
            <a:ext cx="13115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USB Pin Belegung</a:t>
            </a:r>
            <a:br>
              <a:rPr lang="de-DE" sz="1200" b="1"/>
            </a:br>
            <a:endParaRPr lang="de-DE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G : GND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D- : SDA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D+ : SCL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V : VCC (5V)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F19D6DD-8014-42AF-8934-E707A82513EE}"/>
              </a:ext>
            </a:extLst>
          </p:cNvPr>
          <p:cNvSpPr/>
          <p:nvPr/>
        </p:nvSpPr>
        <p:spPr>
          <a:xfrm>
            <a:off x="4138178" y="3968560"/>
            <a:ext cx="313100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50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426E1315-530F-4280-B276-C6F3FE6BAFD8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4294728" y="4245559"/>
            <a:ext cx="0" cy="329551"/>
          </a:xfrm>
          <a:prstGeom prst="line">
            <a:avLst/>
          </a:prstGeom>
          <a:ln w="38100" cmpd="dbl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89763073-C3BA-414E-B6A2-15128BC95EDC}"/>
              </a:ext>
            </a:extLst>
          </p:cNvPr>
          <p:cNvSpPr txBox="1"/>
          <p:nvPr/>
        </p:nvSpPr>
        <p:spPr>
          <a:xfrm>
            <a:off x="3917471" y="3751859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cxnSp>
        <p:nvCxnSpPr>
          <p:cNvPr id="34" name="Verbinder: gewinkelt 470">
            <a:extLst>
              <a:ext uri="{FF2B5EF4-FFF2-40B4-BE49-F238E27FC236}">
                <a16:creationId xmlns:a16="http://schemas.microsoft.com/office/drawing/2014/main" id="{B613DC5D-5139-4BC4-971B-5598FFAA5037}"/>
              </a:ext>
            </a:extLst>
          </p:cNvPr>
          <p:cNvCxnSpPr>
            <a:cxnSpLocks/>
          </p:cNvCxnSpPr>
          <p:nvPr/>
        </p:nvCxnSpPr>
        <p:spPr>
          <a:xfrm>
            <a:off x="4248548" y="3806977"/>
            <a:ext cx="0" cy="16158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Verbinder: gewinkelt 470">
            <a:extLst>
              <a:ext uri="{FF2B5EF4-FFF2-40B4-BE49-F238E27FC236}">
                <a16:creationId xmlns:a16="http://schemas.microsoft.com/office/drawing/2014/main" id="{E4A80945-05A5-4817-BFC5-9632A7967140}"/>
              </a:ext>
            </a:extLst>
          </p:cNvPr>
          <p:cNvCxnSpPr>
            <a:cxnSpLocks/>
          </p:cNvCxnSpPr>
          <p:nvPr/>
        </p:nvCxnSpPr>
        <p:spPr>
          <a:xfrm>
            <a:off x="4400948" y="3802363"/>
            <a:ext cx="0" cy="16158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6867D794-AEDF-4514-9C4D-9D81DC9CB0E0}"/>
              </a:ext>
            </a:extLst>
          </p:cNvPr>
          <p:cNvSpPr txBox="1"/>
          <p:nvPr/>
        </p:nvSpPr>
        <p:spPr>
          <a:xfrm>
            <a:off x="4465623" y="3748589"/>
            <a:ext cx="22121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VCC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0D75C4AC-1F3F-4C12-A77F-D41CB60314CD}"/>
              </a:ext>
            </a:extLst>
          </p:cNvPr>
          <p:cNvSpPr/>
          <p:nvPr/>
        </p:nvSpPr>
        <p:spPr>
          <a:xfrm>
            <a:off x="4966252" y="3994836"/>
            <a:ext cx="842003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50"/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1B09F344-5FD9-452C-81C3-5661EC49E162}"/>
              </a:ext>
            </a:extLst>
          </p:cNvPr>
          <p:cNvCxnSpPr>
            <a:cxnSpLocks/>
          </p:cNvCxnSpPr>
          <p:nvPr/>
        </p:nvCxnSpPr>
        <p:spPr>
          <a:xfrm flipV="1">
            <a:off x="5116320" y="2957266"/>
            <a:ext cx="0" cy="103438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0CCCC499-2291-4640-959C-98B73FED5412}"/>
              </a:ext>
            </a:extLst>
          </p:cNvPr>
          <p:cNvCxnSpPr>
            <a:cxnSpLocks/>
          </p:cNvCxnSpPr>
          <p:nvPr/>
        </p:nvCxnSpPr>
        <p:spPr>
          <a:xfrm flipV="1">
            <a:off x="5207914" y="2957266"/>
            <a:ext cx="0" cy="103438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8E18D386-CC8F-4DD3-BF70-4CF91521B236}"/>
              </a:ext>
            </a:extLst>
          </p:cNvPr>
          <p:cNvCxnSpPr>
            <a:cxnSpLocks/>
          </p:cNvCxnSpPr>
          <p:nvPr/>
        </p:nvCxnSpPr>
        <p:spPr>
          <a:xfrm flipV="1">
            <a:off x="5299508" y="2957266"/>
            <a:ext cx="0" cy="103438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00411E19-635A-4B91-A219-F7C78F663007}"/>
              </a:ext>
            </a:extLst>
          </p:cNvPr>
          <p:cNvCxnSpPr>
            <a:cxnSpLocks/>
          </p:cNvCxnSpPr>
          <p:nvPr/>
        </p:nvCxnSpPr>
        <p:spPr>
          <a:xfrm flipV="1">
            <a:off x="5391102" y="2957266"/>
            <a:ext cx="0" cy="103438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EB303F1C-9C26-4329-9DE1-AFD916272A94}"/>
              </a:ext>
            </a:extLst>
          </p:cNvPr>
          <p:cNvCxnSpPr>
            <a:cxnSpLocks/>
          </p:cNvCxnSpPr>
          <p:nvPr/>
        </p:nvCxnSpPr>
        <p:spPr>
          <a:xfrm flipV="1">
            <a:off x="5482696" y="2957266"/>
            <a:ext cx="0" cy="103438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7ADD7CC2-BD87-4AF1-9D57-E20B53549320}"/>
              </a:ext>
            </a:extLst>
          </p:cNvPr>
          <p:cNvCxnSpPr>
            <a:cxnSpLocks/>
          </p:cNvCxnSpPr>
          <p:nvPr/>
        </p:nvCxnSpPr>
        <p:spPr>
          <a:xfrm flipV="1">
            <a:off x="5574290" y="2957266"/>
            <a:ext cx="0" cy="103438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A616602B-FE5F-4145-AB10-118E3D043CF3}"/>
              </a:ext>
            </a:extLst>
          </p:cNvPr>
          <p:cNvCxnSpPr>
            <a:cxnSpLocks/>
          </p:cNvCxnSpPr>
          <p:nvPr/>
        </p:nvCxnSpPr>
        <p:spPr>
          <a:xfrm flipV="1">
            <a:off x="5665884" y="2957266"/>
            <a:ext cx="0" cy="103438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D32A9C08-C11E-46AC-B318-8F22C3BF06AE}"/>
              </a:ext>
            </a:extLst>
          </p:cNvPr>
          <p:cNvCxnSpPr>
            <a:cxnSpLocks/>
          </p:cNvCxnSpPr>
          <p:nvPr/>
        </p:nvCxnSpPr>
        <p:spPr>
          <a:xfrm flipV="1">
            <a:off x="5116320" y="4264031"/>
            <a:ext cx="0" cy="30327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5C13E2FE-0BBC-4449-9A4A-66C5B53AF63B}"/>
              </a:ext>
            </a:extLst>
          </p:cNvPr>
          <p:cNvCxnSpPr>
            <a:cxnSpLocks/>
          </p:cNvCxnSpPr>
          <p:nvPr/>
        </p:nvCxnSpPr>
        <p:spPr>
          <a:xfrm flipV="1">
            <a:off x="5194829" y="4264031"/>
            <a:ext cx="0" cy="30327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0787AC6F-67EB-4D04-B4A8-6F67D923A3D4}"/>
              </a:ext>
            </a:extLst>
          </p:cNvPr>
          <p:cNvCxnSpPr>
            <a:cxnSpLocks/>
          </p:cNvCxnSpPr>
          <p:nvPr/>
        </p:nvCxnSpPr>
        <p:spPr>
          <a:xfrm flipV="1">
            <a:off x="5273338" y="4264031"/>
            <a:ext cx="0" cy="30327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9ED501F5-9BF5-4FFB-94C3-CF6490DB619F}"/>
              </a:ext>
            </a:extLst>
          </p:cNvPr>
          <p:cNvCxnSpPr>
            <a:cxnSpLocks/>
          </p:cNvCxnSpPr>
          <p:nvPr/>
        </p:nvCxnSpPr>
        <p:spPr>
          <a:xfrm flipV="1">
            <a:off x="5351847" y="4264031"/>
            <a:ext cx="0" cy="30327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8863C53B-A8EE-4690-9B57-40C8D8C9A0A0}"/>
              </a:ext>
            </a:extLst>
          </p:cNvPr>
          <p:cNvCxnSpPr>
            <a:cxnSpLocks/>
          </p:cNvCxnSpPr>
          <p:nvPr/>
        </p:nvCxnSpPr>
        <p:spPr>
          <a:xfrm flipV="1">
            <a:off x="5430356" y="4264031"/>
            <a:ext cx="0" cy="30327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D0383E39-D257-4D02-A8D1-803746C1C597}"/>
              </a:ext>
            </a:extLst>
          </p:cNvPr>
          <p:cNvCxnSpPr>
            <a:cxnSpLocks/>
          </p:cNvCxnSpPr>
          <p:nvPr/>
        </p:nvCxnSpPr>
        <p:spPr>
          <a:xfrm flipV="1">
            <a:off x="5508865" y="4264031"/>
            <a:ext cx="0" cy="30327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6E6ADC5-D739-405C-8C10-DA0E6BB4D318}"/>
              </a:ext>
            </a:extLst>
          </p:cNvPr>
          <p:cNvCxnSpPr>
            <a:cxnSpLocks/>
          </p:cNvCxnSpPr>
          <p:nvPr/>
        </p:nvCxnSpPr>
        <p:spPr>
          <a:xfrm flipV="1">
            <a:off x="5587374" y="4264031"/>
            <a:ext cx="0" cy="30327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8CAA905D-C85A-4DB4-963F-127C77B7E4EE}"/>
              </a:ext>
            </a:extLst>
          </p:cNvPr>
          <p:cNvCxnSpPr>
            <a:cxnSpLocks/>
          </p:cNvCxnSpPr>
          <p:nvPr/>
        </p:nvCxnSpPr>
        <p:spPr>
          <a:xfrm flipV="1">
            <a:off x="5665884" y="4264031"/>
            <a:ext cx="0" cy="30327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elle 67">
            <a:extLst>
              <a:ext uri="{FF2B5EF4-FFF2-40B4-BE49-F238E27FC236}">
                <a16:creationId xmlns:a16="http://schemas.microsoft.com/office/drawing/2014/main" id="{8890D295-6599-49A6-98D9-6D7BF2CB8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835987"/>
              </p:ext>
            </p:extLst>
          </p:nvPr>
        </p:nvGraphicFramePr>
        <p:xfrm>
          <a:off x="7759900" y="1379879"/>
          <a:ext cx="3682035" cy="2745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345">
                  <a:extLst>
                    <a:ext uri="{9D8B030D-6E8A-4147-A177-3AD203B41FA5}">
                      <a16:colId xmlns:a16="http://schemas.microsoft.com/office/drawing/2014/main" val="2121670733"/>
                    </a:ext>
                  </a:extLst>
                </a:gridCol>
                <a:gridCol w="1227345">
                  <a:extLst>
                    <a:ext uri="{9D8B030D-6E8A-4147-A177-3AD203B41FA5}">
                      <a16:colId xmlns:a16="http://schemas.microsoft.com/office/drawing/2014/main" val="2417437244"/>
                    </a:ext>
                  </a:extLst>
                </a:gridCol>
                <a:gridCol w="1227345">
                  <a:extLst>
                    <a:ext uri="{9D8B030D-6E8A-4147-A177-3AD203B41FA5}">
                      <a16:colId xmlns:a16="http://schemas.microsoft.com/office/drawing/2014/main" val="1433090279"/>
                    </a:ext>
                  </a:extLst>
                </a:gridCol>
              </a:tblGrid>
              <a:tr h="305073">
                <a:tc>
                  <a:txBody>
                    <a:bodyPr/>
                    <a:lstStyle/>
                    <a:p>
                      <a:r>
                        <a:rPr lang="de-DE" sz="1200"/>
                        <a:t>PCF8574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Numpad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Bedeutung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146800"/>
                  </a:ext>
                </a:extLst>
              </a:tr>
              <a:tr h="305073">
                <a:tc>
                  <a:txBody>
                    <a:bodyPr/>
                    <a:lstStyle/>
                    <a:p>
                      <a:r>
                        <a:rPr lang="de-DE" sz="12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Pin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row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513504"/>
                  </a:ext>
                </a:extLst>
              </a:tr>
              <a:tr h="305073">
                <a:tc>
                  <a:txBody>
                    <a:bodyPr/>
                    <a:lstStyle/>
                    <a:p>
                      <a:r>
                        <a:rPr lang="de-DE" sz="120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Pin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row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18445"/>
                  </a:ext>
                </a:extLst>
              </a:tr>
              <a:tr h="305073">
                <a:tc>
                  <a:txBody>
                    <a:bodyPr/>
                    <a:lstStyle/>
                    <a:p>
                      <a:r>
                        <a:rPr lang="de-DE" sz="120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Pin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row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528375"/>
                  </a:ext>
                </a:extLst>
              </a:tr>
              <a:tr h="305073">
                <a:tc>
                  <a:txBody>
                    <a:bodyPr/>
                    <a:lstStyle/>
                    <a:p>
                      <a:r>
                        <a:rPr lang="de-DE" sz="120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Pin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row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996494"/>
                  </a:ext>
                </a:extLst>
              </a:tr>
              <a:tr h="305073">
                <a:tc>
                  <a:txBody>
                    <a:bodyPr/>
                    <a:lstStyle/>
                    <a:p>
                      <a:r>
                        <a:rPr lang="de-DE" sz="1200"/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Pin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col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78551"/>
                  </a:ext>
                </a:extLst>
              </a:tr>
              <a:tr h="305073">
                <a:tc>
                  <a:txBody>
                    <a:bodyPr/>
                    <a:lstStyle/>
                    <a:p>
                      <a:r>
                        <a:rPr lang="de-DE" sz="1200"/>
                        <a:t>P5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Pin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col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221895"/>
                  </a:ext>
                </a:extLst>
              </a:tr>
              <a:tr h="305073">
                <a:tc>
                  <a:txBody>
                    <a:bodyPr/>
                    <a:lstStyle/>
                    <a:p>
                      <a:r>
                        <a:rPr lang="de-DE" sz="1200"/>
                        <a:t>P6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Pin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col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31951"/>
                  </a:ext>
                </a:extLst>
              </a:tr>
              <a:tr h="305073">
                <a:tc>
                  <a:txBody>
                    <a:bodyPr/>
                    <a:lstStyle/>
                    <a:p>
                      <a:r>
                        <a:rPr lang="de-DE" sz="1200"/>
                        <a:t>P7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unbelegt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col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835715"/>
                  </a:ext>
                </a:extLst>
              </a:tr>
            </a:tbl>
          </a:graphicData>
        </a:graphic>
      </p:graphicFrame>
      <p:sp>
        <p:nvSpPr>
          <p:cNvPr id="69" name="Textfeld 68">
            <a:extLst>
              <a:ext uri="{FF2B5EF4-FFF2-40B4-BE49-F238E27FC236}">
                <a16:creationId xmlns:a16="http://schemas.microsoft.com/office/drawing/2014/main" id="{4FF79E60-DFF4-4F8A-9040-1C773E5A11E3}"/>
              </a:ext>
            </a:extLst>
          </p:cNvPr>
          <p:cNvSpPr txBox="1"/>
          <p:nvPr/>
        </p:nvSpPr>
        <p:spPr>
          <a:xfrm>
            <a:off x="454051" y="60689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/>
              <a:t>https://github.com/RobTillaart/I2CKeyPad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1D532F82-ED92-4FC2-9A73-E95A422D9C8C}"/>
              </a:ext>
            </a:extLst>
          </p:cNvPr>
          <p:cNvSpPr txBox="1"/>
          <p:nvPr/>
        </p:nvSpPr>
        <p:spPr>
          <a:xfrm>
            <a:off x="801249" y="3198167"/>
            <a:ext cx="1512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I2C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Address: 0x20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Library: I2CKeyPad</a:t>
            </a:r>
          </a:p>
        </p:txBody>
      </p:sp>
    </p:spTree>
    <p:extLst>
      <p:ext uri="{BB962C8B-B14F-4D97-AF65-F5344CB8AC3E}">
        <p14:creationId xmlns:p14="http://schemas.microsoft.com/office/powerpoint/2010/main" val="3097210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8A7D0C0-8108-45AD-AED7-1C0756BBB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Display Module</a:t>
            </a:r>
          </a:p>
        </p:txBody>
      </p:sp>
    </p:spTree>
    <p:extLst>
      <p:ext uri="{BB962C8B-B14F-4D97-AF65-F5344CB8AC3E}">
        <p14:creationId xmlns:p14="http://schemas.microsoft.com/office/powerpoint/2010/main" val="4012873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5">
            <a:extLst>
              <a:ext uri="{FF2B5EF4-FFF2-40B4-BE49-F238E27FC236}">
                <a16:creationId xmlns:a16="http://schemas.microsoft.com/office/drawing/2014/main" id="{AFC8D745-6AC8-4DBD-A3EF-7ADC4DC4A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050115"/>
              </p:ext>
            </p:extLst>
          </p:nvPr>
        </p:nvGraphicFramePr>
        <p:xfrm>
          <a:off x="7255188" y="3327026"/>
          <a:ext cx="4920332" cy="351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388">
                  <a:extLst>
                    <a:ext uri="{9D8B030D-6E8A-4147-A177-3AD203B41FA5}">
                      <a16:colId xmlns:a16="http://schemas.microsoft.com/office/drawing/2014/main" val="558252027"/>
                    </a:ext>
                  </a:extLst>
                </a:gridCol>
                <a:gridCol w="1013887">
                  <a:extLst>
                    <a:ext uri="{9D8B030D-6E8A-4147-A177-3AD203B41FA5}">
                      <a16:colId xmlns:a16="http://schemas.microsoft.com/office/drawing/2014/main" val="3275282527"/>
                    </a:ext>
                  </a:extLst>
                </a:gridCol>
                <a:gridCol w="2644057">
                  <a:extLst>
                    <a:ext uri="{9D8B030D-6E8A-4147-A177-3AD203B41FA5}">
                      <a16:colId xmlns:a16="http://schemas.microsoft.com/office/drawing/2014/main" val="191091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Display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ESP32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Description (at HSPI)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765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3V3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Power plus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48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Power minus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363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GPIO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SPI Chip Select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575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RST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GPIO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Display Reset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779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GPIO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Data / 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86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DIN (SDI, MOSI)</a:t>
                      </a:r>
                      <a:br>
                        <a:rPr lang="de-DE" sz="1200"/>
                      </a:br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GPIO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SPI-Datenausgang vom ESP32 (MasterOut-SlaveIn)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697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CLK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GPIO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SPI Hardware-Taktleitung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457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GPIO 17</a:t>
                      </a:r>
                      <a:br>
                        <a:rPr lang="de-DE" sz="1200"/>
                      </a:br>
                      <a:r>
                        <a:rPr lang="de-DE" sz="1200"/>
                        <a:t>(oder 3V3)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Hintergrundbeleuchtung regelbar</a:t>
                      </a:r>
                      <a:br>
                        <a:rPr lang="de-DE" sz="1200"/>
                      </a:br>
                      <a:r>
                        <a:rPr lang="de-DE" sz="1200"/>
                        <a:t>(oder dauerhaft an)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978468"/>
                  </a:ext>
                </a:extLst>
              </a:tr>
            </a:tbl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F8F507F1-D498-48E5-9771-81BFDB849012}"/>
              </a:ext>
            </a:extLst>
          </p:cNvPr>
          <p:cNvSpPr/>
          <p:nvPr/>
        </p:nvSpPr>
        <p:spPr>
          <a:xfrm>
            <a:off x="2529185" y="3389970"/>
            <a:ext cx="4448607" cy="27456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de-DE" sz="140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604CD02-BE1F-4309-BD86-FCDAE5980022}"/>
              </a:ext>
            </a:extLst>
          </p:cNvPr>
          <p:cNvSpPr txBox="1"/>
          <p:nvPr/>
        </p:nvSpPr>
        <p:spPr>
          <a:xfrm>
            <a:off x="2476234" y="3028938"/>
            <a:ext cx="1600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Display Module Board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322DE55E-3B8A-4438-ABA2-CC62E4FD6D77}"/>
              </a:ext>
            </a:extLst>
          </p:cNvPr>
          <p:cNvCxnSpPr>
            <a:cxnSpLocks/>
            <a:stCxn id="48" idx="1"/>
            <a:endCxn id="10" idx="3"/>
          </p:cNvCxnSpPr>
          <p:nvPr/>
        </p:nvCxnSpPr>
        <p:spPr>
          <a:xfrm flipH="1">
            <a:off x="1603622" y="3895767"/>
            <a:ext cx="2057018" cy="12133"/>
          </a:xfrm>
          <a:prstGeom prst="line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FDB53882-8286-4CFA-904C-19D4EE07484E}"/>
              </a:ext>
            </a:extLst>
          </p:cNvPr>
          <p:cNvSpPr/>
          <p:nvPr/>
        </p:nvSpPr>
        <p:spPr>
          <a:xfrm>
            <a:off x="379338" y="3609584"/>
            <a:ext cx="1224284" cy="5966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Activity Bus </a:t>
            </a:r>
            <a:br>
              <a:rPr lang="de-DE" sz="1050"/>
            </a:br>
            <a:r>
              <a:rPr lang="de-DE" sz="1050"/>
              <a:t>Panel Port (USB)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5DA8C39-6ABD-406B-A506-398CB09758DA}"/>
              </a:ext>
            </a:extLst>
          </p:cNvPr>
          <p:cNvSpPr/>
          <p:nvPr/>
        </p:nvSpPr>
        <p:spPr>
          <a:xfrm>
            <a:off x="3653097" y="4497231"/>
            <a:ext cx="3093254" cy="476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ESP32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7F073FE-87FA-4833-B496-F068FCB58BFF}"/>
              </a:ext>
            </a:extLst>
          </p:cNvPr>
          <p:cNvSpPr/>
          <p:nvPr/>
        </p:nvSpPr>
        <p:spPr>
          <a:xfrm>
            <a:off x="4240770" y="6369944"/>
            <a:ext cx="2490463" cy="3511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TFT Display</a:t>
            </a: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6B013CE5-1DF6-4EB5-91A7-26B62475F4D6}"/>
              </a:ext>
            </a:extLst>
          </p:cNvPr>
          <p:cNvCxnSpPr>
            <a:cxnSpLocks/>
            <a:stCxn id="15" idx="0"/>
            <a:endCxn id="25" idx="2"/>
          </p:cNvCxnSpPr>
          <p:nvPr/>
        </p:nvCxnSpPr>
        <p:spPr>
          <a:xfrm flipV="1">
            <a:off x="5486002" y="6297487"/>
            <a:ext cx="5347" cy="72457"/>
          </a:xfrm>
          <a:prstGeom prst="line">
            <a:avLst/>
          </a:prstGeom>
          <a:ln w="38100" cmpd="dbl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B0812AAD-CBFA-4E8F-A386-BEA76F51308F}"/>
              </a:ext>
            </a:extLst>
          </p:cNvPr>
          <p:cNvSpPr txBox="1"/>
          <p:nvPr/>
        </p:nvSpPr>
        <p:spPr>
          <a:xfrm>
            <a:off x="4212867" y="5796682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cxnSp>
        <p:nvCxnSpPr>
          <p:cNvPr id="22" name="Verbinder: gewinkelt 470">
            <a:extLst>
              <a:ext uri="{FF2B5EF4-FFF2-40B4-BE49-F238E27FC236}">
                <a16:creationId xmlns:a16="http://schemas.microsoft.com/office/drawing/2014/main" id="{1A6FA0E0-092B-4B84-BE38-EB4929D13568}"/>
              </a:ext>
            </a:extLst>
          </p:cNvPr>
          <p:cNvCxnSpPr>
            <a:cxnSpLocks/>
          </p:cNvCxnSpPr>
          <p:nvPr/>
        </p:nvCxnSpPr>
        <p:spPr>
          <a:xfrm>
            <a:off x="4466474" y="5863148"/>
            <a:ext cx="0" cy="16158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Verbinder: gewinkelt 470">
            <a:extLst>
              <a:ext uri="{FF2B5EF4-FFF2-40B4-BE49-F238E27FC236}">
                <a16:creationId xmlns:a16="http://schemas.microsoft.com/office/drawing/2014/main" id="{617A25EE-C52D-4692-AB4D-437C363028C3}"/>
              </a:ext>
            </a:extLst>
          </p:cNvPr>
          <p:cNvCxnSpPr>
            <a:cxnSpLocks/>
          </p:cNvCxnSpPr>
          <p:nvPr/>
        </p:nvCxnSpPr>
        <p:spPr>
          <a:xfrm>
            <a:off x="4763801" y="5856099"/>
            <a:ext cx="0" cy="16158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77016147-48C8-45E8-8B0F-303E181D5FD3}"/>
              </a:ext>
            </a:extLst>
          </p:cNvPr>
          <p:cNvSpPr txBox="1"/>
          <p:nvPr/>
        </p:nvSpPr>
        <p:spPr>
          <a:xfrm>
            <a:off x="4554412" y="5788951"/>
            <a:ext cx="21480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3V3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55DB2F8-9DD6-4D20-BF0B-F0774C87377D}"/>
              </a:ext>
            </a:extLst>
          </p:cNvPr>
          <p:cNvSpPr/>
          <p:nvPr/>
        </p:nvSpPr>
        <p:spPr>
          <a:xfrm>
            <a:off x="4240770" y="6020488"/>
            <a:ext cx="2501158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50"/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0E92B6A4-5296-4E53-A2CE-31ACCCCEC8D7}"/>
              </a:ext>
            </a:extLst>
          </p:cNvPr>
          <p:cNvCxnSpPr>
            <a:cxnSpLocks/>
          </p:cNvCxnSpPr>
          <p:nvPr/>
        </p:nvCxnSpPr>
        <p:spPr>
          <a:xfrm flipV="1">
            <a:off x="5646064" y="4973682"/>
            <a:ext cx="0" cy="104400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3E073905-9355-4C16-9AFB-B8BE1448A513}"/>
              </a:ext>
            </a:extLst>
          </p:cNvPr>
          <p:cNvCxnSpPr>
            <a:cxnSpLocks/>
          </p:cNvCxnSpPr>
          <p:nvPr/>
        </p:nvCxnSpPr>
        <p:spPr>
          <a:xfrm flipV="1">
            <a:off x="5935420" y="4973682"/>
            <a:ext cx="0" cy="104400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9359CD09-661F-4172-BE56-F52260A69A8E}"/>
              </a:ext>
            </a:extLst>
          </p:cNvPr>
          <p:cNvSpPr txBox="1"/>
          <p:nvPr/>
        </p:nvSpPr>
        <p:spPr>
          <a:xfrm>
            <a:off x="272992" y="6119736"/>
            <a:ext cx="1369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I2C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Address: 0x11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Library: Adafruit</a:t>
            </a: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5265C8C5-11ED-42F1-A578-9F5F06A89CFA}"/>
              </a:ext>
            </a:extLst>
          </p:cNvPr>
          <p:cNvCxnSpPr>
            <a:cxnSpLocks/>
          </p:cNvCxnSpPr>
          <p:nvPr/>
        </p:nvCxnSpPr>
        <p:spPr>
          <a:xfrm flipV="1">
            <a:off x="5337803" y="4973682"/>
            <a:ext cx="0" cy="104400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A17502C7-71F0-4FB8-A248-145A426135B7}"/>
              </a:ext>
            </a:extLst>
          </p:cNvPr>
          <p:cNvCxnSpPr>
            <a:cxnSpLocks/>
          </p:cNvCxnSpPr>
          <p:nvPr/>
        </p:nvCxnSpPr>
        <p:spPr>
          <a:xfrm flipV="1">
            <a:off x="5016411" y="4973682"/>
            <a:ext cx="0" cy="104400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272EA1E-3C86-46DE-9928-4290DD990E6E}"/>
              </a:ext>
            </a:extLst>
          </p:cNvPr>
          <p:cNvCxnSpPr>
            <a:cxnSpLocks/>
          </p:cNvCxnSpPr>
          <p:nvPr/>
        </p:nvCxnSpPr>
        <p:spPr>
          <a:xfrm flipV="1">
            <a:off x="6266644" y="4973682"/>
            <a:ext cx="0" cy="104400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3975A088-2402-40A9-8D2B-F932A54C91ED}"/>
              </a:ext>
            </a:extLst>
          </p:cNvPr>
          <p:cNvCxnSpPr>
            <a:cxnSpLocks/>
          </p:cNvCxnSpPr>
          <p:nvPr/>
        </p:nvCxnSpPr>
        <p:spPr>
          <a:xfrm flipV="1">
            <a:off x="6602476" y="4973682"/>
            <a:ext cx="0" cy="104400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B78A2DAF-0EE8-4EC6-8E37-D2B631C60676}"/>
              </a:ext>
            </a:extLst>
          </p:cNvPr>
          <p:cNvSpPr txBox="1"/>
          <p:nvPr/>
        </p:nvSpPr>
        <p:spPr>
          <a:xfrm>
            <a:off x="6360793" y="5782425"/>
            <a:ext cx="203582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de-DE" sz="1050"/>
              <a:t>DIN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A6719764-41B3-4949-BE00-86D48C4C575F}"/>
              </a:ext>
            </a:extLst>
          </p:cNvPr>
          <p:cNvSpPr txBox="1"/>
          <p:nvPr/>
        </p:nvSpPr>
        <p:spPr>
          <a:xfrm>
            <a:off x="6036876" y="5782425"/>
            <a:ext cx="19877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de-DE" sz="1050"/>
              <a:t>CLK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2BFAC08A-2D67-4809-836F-597F4351E7C0}"/>
              </a:ext>
            </a:extLst>
          </p:cNvPr>
          <p:cNvSpPr txBox="1"/>
          <p:nvPr/>
        </p:nvSpPr>
        <p:spPr>
          <a:xfrm>
            <a:off x="4837031" y="5782425"/>
            <a:ext cx="155492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de-DE" sz="1050"/>
              <a:t>DC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59361B07-6436-4CB8-B0FB-F16A1C39D477}"/>
              </a:ext>
            </a:extLst>
          </p:cNvPr>
          <p:cNvSpPr txBox="1"/>
          <p:nvPr/>
        </p:nvSpPr>
        <p:spPr>
          <a:xfrm>
            <a:off x="5119042" y="5782425"/>
            <a:ext cx="20197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de-DE" sz="1050"/>
              <a:t>RST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9B100815-8B0A-4800-A1EA-D32425AE85D7}"/>
              </a:ext>
            </a:extLst>
          </p:cNvPr>
          <p:cNvSpPr txBox="1"/>
          <p:nvPr/>
        </p:nvSpPr>
        <p:spPr>
          <a:xfrm>
            <a:off x="5767848" y="5782425"/>
            <a:ext cx="12984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de-DE" sz="1050"/>
              <a:t>BL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C1480B8F-3F1D-4221-88AC-5D5248048F33}"/>
              </a:ext>
            </a:extLst>
          </p:cNvPr>
          <p:cNvSpPr txBox="1"/>
          <p:nvPr/>
        </p:nvSpPr>
        <p:spPr>
          <a:xfrm>
            <a:off x="6381017" y="5001375"/>
            <a:ext cx="13785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13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F47021C6-E9E7-4481-BF77-04D2312C579D}"/>
              </a:ext>
            </a:extLst>
          </p:cNvPr>
          <p:cNvSpPr txBox="1"/>
          <p:nvPr/>
        </p:nvSpPr>
        <p:spPr>
          <a:xfrm>
            <a:off x="6052291" y="5001375"/>
            <a:ext cx="13785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16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7A71A078-C46F-418B-BAE3-753E3D522E29}"/>
              </a:ext>
            </a:extLst>
          </p:cNvPr>
          <p:cNvSpPr txBox="1"/>
          <p:nvPr/>
        </p:nvSpPr>
        <p:spPr>
          <a:xfrm>
            <a:off x="4843630" y="5001375"/>
            <a:ext cx="6892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2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285BF5CD-20EA-4990-AAFD-87A5952527B1}"/>
              </a:ext>
            </a:extLst>
          </p:cNvPr>
          <p:cNvSpPr txBox="1"/>
          <p:nvPr/>
        </p:nvSpPr>
        <p:spPr>
          <a:xfrm>
            <a:off x="5172128" y="5001375"/>
            <a:ext cx="6892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4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1A3A0520-3B62-4DE1-BDA1-DD4CC442EDAF}"/>
              </a:ext>
            </a:extLst>
          </p:cNvPr>
          <p:cNvSpPr txBox="1"/>
          <p:nvPr/>
        </p:nvSpPr>
        <p:spPr>
          <a:xfrm>
            <a:off x="5742387" y="5001375"/>
            <a:ext cx="13785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17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2748222F-985D-4DAE-9459-4B07266B26BF}"/>
              </a:ext>
            </a:extLst>
          </p:cNvPr>
          <p:cNvSpPr txBox="1"/>
          <p:nvPr/>
        </p:nvSpPr>
        <p:spPr>
          <a:xfrm>
            <a:off x="5477350" y="5782425"/>
            <a:ext cx="13465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de-DE" sz="1050"/>
              <a:t>CS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AFA71850-1AEE-44C6-B160-994AC1355DBD}"/>
              </a:ext>
            </a:extLst>
          </p:cNvPr>
          <p:cNvSpPr txBox="1"/>
          <p:nvPr/>
        </p:nvSpPr>
        <p:spPr>
          <a:xfrm>
            <a:off x="5456698" y="5001375"/>
            <a:ext cx="13785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15</a:t>
            </a: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FEA23F36-8A34-41FA-9EE3-3A4FE46ECDCD}"/>
              </a:ext>
            </a:extLst>
          </p:cNvPr>
          <p:cNvSpPr/>
          <p:nvPr/>
        </p:nvSpPr>
        <p:spPr>
          <a:xfrm>
            <a:off x="3532435" y="4624300"/>
            <a:ext cx="271142" cy="276999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32817856-0A3D-4E8F-B680-958FA1249328}"/>
              </a:ext>
            </a:extLst>
          </p:cNvPr>
          <p:cNvSpPr/>
          <p:nvPr/>
        </p:nvSpPr>
        <p:spPr>
          <a:xfrm>
            <a:off x="379338" y="4464483"/>
            <a:ext cx="1224284" cy="5966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Service </a:t>
            </a:r>
            <a:br>
              <a:rPr lang="de-DE" sz="1050"/>
            </a:br>
            <a:r>
              <a:rPr lang="de-DE" sz="1050"/>
              <a:t>Panel Port (USB)</a:t>
            </a:r>
          </a:p>
        </p:txBody>
      </p: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EFF11CA2-8A31-4258-93AC-F458DBB2F73C}"/>
              </a:ext>
            </a:extLst>
          </p:cNvPr>
          <p:cNvCxnSpPr>
            <a:cxnSpLocks/>
            <a:stCxn id="86" idx="3"/>
            <a:endCxn id="85" idx="1"/>
          </p:cNvCxnSpPr>
          <p:nvPr/>
        </p:nvCxnSpPr>
        <p:spPr>
          <a:xfrm>
            <a:off x="1603622" y="4762799"/>
            <a:ext cx="1928813" cy="1"/>
          </a:xfrm>
          <a:prstGeom prst="bentConnector3">
            <a:avLst>
              <a:gd name="adj1" fmla="val 50000"/>
            </a:avLst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A3575BCE-163B-44C7-86D5-365FB82B730B}"/>
              </a:ext>
            </a:extLst>
          </p:cNvPr>
          <p:cNvSpPr txBox="1"/>
          <p:nvPr/>
        </p:nvSpPr>
        <p:spPr>
          <a:xfrm>
            <a:off x="348245" y="5082166"/>
            <a:ext cx="19848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/>
              <a:t>Service 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GND, D-, D+ pass thru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>
                <a:solidFill>
                  <a:srgbClr val="FF0000"/>
                </a:solidFill>
              </a:rPr>
              <a:t>VBUS left open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connect computer for software</a:t>
            </a:r>
            <a:br>
              <a:rPr lang="de-DE" sz="1000"/>
            </a:br>
            <a:r>
              <a:rPr lang="de-DE" sz="1000"/>
              <a:t>upload and debugging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E3714EA3-936D-40E6-947C-6088DD832311}"/>
              </a:ext>
            </a:extLst>
          </p:cNvPr>
          <p:cNvSpPr/>
          <p:nvPr/>
        </p:nvSpPr>
        <p:spPr>
          <a:xfrm>
            <a:off x="3660640" y="3611691"/>
            <a:ext cx="1311578" cy="5681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Pegelwandler </a:t>
            </a:r>
          </a:p>
        </p:txBody>
      </p:sp>
      <p:graphicFrame>
        <p:nvGraphicFramePr>
          <p:cNvPr id="70" name="Tabelle 5">
            <a:extLst>
              <a:ext uri="{FF2B5EF4-FFF2-40B4-BE49-F238E27FC236}">
                <a16:creationId xmlns:a16="http://schemas.microsoft.com/office/drawing/2014/main" id="{90441708-4112-4048-8D1C-B8303C094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933811"/>
              </p:ext>
            </p:extLst>
          </p:nvPr>
        </p:nvGraphicFramePr>
        <p:xfrm>
          <a:off x="7258050" y="123201"/>
          <a:ext cx="49043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999">
                  <a:extLst>
                    <a:ext uri="{9D8B030D-6E8A-4147-A177-3AD203B41FA5}">
                      <a16:colId xmlns:a16="http://schemas.microsoft.com/office/drawing/2014/main" val="558252027"/>
                    </a:ext>
                  </a:extLst>
                </a:gridCol>
                <a:gridCol w="1170750">
                  <a:extLst>
                    <a:ext uri="{9D8B030D-6E8A-4147-A177-3AD203B41FA5}">
                      <a16:colId xmlns:a16="http://schemas.microsoft.com/office/drawing/2014/main" val="3275282527"/>
                    </a:ext>
                  </a:extLst>
                </a:gridCol>
                <a:gridCol w="1228491">
                  <a:extLst>
                    <a:ext uri="{9D8B030D-6E8A-4147-A177-3AD203B41FA5}">
                      <a16:colId xmlns:a16="http://schemas.microsoft.com/office/drawing/2014/main" val="191091994"/>
                    </a:ext>
                  </a:extLst>
                </a:gridCol>
                <a:gridCol w="1677060">
                  <a:extLst>
                    <a:ext uri="{9D8B030D-6E8A-4147-A177-3AD203B41FA5}">
                      <a16:colId xmlns:a16="http://schemas.microsoft.com/office/drawing/2014/main" val="20287319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USB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Pegelwandler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ESP32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765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VCC (5V)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HV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Power plus 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48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Power minus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363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D- (SDA)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HV1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SDA (high voltage)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014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D+ (SCL)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HV2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SCL (high voltage)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092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LV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3V3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Power plus 3.3V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127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LV1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GPIO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SDA (low voltage)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404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LV2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GPIO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SCL (low voltage)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592746"/>
                  </a:ext>
                </a:extLst>
              </a:tr>
            </a:tbl>
          </a:graphicData>
        </a:graphic>
      </p:graphicFrame>
      <p:sp>
        <p:nvSpPr>
          <p:cNvPr id="89" name="Rechteck 88">
            <a:extLst>
              <a:ext uri="{FF2B5EF4-FFF2-40B4-BE49-F238E27FC236}">
                <a16:creationId xmlns:a16="http://schemas.microsoft.com/office/drawing/2014/main" id="{F4F7E1FD-ECEC-4588-886D-2EF5598822D3}"/>
              </a:ext>
            </a:extLst>
          </p:cNvPr>
          <p:cNvSpPr/>
          <p:nvPr/>
        </p:nvSpPr>
        <p:spPr>
          <a:xfrm>
            <a:off x="5226978" y="3611691"/>
            <a:ext cx="1514950" cy="5681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sd card module </a:t>
            </a: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5D2A68F8-7AC4-4673-A7FB-5C1C0CE6577D}"/>
              </a:ext>
            </a:extLst>
          </p:cNvPr>
          <p:cNvSpPr/>
          <p:nvPr/>
        </p:nvSpPr>
        <p:spPr>
          <a:xfrm>
            <a:off x="5325405" y="2962404"/>
            <a:ext cx="1318525" cy="2981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sd card extender</a:t>
            </a:r>
          </a:p>
        </p:txBody>
      </p: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40682CBF-71B1-4578-89F2-785F68D9FFC7}"/>
              </a:ext>
            </a:extLst>
          </p:cNvPr>
          <p:cNvCxnSpPr>
            <a:cxnSpLocks/>
            <a:stCxn id="90" idx="2"/>
            <a:endCxn id="89" idx="0"/>
          </p:cNvCxnSpPr>
          <p:nvPr/>
        </p:nvCxnSpPr>
        <p:spPr>
          <a:xfrm flipH="1">
            <a:off x="5984453" y="3260572"/>
            <a:ext cx="215" cy="351119"/>
          </a:xfrm>
          <a:prstGeom prst="line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2" name="Tabelle 5">
            <a:extLst>
              <a:ext uri="{FF2B5EF4-FFF2-40B4-BE49-F238E27FC236}">
                <a16:creationId xmlns:a16="http://schemas.microsoft.com/office/drawing/2014/main" id="{1BC1CADF-0DC1-4232-90C2-C262F9059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718564"/>
              </p:ext>
            </p:extLst>
          </p:nvPr>
        </p:nvGraphicFramePr>
        <p:xfrm>
          <a:off x="2183497" y="136937"/>
          <a:ext cx="492033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3078">
                  <a:extLst>
                    <a:ext uri="{9D8B030D-6E8A-4147-A177-3AD203B41FA5}">
                      <a16:colId xmlns:a16="http://schemas.microsoft.com/office/drawing/2014/main" val="558252027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3275282527"/>
                    </a:ext>
                  </a:extLst>
                </a:gridCol>
                <a:gridCol w="3122379">
                  <a:extLst>
                    <a:ext uri="{9D8B030D-6E8A-4147-A177-3AD203B41FA5}">
                      <a16:colId xmlns:a16="http://schemas.microsoft.com/office/drawing/2014/main" val="191091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SD-Modul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ESP32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Description (at VSPI)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765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3V3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3V3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Power plus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48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Power minus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363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MISO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GPIO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Master-In-Slave-Out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575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MOSI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GPIO 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Master-Out-Slave-In (parallel to DIN of Display)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966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CLK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GPIO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Clock (parallel to CLK of TFT Display)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17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GPIO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Chip Select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229880"/>
                  </a:ext>
                </a:extLst>
              </a:tr>
            </a:tbl>
          </a:graphicData>
        </a:graphic>
      </p:graphicFrame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836B87F3-CBBC-48D5-B264-51E206E1C3A3}"/>
              </a:ext>
            </a:extLst>
          </p:cNvPr>
          <p:cNvCxnSpPr>
            <a:cxnSpLocks/>
          </p:cNvCxnSpPr>
          <p:nvPr/>
        </p:nvCxnSpPr>
        <p:spPr>
          <a:xfrm flipV="1">
            <a:off x="3888097" y="4179254"/>
            <a:ext cx="0" cy="317389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2F5DC44C-6243-48FB-8DA4-695533780021}"/>
              </a:ext>
            </a:extLst>
          </p:cNvPr>
          <p:cNvCxnSpPr>
            <a:cxnSpLocks/>
          </p:cNvCxnSpPr>
          <p:nvPr/>
        </p:nvCxnSpPr>
        <p:spPr>
          <a:xfrm flipV="1">
            <a:off x="4127978" y="4179254"/>
            <a:ext cx="0" cy="317389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211BF9C0-9F84-4DB3-BBD9-FCBFDE3F9124}"/>
              </a:ext>
            </a:extLst>
          </p:cNvPr>
          <p:cNvCxnSpPr>
            <a:cxnSpLocks/>
          </p:cNvCxnSpPr>
          <p:nvPr/>
        </p:nvCxnSpPr>
        <p:spPr>
          <a:xfrm flipV="1">
            <a:off x="4367859" y="4179254"/>
            <a:ext cx="0" cy="317389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36B949A4-8199-4E60-9D1B-E07050F23A14}"/>
              </a:ext>
            </a:extLst>
          </p:cNvPr>
          <p:cNvCxnSpPr>
            <a:cxnSpLocks/>
          </p:cNvCxnSpPr>
          <p:nvPr/>
        </p:nvCxnSpPr>
        <p:spPr>
          <a:xfrm flipV="1">
            <a:off x="4607740" y="4179254"/>
            <a:ext cx="0" cy="317389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feld 101">
            <a:extLst>
              <a:ext uri="{FF2B5EF4-FFF2-40B4-BE49-F238E27FC236}">
                <a16:creationId xmlns:a16="http://schemas.microsoft.com/office/drawing/2014/main" id="{58397AA8-D918-4E61-B26C-A62B5C3E4A63}"/>
              </a:ext>
            </a:extLst>
          </p:cNvPr>
          <p:cNvSpPr txBox="1"/>
          <p:nvPr/>
        </p:nvSpPr>
        <p:spPr>
          <a:xfrm>
            <a:off x="3654963" y="4178357"/>
            <a:ext cx="160300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HV	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203270C1-9517-4922-87C5-3885167166F9}"/>
              </a:ext>
            </a:extLst>
          </p:cNvPr>
          <p:cNvSpPr txBox="1"/>
          <p:nvPr/>
        </p:nvSpPr>
        <p:spPr>
          <a:xfrm>
            <a:off x="3883974" y="4182648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45BA030D-2B5C-471A-8D5B-C388D052FA1D}"/>
              </a:ext>
            </a:extLst>
          </p:cNvPr>
          <p:cNvSpPr txBox="1"/>
          <p:nvPr/>
        </p:nvSpPr>
        <p:spPr>
          <a:xfrm>
            <a:off x="4207563" y="4182648"/>
            <a:ext cx="133050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LV</a:t>
            </a: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B7AAC378-1880-45B5-827D-F2634567D4E5}"/>
              </a:ext>
            </a:extLst>
          </p:cNvPr>
          <p:cNvSpPr txBox="1"/>
          <p:nvPr/>
        </p:nvSpPr>
        <p:spPr>
          <a:xfrm>
            <a:off x="4409324" y="4182648"/>
            <a:ext cx="20197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LV1</a:t>
            </a:r>
          </a:p>
        </p:txBody>
      </p: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A2D032A3-0221-4FB3-8242-AFDD85985971}"/>
              </a:ext>
            </a:extLst>
          </p:cNvPr>
          <p:cNvCxnSpPr>
            <a:cxnSpLocks/>
          </p:cNvCxnSpPr>
          <p:nvPr/>
        </p:nvCxnSpPr>
        <p:spPr>
          <a:xfrm flipV="1">
            <a:off x="4847620" y="4179254"/>
            <a:ext cx="0" cy="317389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feld 106">
            <a:extLst>
              <a:ext uri="{FF2B5EF4-FFF2-40B4-BE49-F238E27FC236}">
                <a16:creationId xmlns:a16="http://schemas.microsoft.com/office/drawing/2014/main" id="{61B9D8BB-D3E4-4B92-943E-999532C5919B}"/>
              </a:ext>
            </a:extLst>
          </p:cNvPr>
          <p:cNvSpPr txBox="1"/>
          <p:nvPr/>
        </p:nvSpPr>
        <p:spPr>
          <a:xfrm>
            <a:off x="4680014" y="4177199"/>
            <a:ext cx="20197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LV2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E8FEAA29-3AD3-4B9F-AC85-76EB7A892139}"/>
              </a:ext>
            </a:extLst>
          </p:cNvPr>
          <p:cNvSpPr txBox="1"/>
          <p:nvPr/>
        </p:nvSpPr>
        <p:spPr>
          <a:xfrm>
            <a:off x="3671225" y="4338377"/>
            <a:ext cx="14587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V5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867A495D-6C30-49F9-A9B1-8132DA81F038}"/>
              </a:ext>
            </a:extLst>
          </p:cNvPr>
          <p:cNvSpPr txBox="1"/>
          <p:nvPr/>
        </p:nvSpPr>
        <p:spPr>
          <a:xfrm>
            <a:off x="3893006" y="4342668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723C325B-6830-43E5-9386-DE00C7C79F65}"/>
              </a:ext>
            </a:extLst>
          </p:cNvPr>
          <p:cNvSpPr txBox="1"/>
          <p:nvPr/>
        </p:nvSpPr>
        <p:spPr>
          <a:xfrm>
            <a:off x="4164260" y="4342668"/>
            <a:ext cx="214802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3V3</a:t>
            </a: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BEC34008-729A-4C94-8080-1E61B56CE21D}"/>
              </a:ext>
            </a:extLst>
          </p:cNvPr>
          <p:cNvSpPr txBox="1"/>
          <p:nvPr/>
        </p:nvSpPr>
        <p:spPr>
          <a:xfrm>
            <a:off x="4474022" y="4342668"/>
            <a:ext cx="13785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21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BDBCFACE-5B90-433D-857D-DA0872BDA0FB}"/>
              </a:ext>
            </a:extLst>
          </p:cNvPr>
          <p:cNvSpPr txBox="1"/>
          <p:nvPr/>
        </p:nvSpPr>
        <p:spPr>
          <a:xfrm>
            <a:off x="4711599" y="4337219"/>
            <a:ext cx="13785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22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40749127-162E-4A32-833F-92902DF73E92}"/>
              </a:ext>
            </a:extLst>
          </p:cNvPr>
          <p:cNvSpPr txBox="1"/>
          <p:nvPr/>
        </p:nvSpPr>
        <p:spPr>
          <a:xfrm>
            <a:off x="2726923" y="3488393"/>
            <a:ext cx="695703" cy="80791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VCC --- HV</a:t>
            </a:r>
            <a:br>
              <a:rPr lang="de-DE" sz="1050"/>
            </a:br>
            <a:r>
              <a:rPr lang="de-DE" sz="1050"/>
              <a:t>GND --- GND</a:t>
            </a:r>
            <a:br>
              <a:rPr lang="de-DE" sz="1050"/>
            </a:br>
            <a:br>
              <a:rPr lang="de-DE" sz="1050"/>
            </a:br>
            <a:r>
              <a:rPr lang="de-DE" sz="1050"/>
              <a:t>D- --- HV1</a:t>
            </a:r>
            <a:br>
              <a:rPr lang="de-DE" sz="1050"/>
            </a:br>
            <a:r>
              <a:rPr lang="de-DE" sz="1050"/>
              <a:t>D+ --- HV2</a:t>
            </a:r>
          </a:p>
        </p:txBody>
      </p:sp>
      <p:cxnSp>
        <p:nvCxnSpPr>
          <p:cNvPr id="115" name="Gerader Verbinder 114">
            <a:extLst>
              <a:ext uri="{FF2B5EF4-FFF2-40B4-BE49-F238E27FC236}">
                <a16:creationId xmlns:a16="http://schemas.microsoft.com/office/drawing/2014/main" id="{252A2F27-7CE4-4420-A66B-A13F28F6FF02}"/>
              </a:ext>
            </a:extLst>
          </p:cNvPr>
          <p:cNvCxnSpPr>
            <a:cxnSpLocks/>
          </p:cNvCxnSpPr>
          <p:nvPr/>
        </p:nvCxnSpPr>
        <p:spPr>
          <a:xfrm flipV="1">
            <a:off x="5513412" y="4173562"/>
            <a:ext cx="0" cy="317389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Gerader Verbinder 115">
            <a:extLst>
              <a:ext uri="{FF2B5EF4-FFF2-40B4-BE49-F238E27FC236}">
                <a16:creationId xmlns:a16="http://schemas.microsoft.com/office/drawing/2014/main" id="{CFA218B4-AC1F-4611-9BF1-AA193ABFF0F4}"/>
              </a:ext>
            </a:extLst>
          </p:cNvPr>
          <p:cNvCxnSpPr>
            <a:cxnSpLocks/>
          </p:cNvCxnSpPr>
          <p:nvPr/>
        </p:nvCxnSpPr>
        <p:spPr>
          <a:xfrm flipV="1">
            <a:off x="5753293" y="4173562"/>
            <a:ext cx="0" cy="317389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Gerader Verbinder 116">
            <a:extLst>
              <a:ext uri="{FF2B5EF4-FFF2-40B4-BE49-F238E27FC236}">
                <a16:creationId xmlns:a16="http://schemas.microsoft.com/office/drawing/2014/main" id="{18BCCB18-93BF-42C0-9C66-C6F9ECBB3CC8}"/>
              </a:ext>
            </a:extLst>
          </p:cNvPr>
          <p:cNvCxnSpPr>
            <a:cxnSpLocks/>
          </p:cNvCxnSpPr>
          <p:nvPr/>
        </p:nvCxnSpPr>
        <p:spPr>
          <a:xfrm flipV="1">
            <a:off x="5993174" y="4173562"/>
            <a:ext cx="0" cy="317389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Gerader Verbinder 117">
            <a:extLst>
              <a:ext uri="{FF2B5EF4-FFF2-40B4-BE49-F238E27FC236}">
                <a16:creationId xmlns:a16="http://schemas.microsoft.com/office/drawing/2014/main" id="{7F0F91FC-F03D-4267-B505-C66DD0DFFFDA}"/>
              </a:ext>
            </a:extLst>
          </p:cNvPr>
          <p:cNvCxnSpPr>
            <a:cxnSpLocks/>
          </p:cNvCxnSpPr>
          <p:nvPr/>
        </p:nvCxnSpPr>
        <p:spPr>
          <a:xfrm flipV="1">
            <a:off x="6233055" y="4173562"/>
            <a:ext cx="0" cy="317389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feld 118">
            <a:extLst>
              <a:ext uri="{FF2B5EF4-FFF2-40B4-BE49-F238E27FC236}">
                <a16:creationId xmlns:a16="http://schemas.microsoft.com/office/drawing/2014/main" id="{B31A073E-EE0F-490C-96BC-8C2C07AFCE53}"/>
              </a:ext>
            </a:extLst>
          </p:cNvPr>
          <p:cNvSpPr txBox="1"/>
          <p:nvPr/>
        </p:nvSpPr>
        <p:spPr>
          <a:xfrm>
            <a:off x="5249821" y="4172665"/>
            <a:ext cx="221215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VCC	</a:t>
            </a:r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413930A8-3A8C-4199-BE18-9415F978C82B}"/>
              </a:ext>
            </a:extLst>
          </p:cNvPr>
          <p:cNvSpPr txBox="1"/>
          <p:nvPr/>
        </p:nvSpPr>
        <p:spPr>
          <a:xfrm>
            <a:off x="5509289" y="4176956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E35654E7-6A78-43B1-8762-D79CA53739D7}"/>
              </a:ext>
            </a:extLst>
          </p:cNvPr>
          <p:cNvSpPr txBox="1"/>
          <p:nvPr/>
        </p:nvSpPr>
        <p:spPr>
          <a:xfrm>
            <a:off x="5824863" y="4176956"/>
            <a:ext cx="149080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MI</a:t>
            </a:r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6E915538-383C-4BAE-BD61-EF839A345EF9}"/>
              </a:ext>
            </a:extLst>
          </p:cNvPr>
          <p:cNvSpPr txBox="1"/>
          <p:nvPr/>
        </p:nvSpPr>
        <p:spPr>
          <a:xfrm>
            <a:off x="6033036" y="4176956"/>
            <a:ext cx="20518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MO</a:t>
            </a:r>
          </a:p>
        </p:txBody>
      </p:sp>
      <p:cxnSp>
        <p:nvCxnSpPr>
          <p:cNvPr id="123" name="Gerader Verbinder 122">
            <a:extLst>
              <a:ext uri="{FF2B5EF4-FFF2-40B4-BE49-F238E27FC236}">
                <a16:creationId xmlns:a16="http://schemas.microsoft.com/office/drawing/2014/main" id="{9EC24EB1-F399-4675-9A0F-CDAA9EF0B89C}"/>
              </a:ext>
            </a:extLst>
          </p:cNvPr>
          <p:cNvCxnSpPr>
            <a:cxnSpLocks/>
          </p:cNvCxnSpPr>
          <p:nvPr/>
        </p:nvCxnSpPr>
        <p:spPr>
          <a:xfrm flipV="1">
            <a:off x="6472935" y="4173562"/>
            <a:ext cx="0" cy="317389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feld 123">
            <a:extLst>
              <a:ext uri="{FF2B5EF4-FFF2-40B4-BE49-F238E27FC236}">
                <a16:creationId xmlns:a16="http://schemas.microsoft.com/office/drawing/2014/main" id="{612F591D-7AFD-46ED-912A-4E42205601E5}"/>
              </a:ext>
            </a:extLst>
          </p:cNvPr>
          <p:cNvSpPr txBox="1"/>
          <p:nvPr/>
        </p:nvSpPr>
        <p:spPr>
          <a:xfrm>
            <a:off x="6306933" y="4171507"/>
            <a:ext cx="198772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CLK</a:t>
            </a:r>
          </a:p>
        </p:txBody>
      </p:sp>
      <p:sp>
        <p:nvSpPr>
          <p:cNvPr id="125" name="Textfeld 124">
            <a:extLst>
              <a:ext uri="{FF2B5EF4-FFF2-40B4-BE49-F238E27FC236}">
                <a16:creationId xmlns:a16="http://schemas.microsoft.com/office/drawing/2014/main" id="{A81B31BF-A149-49DC-A4AF-56ACC4431E1D}"/>
              </a:ext>
            </a:extLst>
          </p:cNvPr>
          <p:cNvSpPr txBox="1"/>
          <p:nvPr/>
        </p:nvSpPr>
        <p:spPr>
          <a:xfrm>
            <a:off x="5296540" y="4332685"/>
            <a:ext cx="14587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V5</a:t>
            </a:r>
          </a:p>
        </p:txBody>
      </p:sp>
      <p:sp>
        <p:nvSpPr>
          <p:cNvPr id="126" name="Textfeld 125">
            <a:extLst>
              <a:ext uri="{FF2B5EF4-FFF2-40B4-BE49-F238E27FC236}">
                <a16:creationId xmlns:a16="http://schemas.microsoft.com/office/drawing/2014/main" id="{5039F28C-4612-4872-B82F-2F1EEAA5CF69}"/>
              </a:ext>
            </a:extLst>
          </p:cNvPr>
          <p:cNvSpPr txBox="1"/>
          <p:nvPr/>
        </p:nvSpPr>
        <p:spPr>
          <a:xfrm>
            <a:off x="5518321" y="4336976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sp>
        <p:nvSpPr>
          <p:cNvPr id="127" name="Textfeld 126">
            <a:extLst>
              <a:ext uri="{FF2B5EF4-FFF2-40B4-BE49-F238E27FC236}">
                <a16:creationId xmlns:a16="http://schemas.microsoft.com/office/drawing/2014/main" id="{415FD5B8-CC1E-4518-B0DF-A69948747956}"/>
              </a:ext>
            </a:extLst>
          </p:cNvPr>
          <p:cNvSpPr txBox="1"/>
          <p:nvPr/>
        </p:nvSpPr>
        <p:spPr>
          <a:xfrm>
            <a:off x="5828047" y="4336976"/>
            <a:ext cx="13785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19</a:t>
            </a:r>
          </a:p>
        </p:txBody>
      </p:sp>
      <p:sp>
        <p:nvSpPr>
          <p:cNvPr id="128" name="Textfeld 127">
            <a:extLst>
              <a:ext uri="{FF2B5EF4-FFF2-40B4-BE49-F238E27FC236}">
                <a16:creationId xmlns:a16="http://schemas.microsoft.com/office/drawing/2014/main" id="{A000230D-B8EF-4F30-83DD-2501A66DF8A6}"/>
              </a:ext>
            </a:extLst>
          </p:cNvPr>
          <p:cNvSpPr txBox="1"/>
          <p:nvPr/>
        </p:nvSpPr>
        <p:spPr>
          <a:xfrm>
            <a:off x="6099337" y="4336976"/>
            <a:ext cx="13785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23</a:t>
            </a:r>
          </a:p>
        </p:txBody>
      </p:sp>
      <p:sp>
        <p:nvSpPr>
          <p:cNvPr id="129" name="Textfeld 128">
            <a:extLst>
              <a:ext uri="{FF2B5EF4-FFF2-40B4-BE49-F238E27FC236}">
                <a16:creationId xmlns:a16="http://schemas.microsoft.com/office/drawing/2014/main" id="{589A6C81-2769-4FFF-8F7A-EF3080ABBDD3}"/>
              </a:ext>
            </a:extLst>
          </p:cNvPr>
          <p:cNvSpPr txBox="1"/>
          <p:nvPr/>
        </p:nvSpPr>
        <p:spPr>
          <a:xfrm>
            <a:off x="6336914" y="4331527"/>
            <a:ext cx="13785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18</a:t>
            </a:r>
          </a:p>
        </p:txBody>
      </p:sp>
      <p:cxnSp>
        <p:nvCxnSpPr>
          <p:cNvPr id="131" name="Gerader Verbinder 130">
            <a:extLst>
              <a:ext uri="{FF2B5EF4-FFF2-40B4-BE49-F238E27FC236}">
                <a16:creationId xmlns:a16="http://schemas.microsoft.com/office/drawing/2014/main" id="{BFC673FF-96A3-47A7-91A8-C8B6FDA82846}"/>
              </a:ext>
            </a:extLst>
          </p:cNvPr>
          <p:cNvCxnSpPr>
            <a:cxnSpLocks/>
          </p:cNvCxnSpPr>
          <p:nvPr/>
        </p:nvCxnSpPr>
        <p:spPr>
          <a:xfrm flipV="1">
            <a:off x="6700396" y="4177482"/>
            <a:ext cx="0" cy="317389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feld 131">
            <a:extLst>
              <a:ext uri="{FF2B5EF4-FFF2-40B4-BE49-F238E27FC236}">
                <a16:creationId xmlns:a16="http://schemas.microsoft.com/office/drawing/2014/main" id="{557D7BEA-01D6-4DCB-B270-2F18FC85E77A}"/>
              </a:ext>
            </a:extLst>
          </p:cNvPr>
          <p:cNvSpPr txBox="1"/>
          <p:nvPr/>
        </p:nvSpPr>
        <p:spPr>
          <a:xfrm>
            <a:off x="6566454" y="4175427"/>
            <a:ext cx="13465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CS</a:t>
            </a:r>
          </a:p>
        </p:txBody>
      </p:sp>
      <p:sp>
        <p:nvSpPr>
          <p:cNvPr id="133" name="Textfeld 132">
            <a:extLst>
              <a:ext uri="{FF2B5EF4-FFF2-40B4-BE49-F238E27FC236}">
                <a16:creationId xmlns:a16="http://schemas.microsoft.com/office/drawing/2014/main" id="{8B5C4F63-C78E-42B8-91E5-F0447CC57B9F}"/>
              </a:ext>
            </a:extLst>
          </p:cNvPr>
          <p:cNvSpPr txBox="1"/>
          <p:nvPr/>
        </p:nvSpPr>
        <p:spPr>
          <a:xfrm>
            <a:off x="6598840" y="4335447"/>
            <a:ext cx="6892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5</a:t>
            </a: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FC5473C5-E7C2-45CB-BDC4-F8275B06DC11}"/>
              </a:ext>
            </a:extLst>
          </p:cNvPr>
          <p:cNvSpPr/>
          <p:nvPr/>
        </p:nvSpPr>
        <p:spPr>
          <a:xfrm>
            <a:off x="2501000" y="6366518"/>
            <a:ext cx="1626978" cy="3545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>
                <a:solidFill>
                  <a:schemeClr val="dk1"/>
                </a:solidFill>
              </a:rPr>
              <a:t>Rotary Encoder</a:t>
            </a:r>
          </a:p>
        </p:txBody>
      </p:sp>
      <p:cxnSp>
        <p:nvCxnSpPr>
          <p:cNvPr id="147" name="Gerader Verbinder 146">
            <a:extLst>
              <a:ext uri="{FF2B5EF4-FFF2-40B4-BE49-F238E27FC236}">
                <a16:creationId xmlns:a16="http://schemas.microsoft.com/office/drawing/2014/main" id="{1AD8066C-63F4-4883-9F00-F3F383E5B68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967862" y="5270236"/>
            <a:ext cx="1404000" cy="792000"/>
          </a:xfrm>
          <a:prstGeom prst="bentConnector3">
            <a:avLst>
              <a:gd name="adj1" fmla="val 50000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Gerader Verbinder 147">
            <a:extLst>
              <a:ext uri="{FF2B5EF4-FFF2-40B4-BE49-F238E27FC236}">
                <a16:creationId xmlns:a16="http://schemas.microsoft.com/office/drawing/2014/main" id="{5035BFD5-4BD4-44AA-9768-183B535786A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62641" y="5270237"/>
            <a:ext cx="1404000" cy="792000"/>
          </a:xfrm>
          <a:prstGeom prst="bentConnector3">
            <a:avLst>
              <a:gd name="adj1" fmla="val 50000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E04A6130-106E-45F7-821C-C763CC236A5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810352" y="5270236"/>
            <a:ext cx="1404000" cy="792000"/>
          </a:xfrm>
          <a:prstGeom prst="bentConnector3">
            <a:avLst>
              <a:gd name="adj1" fmla="val 50000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42E4ADBC-5791-40B2-9CE3-1B0B5553068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38686" y="5270236"/>
            <a:ext cx="1404000" cy="792000"/>
          </a:xfrm>
          <a:prstGeom prst="bentConnector3">
            <a:avLst>
              <a:gd name="adj1" fmla="val 50000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Gerader Verbinder 150">
            <a:extLst>
              <a:ext uri="{FF2B5EF4-FFF2-40B4-BE49-F238E27FC236}">
                <a16:creationId xmlns:a16="http://schemas.microsoft.com/office/drawing/2014/main" id="{AA911488-D32F-4068-981D-5BAA647742C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376063" y="5270236"/>
            <a:ext cx="1404000" cy="792000"/>
          </a:xfrm>
          <a:prstGeom prst="bentConnector3">
            <a:avLst>
              <a:gd name="adj1" fmla="val 50000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Gerader Verbinder 151">
            <a:extLst>
              <a:ext uri="{FF2B5EF4-FFF2-40B4-BE49-F238E27FC236}">
                <a16:creationId xmlns:a16="http://schemas.microsoft.com/office/drawing/2014/main" id="{4880CDAE-89CD-40D5-A3FB-65F790992AC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582016" y="5270236"/>
            <a:ext cx="1404000" cy="792000"/>
          </a:xfrm>
          <a:prstGeom prst="bentConnector3">
            <a:avLst>
              <a:gd name="adj1" fmla="val 50000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feld 157">
            <a:extLst>
              <a:ext uri="{FF2B5EF4-FFF2-40B4-BE49-F238E27FC236}">
                <a16:creationId xmlns:a16="http://schemas.microsoft.com/office/drawing/2014/main" id="{EAFC933F-5306-4B82-B439-5DB7839D95B1}"/>
              </a:ext>
            </a:extLst>
          </p:cNvPr>
          <p:cNvSpPr txBox="1"/>
          <p:nvPr/>
        </p:nvSpPr>
        <p:spPr>
          <a:xfrm>
            <a:off x="4514099" y="4991675"/>
            <a:ext cx="13785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14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1CADF1F7-C555-4CDF-987D-B5A6B8931284}"/>
              </a:ext>
            </a:extLst>
          </p:cNvPr>
          <p:cNvSpPr txBox="1"/>
          <p:nvPr/>
        </p:nvSpPr>
        <p:spPr>
          <a:xfrm>
            <a:off x="4291744" y="4991675"/>
            <a:ext cx="13785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27</a:t>
            </a: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0D6352A7-6DDF-4322-AF9D-B280AFAE10B7}"/>
              </a:ext>
            </a:extLst>
          </p:cNvPr>
          <p:cNvSpPr txBox="1"/>
          <p:nvPr/>
        </p:nvSpPr>
        <p:spPr>
          <a:xfrm>
            <a:off x="3551017" y="4991675"/>
            <a:ext cx="13785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32</a:t>
            </a:r>
          </a:p>
        </p:txBody>
      </p:sp>
      <p:sp>
        <p:nvSpPr>
          <p:cNvPr id="161" name="Textfeld 160">
            <a:extLst>
              <a:ext uri="{FF2B5EF4-FFF2-40B4-BE49-F238E27FC236}">
                <a16:creationId xmlns:a16="http://schemas.microsoft.com/office/drawing/2014/main" id="{356FE094-94E3-470E-A435-BE24D4AE2358}"/>
              </a:ext>
            </a:extLst>
          </p:cNvPr>
          <p:cNvSpPr txBox="1"/>
          <p:nvPr/>
        </p:nvSpPr>
        <p:spPr>
          <a:xfrm>
            <a:off x="3747054" y="4991675"/>
            <a:ext cx="13785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33</a:t>
            </a:r>
          </a:p>
        </p:txBody>
      </p:sp>
      <p:sp>
        <p:nvSpPr>
          <p:cNvPr id="162" name="Textfeld 161">
            <a:extLst>
              <a:ext uri="{FF2B5EF4-FFF2-40B4-BE49-F238E27FC236}">
                <a16:creationId xmlns:a16="http://schemas.microsoft.com/office/drawing/2014/main" id="{A3ABBC5E-04EF-47BF-8560-8B603A5FEF00}"/>
              </a:ext>
            </a:extLst>
          </p:cNvPr>
          <p:cNvSpPr txBox="1"/>
          <p:nvPr/>
        </p:nvSpPr>
        <p:spPr>
          <a:xfrm>
            <a:off x="4094794" y="4991675"/>
            <a:ext cx="13785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26</a:t>
            </a:r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4BFA000-BDAC-42B0-B9B4-F3E67BE8A963}"/>
              </a:ext>
            </a:extLst>
          </p:cNvPr>
          <p:cNvSpPr txBox="1"/>
          <p:nvPr/>
        </p:nvSpPr>
        <p:spPr>
          <a:xfrm>
            <a:off x="3923673" y="4991675"/>
            <a:ext cx="13785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25</a:t>
            </a:r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3A9ADD29-A5ED-4ED6-BAD1-F90A8E5B372A}"/>
              </a:ext>
            </a:extLst>
          </p:cNvPr>
          <p:cNvSpPr txBox="1"/>
          <p:nvPr/>
        </p:nvSpPr>
        <p:spPr>
          <a:xfrm>
            <a:off x="3729657" y="6210875"/>
            <a:ext cx="18274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SW</a:t>
            </a:r>
          </a:p>
        </p:txBody>
      </p:sp>
      <p:sp>
        <p:nvSpPr>
          <p:cNvPr id="166" name="Textfeld 165">
            <a:extLst>
              <a:ext uri="{FF2B5EF4-FFF2-40B4-BE49-F238E27FC236}">
                <a16:creationId xmlns:a16="http://schemas.microsoft.com/office/drawing/2014/main" id="{72815D9D-132B-4F80-BDF6-B3EFF5B9B916}"/>
              </a:ext>
            </a:extLst>
          </p:cNvPr>
          <p:cNvSpPr txBox="1"/>
          <p:nvPr/>
        </p:nvSpPr>
        <p:spPr>
          <a:xfrm>
            <a:off x="3524133" y="6210875"/>
            <a:ext cx="149080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DT</a:t>
            </a:r>
          </a:p>
        </p:txBody>
      </p:sp>
      <p:sp>
        <p:nvSpPr>
          <p:cNvPr id="167" name="Textfeld 166">
            <a:extLst>
              <a:ext uri="{FF2B5EF4-FFF2-40B4-BE49-F238E27FC236}">
                <a16:creationId xmlns:a16="http://schemas.microsoft.com/office/drawing/2014/main" id="{AE9E8C7F-23E3-462E-B4CC-32F5010BCBFB}"/>
              </a:ext>
            </a:extLst>
          </p:cNvPr>
          <p:cNvSpPr txBox="1"/>
          <p:nvPr/>
        </p:nvSpPr>
        <p:spPr>
          <a:xfrm>
            <a:off x="2758561" y="6210875"/>
            <a:ext cx="198772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CLK	</a:t>
            </a:r>
          </a:p>
        </p:txBody>
      </p:sp>
      <p:sp>
        <p:nvSpPr>
          <p:cNvPr id="168" name="Textfeld 167">
            <a:extLst>
              <a:ext uri="{FF2B5EF4-FFF2-40B4-BE49-F238E27FC236}">
                <a16:creationId xmlns:a16="http://schemas.microsoft.com/office/drawing/2014/main" id="{2125647A-079C-4F6E-A566-30DCC5BFD7E5}"/>
              </a:ext>
            </a:extLst>
          </p:cNvPr>
          <p:cNvSpPr txBox="1"/>
          <p:nvPr/>
        </p:nvSpPr>
        <p:spPr>
          <a:xfrm>
            <a:off x="2979443" y="6210875"/>
            <a:ext cx="149080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DT</a:t>
            </a:r>
          </a:p>
        </p:txBody>
      </p:sp>
      <p:sp>
        <p:nvSpPr>
          <p:cNvPr id="169" name="Textfeld 168">
            <a:extLst>
              <a:ext uri="{FF2B5EF4-FFF2-40B4-BE49-F238E27FC236}">
                <a16:creationId xmlns:a16="http://schemas.microsoft.com/office/drawing/2014/main" id="{933363B9-5FED-4F21-8CA0-896DBBDD8E36}"/>
              </a:ext>
            </a:extLst>
          </p:cNvPr>
          <p:cNvSpPr txBox="1"/>
          <p:nvPr/>
        </p:nvSpPr>
        <p:spPr>
          <a:xfrm>
            <a:off x="3302338" y="6210875"/>
            <a:ext cx="198772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CLK</a:t>
            </a:r>
          </a:p>
        </p:txBody>
      </p:sp>
      <p:sp>
        <p:nvSpPr>
          <p:cNvPr id="170" name="Textfeld 169">
            <a:extLst>
              <a:ext uri="{FF2B5EF4-FFF2-40B4-BE49-F238E27FC236}">
                <a16:creationId xmlns:a16="http://schemas.microsoft.com/office/drawing/2014/main" id="{60EA6BE8-979A-4019-976F-11809C126A51}"/>
              </a:ext>
            </a:extLst>
          </p:cNvPr>
          <p:cNvSpPr txBox="1"/>
          <p:nvPr/>
        </p:nvSpPr>
        <p:spPr>
          <a:xfrm>
            <a:off x="3139231" y="6210875"/>
            <a:ext cx="18274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SW</a:t>
            </a:r>
          </a:p>
        </p:txBody>
      </p:sp>
      <p:graphicFrame>
        <p:nvGraphicFramePr>
          <p:cNvPr id="177" name="Tabelle 5">
            <a:extLst>
              <a:ext uri="{FF2B5EF4-FFF2-40B4-BE49-F238E27FC236}">
                <a16:creationId xmlns:a16="http://schemas.microsoft.com/office/drawing/2014/main" id="{8C767214-18CB-48E8-AE7C-B829310B7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35786"/>
              </p:ext>
            </p:extLst>
          </p:nvPr>
        </p:nvGraphicFramePr>
        <p:xfrm>
          <a:off x="231323" y="123201"/>
          <a:ext cx="179795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3078">
                  <a:extLst>
                    <a:ext uri="{9D8B030D-6E8A-4147-A177-3AD203B41FA5}">
                      <a16:colId xmlns:a16="http://schemas.microsoft.com/office/drawing/2014/main" val="558252027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3275282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Rotary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ESP32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765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CLK-LEFT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48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DT-LEFT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363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SW-LEFT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575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CLK-RIGHT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966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DT-RIGHT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17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SW_RIGHT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229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447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EBD35803-D10E-4CBE-8067-1A699E440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738430"/>
              </p:ext>
            </p:extLst>
          </p:nvPr>
        </p:nvGraphicFramePr>
        <p:xfrm>
          <a:off x="1" y="76200"/>
          <a:ext cx="12191997" cy="6155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6938">
                  <a:extLst>
                    <a:ext uri="{9D8B030D-6E8A-4147-A177-3AD203B41FA5}">
                      <a16:colId xmlns:a16="http://schemas.microsoft.com/office/drawing/2014/main" val="1539774444"/>
                    </a:ext>
                  </a:extLst>
                </a:gridCol>
                <a:gridCol w="923432">
                  <a:extLst>
                    <a:ext uri="{9D8B030D-6E8A-4147-A177-3AD203B41FA5}">
                      <a16:colId xmlns:a16="http://schemas.microsoft.com/office/drawing/2014/main" val="3532357481"/>
                    </a:ext>
                  </a:extLst>
                </a:gridCol>
                <a:gridCol w="534963">
                  <a:extLst>
                    <a:ext uri="{9D8B030D-6E8A-4147-A177-3AD203B41FA5}">
                      <a16:colId xmlns:a16="http://schemas.microsoft.com/office/drawing/2014/main" val="331362935"/>
                    </a:ext>
                  </a:extLst>
                </a:gridCol>
                <a:gridCol w="511626">
                  <a:extLst>
                    <a:ext uri="{9D8B030D-6E8A-4147-A177-3AD203B41FA5}">
                      <a16:colId xmlns:a16="http://schemas.microsoft.com/office/drawing/2014/main" val="883978954"/>
                    </a:ext>
                  </a:extLst>
                </a:gridCol>
                <a:gridCol w="6448027">
                  <a:extLst>
                    <a:ext uri="{9D8B030D-6E8A-4147-A177-3AD203B41FA5}">
                      <a16:colId xmlns:a16="http://schemas.microsoft.com/office/drawing/2014/main" val="217806879"/>
                    </a:ext>
                  </a:extLst>
                </a:gridCol>
                <a:gridCol w="768494">
                  <a:extLst>
                    <a:ext uri="{9D8B030D-6E8A-4147-A177-3AD203B41FA5}">
                      <a16:colId xmlns:a16="http://schemas.microsoft.com/office/drawing/2014/main" val="2721987841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5270231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35412168"/>
                    </a:ext>
                  </a:extLst>
                </a:gridCol>
                <a:gridCol w="816847">
                  <a:extLst>
                    <a:ext uri="{9D8B030D-6E8A-4147-A177-3AD203B41FA5}">
                      <a16:colId xmlns:a16="http://schemas.microsoft.com/office/drawing/2014/main" val="2322598111"/>
                    </a:ext>
                  </a:extLst>
                </a:gridCol>
                <a:gridCol w="545226">
                  <a:extLst>
                    <a:ext uri="{9D8B030D-6E8A-4147-A177-3AD203B41FA5}">
                      <a16:colId xmlns:a16="http://schemas.microsoft.com/office/drawing/2014/main" val="90653551"/>
                    </a:ext>
                  </a:extLst>
                </a:gridCol>
              </a:tblGrid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Rotary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Rotary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982814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LV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913058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MOSI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659889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LV2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912469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89404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449120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LV1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809008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CLK-1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223528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DT-1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MISO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546112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SW-1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CLK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975738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CLK-2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537215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DT-2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481746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SW-2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CLK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783938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i="0"/>
                        <a:t>(MISO)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616500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430252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MOSI/DIN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896791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36739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866544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688934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355016"/>
                  </a:ext>
                </a:extLst>
              </a:tr>
            </a:tbl>
          </a:graphicData>
        </a:graphic>
      </p:graphicFrame>
      <p:pic>
        <p:nvPicPr>
          <p:cNvPr id="2050" name="Picture 2" descr="Pin-Layout des ESP32">
            <a:extLst>
              <a:ext uri="{FF2B5EF4-FFF2-40B4-BE49-F238E27FC236}">
                <a16:creationId xmlns:a16="http://schemas.microsoft.com/office/drawing/2014/main" id="{3F9827A7-10EF-4D78-B33D-C00259CC7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827" y="0"/>
            <a:ext cx="5723944" cy="686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139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le 3">
            <a:extLst>
              <a:ext uri="{FF2B5EF4-FFF2-40B4-BE49-F238E27FC236}">
                <a16:creationId xmlns:a16="http://schemas.microsoft.com/office/drawing/2014/main" id="{E5C74FF1-6670-45BA-854C-CFC387733C81}"/>
              </a:ext>
            </a:extLst>
          </p:cNvPr>
          <p:cNvGraphicFramePr>
            <a:graphicFrameLocks noGrp="1"/>
          </p:cNvGraphicFramePr>
          <p:nvPr/>
        </p:nvGraphicFramePr>
        <p:xfrm>
          <a:off x="8452194" y="1682191"/>
          <a:ext cx="1926246" cy="273436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26246">
                  <a:extLst>
                    <a:ext uri="{9D8B030D-6E8A-4147-A177-3AD203B41FA5}">
                      <a16:colId xmlns:a16="http://schemas.microsoft.com/office/drawing/2014/main" val="883978954"/>
                    </a:ext>
                  </a:extLst>
                </a:gridCol>
              </a:tblGrid>
              <a:tr h="390623">
                <a:tc>
                  <a:txBody>
                    <a:bodyPr/>
                    <a:lstStyle/>
                    <a:p>
                      <a:r>
                        <a:rPr lang="de-DE" sz="1400"/>
                        <a:t>ESP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982814"/>
                  </a:ext>
                </a:extLst>
              </a:tr>
              <a:tr h="390623">
                <a:tc>
                  <a:txBody>
                    <a:bodyPr/>
                    <a:lstStyle/>
                    <a:p>
                      <a:r>
                        <a:rPr lang="de-DE" sz="140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913058"/>
                  </a:ext>
                </a:extLst>
              </a:tr>
              <a:tr h="390623">
                <a:tc>
                  <a:txBody>
                    <a:bodyPr/>
                    <a:lstStyle/>
                    <a:p>
                      <a:r>
                        <a:rPr lang="de-DE" sz="1400"/>
                        <a:t>GPIO 19 (VSPI MISO)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659889"/>
                  </a:ext>
                </a:extLst>
              </a:tr>
              <a:tr h="390623">
                <a:tc>
                  <a:txBody>
                    <a:bodyPr/>
                    <a:lstStyle/>
                    <a:p>
                      <a:r>
                        <a:rPr lang="de-DE" sz="1400"/>
                        <a:t>GPIO 18 (VSPI SCL)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912469"/>
                  </a:ext>
                </a:extLst>
              </a:tr>
              <a:tr h="390623">
                <a:tc>
                  <a:txBody>
                    <a:bodyPr/>
                    <a:lstStyle/>
                    <a:p>
                      <a:r>
                        <a:rPr lang="de-DE" sz="1400"/>
                        <a:t>GPIO 23 (VSPI MOSI)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89404"/>
                  </a:ext>
                </a:extLst>
              </a:tr>
              <a:tr h="390623">
                <a:tc>
                  <a:txBody>
                    <a:bodyPr/>
                    <a:lstStyle/>
                    <a:p>
                      <a:r>
                        <a:rPr lang="de-DE" sz="1400"/>
                        <a:t>GPIO 5 (VSPI 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449120"/>
                  </a:ext>
                </a:extLst>
              </a:tr>
              <a:tr h="390623">
                <a:tc>
                  <a:txBody>
                    <a:bodyPr/>
                    <a:lstStyle/>
                    <a:p>
                      <a:r>
                        <a:rPr lang="de-DE" sz="140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809008"/>
                  </a:ext>
                </a:extLst>
              </a:tr>
            </a:tbl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2DC6DC9-144C-4A1C-AF9E-50A125ECA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SD Modul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43DF3434-403C-4E20-A4CF-94B62C7DAE0F}"/>
              </a:ext>
            </a:extLst>
          </p:cNvPr>
          <p:cNvGrpSpPr/>
          <p:nvPr/>
        </p:nvGrpSpPr>
        <p:grpSpPr>
          <a:xfrm>
            <a:off x="345379" y="1645314"/>
            <a:ext cx="8154538" cy="3219899"/>
            <a:chOff x="2018731" y="1819050"/>
            <a:chExt cx="8154538" cy="3219899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4F45C3E0-F51D-404F-96ED-DC2301E1B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018731" y="1819050"/>
              <a:ext cx="8154538" cy="3219899"/>
            </a:xfrm>
            <a:prstGeom prst="rect">
              <a:avLst/>
            </a:prstGeom>
          </p:spPr>
        </p:pic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8C78FD4D-687D-4484-9DBF-B289D1EA502A}"/>
                </a:ext>
              </a:extLst>
            </p:cNvPr>
            <p:cNvSpPr txBox="1"/>
            <p:nvPr/>
          </p:nvSpPr>
          <p:spPr>
            <a:xfrm>
              <a:off x="6594729" y="2676525"/>
              <a:ext cx="3152776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de-DE" sz="2000" b="1" i="1"/>
                <a:t>MISO (Master In Slave Out)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3566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e 3">
            <a:extLst>
              <a:ext uri="{FF2B5EF4-FFF2-40B4-BE49-F238E27FC236}">
                <a16:creationId xmlns:a16="http://schemas.microsoft.com/office/drawing/2014/main" id="{3B27E527-8E64-4ACD-AB25-0BEFC29B6ECF}"/>
              </a:ext>
            </a:extLst>
          </p:cNvPr>
          <p:cNvGraphicFramePr>
            <a:graphicFrameLocks noGrp="1"/>
          </p:cNvGraphicFramePr>
          <p:nvPr/>
        </p:nvGraphicFramePr>
        <p:xfrm>
          <a:off x="1214392" y="2121408"/>
          <a:ext cx="9763214" cy="384962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88728">
                  <a:extLst>
                    <a:ext uri="{9D8B030D-6E8A-4147-A177-3AD203B41FA5}">
                      <a16:colId xmlns:a16="http://schemas.microsoft.com/office/drawing/2014/main" val="1539774444"/>
                    </a:ext>
                  </a:extLst>
                </a:gridCol>
                <a:gridCol w="812055">
                  <a:extLst>
                    <a:ext uri="{9D8B030D-6E8A-4147-A177-3AD203B41FA5}">
                      <a16:colId xmlns:a16="http://schemas.microsoft.com/office/drawing/2014/main" val="883978954"/>
                    </a:ext>
                  </a:extLst>
                </a:gridCol>
                <a:gridCol w="6163056">
                  <a:extLst>
                    <a:ext uri="{9D8B030D-6E8A-4147-A177-3AD203B41FA5}">
                      <a16:colId xmlns:a16="http://schemas.microsoft.com/office/drawing/2014/main" val="4257777642"/>
                    </a:ext>
                  </a:extLst>
                </a:gridCol>
                <a:gridCol w="1153556">
                  <a:extLst>
                    <a:ext uri="{9D8B030D-6E8A-4147-A177-3AD203B41FA5}">
                      <a16:colId xmlns:a16="http://schemas.microsoft.com/office/drawing/2014/main" val="252702316"/>
                    </a:ext>
                  </a:extLst>
                </a:gridCol>
                <a:gridCol w="745819">
                  <a:extLst>
                    <a:ext uri="{9D8B030D-6E8A-4147-A177-3AD203B41FA5}">
                      <a16:colId xmlns:a16="http://schemas.microsoft.com/office/drawing/2014/main" val="435412168"/>
                    </a:ext>
                  </a:extLst>
                </a:gridCol>
              </a:tblGrid>
              <a:tr h="549947">
                <a:tc>
                  <a:txBody>
                    <a:bodyPr/>
                    <a:lstStyle/>
                    <a:p>
                      <a:r>
                        <a:rPr lang="de-DE" sz="1400"/>
                        <a:t>BUS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ESP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ESP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BUS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982814"/>
                  </a:ext>
                </a:extLst>
              </a:tr>
              <a:tr h="549947"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913058"/>
                  </a:ext>
                </a:extLst>
              </a:tr>
              <a:tr h="549947"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659889"/>
                  </a:ext>
                </a:extLst>
              </a:tr>
              <a:tr h="549947">
                <a:tc>
                  <a:txBody>
                    <a:bodyPr/>
                    <a:lstStyle/>
                    <a:p>
                      <a:r>
                        <a:rPr lang="de-DE" sz="1400"/>
                        <a:t>GND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GND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7912469"/>
                  </a:ext>
                </a:extLst>
              </a:tr>
              <a:tr h="549947">
                <a:tc>
                  <a:txBody>
                    <a:bodyPr/>
                    <a:lstStyle/>
                    <a:p>
                      <a:r>
                        <a:rPr lang="de-DE" sz="1400"/>
                        <a:t>VCC (5V)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3V3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89404"/>
                  </a:ext>
                </a:extLst>
              </a:tr>
              <a:tr h="549947">
                <a:tc>
                  <a:txBody>
                    <a:bodyPr/>
                    <a:lstStyle/>
                    <a:p>
                      <a:r>
                        <a:rPr lang="de-DE" sz="1400"/>
                        <a:t>D+ (SCL)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GPIO 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449120"/>
                  </a:ext>
                </a:extLst>
              </a:tr>
              <a:tr h="549947">
                <a:tc>
                  <a:txBody>
                    <a:bodyPr/>
                    <a:lstStyle/>
                    <a:p>
                      <a:r>
                        <a:rPr lang="de-DE" sz="1400"/>
                        <a:t>D- (SDA)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GPIO 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809008"/>
                  </a:ext>
                </a:extLst>
              </a:tr>
            </a:tbl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69AB42F-BF99-4796-8E29-DE44F6DC4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Pegel Wandler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757F41C-B0B6-4592-AC98-425C1C43A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78" y="2693980"/>
            <a:ext cx="2819794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0850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56CF85-4A33-4E7E-A82B-6CAE3A080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Rotary Encoder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6A4B80F-7EC7-4703-A3CE-E8FD0F481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633" y="3680312"/>
            <a:ext cx="5239481" cy="298174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A4DD7C9-8429-4E2E-B0EC-2932A5C20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634" y="627776"/>
            <a:ext cx="5239481" cy="298174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38A6E45-8D52-4C02-81E5-261C917C7ABB}"/>
              </a:ext>
            </a:extLst>
          </p:cNvPr>
          <p:cNvSpPr txBox="1"/>
          <p:nvPr/>
        </p:nvSpPr>
        <p:spPr>
          <a:xfrm>
            <a:off x="952500" y="2486025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LEFT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B103CA9-4D15-4418-BCAE-0EEF059443C6}"/>
              </a:ext>
            </a:extLst>
          </p:cNvPr>
          <p:cNvSpPr txBox="1"/>
          <p:nvPr/>
        </p:nvSpPr>
        <p:spPr>
          <a:xfrm>
            <a:off x="952500" y="4713606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RIGHT</a:t>
            </a:r>
          </a:p>
        </p:txBody>
      </p:sp>
      <p:graphicFrame>
        <p:nvGraphicFramePr>
          <p:cNvPr id="10" name="Tabelle 3">
            <a:extLst>
              <a:ext uri="{FF2B5EF4-FFF2-40B4-BE49-F238E27FC236}">
                <a16:creationId xmlns:a16="http://schemas.microsoft.com/office/drawing/2014/main" id="{85DF4966-DA32-45FC-979B-C81B798B1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31445"/>
              </p:ext>
            </p:extLst>
          </p:nvPr>
        </p:nvGraphicFramePr>
        <p:xfrm>
          <a:off x="7611511" y="507111"/>
          <a:ext cx="1926246" cy="263777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26246">
                  <a:extLst>
                    <a:ext uri="{9D8B030D-6E8A-4147-A177-3AD203B41FA5}">
                      <a16:colId xmlns:a16="http://schemas.microsoft.com/office/drawing/2014/main" val="883978954"/>
                    </a:ext>
                  </a:extLst>
                </a:gridCol>
              </a:tblGrid>
              <a:tr h="439629">
                <a:tc>
                  <a:txBody>
                    <a:bodyPr/>
                    <a:lstStyle/>
                    <a:p>
                      <a:r>
                        <a:rPr lang="de-DE" sz="1400"/>
                        <a:t>ESP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982814"/>
                  </a:ext>
                </a:extLst>
              </a:tr>
              <a:tr h="439629">
                <a:tc>
                  <a:txBody>
                    <a:bodyPr/>
                    <a:lstStyle/>
                    <a:p>
                      <a:r>
                        <a:rPr lang="de-DE" sz="1400"/>
                        <a:t>GPIO 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913058"/>
                  </a:ext>
                </a:extLst>
              </a:tr>
              <a:tr h="439629">
                <a:tc>
                  <a:txBody>
                    <a:bodyPr/>
                    <a:lstStyle/>
                    <a:p>
                      <a:r>
                        <a:rPr lang="de-DE" sz="1400"/>
                        <a:t>GPIO 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659889"/>
                  </a:ext>
                </a:extLst>
              </a:tr>
              <a:tr h="439629">
                <a:tc>
                  <a:txBody>
                    <a:bodyPr/>
                    <a:lstStyle/>
                    <a:p>
                      <a:r>
                        <a:rPr lang="de-DE" sz="1400"/>
                        <a:t>GPIO 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912469"/>
                  </a:ext>
                </a:extLst>
              </a:tr>
              <a:tr h="439629">
                <a:tc>
                  <a:txBody>
                    <a:bodyPr/>
                    <a:lstStyle/>
                    <a:p>
                      <a:r>
                        <a:rPr lang="de-DE" sz="1400"/>
                        <a:t>3V3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89404"/>
                  </a:ext>
                </a:extLst>
              </a:tr>
              <a:tr h="439629">
                <a:tc>
                  <a:txBody>
                    <a:bodyPr/>
                    <a:lstStyle/>
                    <a:p>
                      <a:r>
                        <a:rPr lang="de-DE" sz="140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449120"/>
                  </a:ext>
                </a:extLst>
              </a:tr>
            </a:tbl>
          </a:graphicData>
        </a:graphic>
      </p:graphicFrame>
      <p:graphicFrame>
        <p:nvGraphicFramePr>
          <p:cNvPr id="11" name="Tabelle 3">
            <a:extLst>
              <a:ext uri="{FF2B5EF4-FFF2-40B4-BE49-F238E27FC236}">
                <a16:creationId xmlns:a16="http://schemas.microsoft.com/office/drawing/2014/main" id="{B77619A4-4293-48B5-AB79-25240D18B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468104"/>
              </p:ext>
            </p:extLst>
          </p:nvPr>
        </p:nvGraphicFramePr>
        <p:xfrm>
          <a:off x="7611511" y="3570543"/>
          <a:ext cx="1926246" cy="263777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26246">
                  <a:extLst>
                    <a:ext uri="{9D8B030D-6E8A-4147-A177-3AD203B41FA5}">
                      <a16:colId xmlns:a16="http://schemas.microsoft.com/office/drawing/2014/main" val="883978954"/>
                    </a:ext>
                  </a:extLst>
                </a:gridCol>
              </a:tblGrid>
              <a:tr h="439629">
                <a:tc>
                  <a:txBody>
                    <a:bodyPr/>
                    <a:lstStyle/>
                    <a:p>
                      <a:r>
                        <a:rPr lang="de-DE" sz="1400"/>
                        <a:t>ESP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982814"/>
                  </a:ext>
                </a:extLst>
              </a:tr>
              <a:tr h="439629">
                <a:tc>
                  <a:txBody>
                    <a:bodyPr/>
                    <a:lstStyle/>
                    <a:p>
                      <a:r>
                        <a:rPr lang="de-DE" sz="1400"/>
                        <a:t>GPIO 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913058"/>
                  </a:ext>
                </a:extLst>
              </a:tr>
              <a:tr h="439629">
                <a:tc>
                  <a:txBody>
                    <a:bodyPr/>
                    <a:lstStyle/>
                    <a:p>
                      <a:r>
                        <a:rPr lang="de-DE" sz="1400"/>
                        <a:t>GPIO 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659889"/>
                  </a:ext>
                </a:extLst>
              </a:tr>
              <a:tr h="439629">
                <a:tc>
                  <a:txBody>
                    <a:bodyPr/>
                    <a:lstStyle/>
                    <a:p>
                      <a:r>
                        <a:rPr lang="de-DE" sz="1400"/>
                        <a:t>GPIO 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912469"/>
                  </a:ext>
                </a:extLst>
              </a:tr>
              <a:tr h="439629">
                <a:tc>
                  <a:txBody>
                    <a:bodyPr/>
                    <a:lstStyle/>
                    <a:p>
                      <a:r>
                        <a:rPr lang="de-DE" sz="1400"/>
                        <a:t>3V3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89404"/>
                  </a:ext>
                </a:extLst>
              </a:tr>
              <a:tr h="439629">
                <a:tc>
                  <a:txBody>
                    <a:bodyPr/>
                    <a:lstStyle/>
                    <a:p>
                      <a:r>
                        <a:rPr lang="de-DE" sz="140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449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2848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04A67EFA-EE6A-4996-BFE5-E0763B412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379477"/>
              </p:ext>
            </p:extLst>
          </p:nvPr>
        </p:nvGraphicFramePr>
        <p:xfrm>
          <a:off x="1558060" y="9525"/>
          <a:ext cx="5519015" cy="6848489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696015">
                  <a:extLst>
                    <a:ext uri="{9D8B030D-6E8A-4147-A177-3AD203B41FA5}">
                      <a16:colId xmlns:a16="http://schemas.microsoft.com/office/drawing/2014/main" val="3983583951"/>
                    </a:ext>
                  </a:extLst>
                </a:gridCol>
                <a:gridCol w="1136568">
                  <a:extLst>
                    <a:ext uri="{9D8B030D-6E8A-4147-A177-3AD203B41FA5}">
                      <a16:colId xmlns:a16="http://schemas.microsoft.com/office/drawing/2014/main" val="190511087"/>
                    </a:ext>
                  </a:extLst>
                </a:gridCol>
                <a:gridCol w="982947">
                  <a:extLst>
                    <a:ext uri="{9D8B030D-6E8A-4147-A177-3AD203B41FA5}">
                      <a16:colId xmlns:a16="http://schemas.microsoft.com/office/drawing/2014/main" val="2171416717"/>
                    </a:ext>
                  </a:extLst>
                </a:gridCol>
                <a:gridCol w="2703485">
                  <a:extLst>
                    <a:ext uri="{9D8B030D-6E8A-4147-A177-3AD203B41FA5}">
                      <a16:colId xmlns:a16="http://schemas.microsoft.com/office/drawing/2014/main" val="2109541097"/>
                    </a:ext>
                  </a:extLst>
                </a:gridCol>
              </a:tblGrid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SD-Modul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ESP32 Pin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Description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1762744045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3V3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3V3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Power plus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2772125625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GND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GND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Power minus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3221309675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MISO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19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Master-In-Slave-Out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3123315518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MOSI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23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u="none" strike="noStrike">
                          <a:effectLst/>
                        </a:rPr>
                        <a:t>Master-Out-Slave-In (parallel to DIN of Display)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3300033031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CLK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18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u="none" strike="noStrike">
                          <a:effectLst/>
                        </a:rPr>
                        <a:t>Clock (parallel to CLK of TFT Display)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1482623498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CS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5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Chip Select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1595480405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USB Port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Pegelwandler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ESP32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Description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3853113440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VCC (5V)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HV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V5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Power plus 5V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1426696766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GND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GND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GND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Power minus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3369650563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D- (SDA)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HV1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 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2" marR="7002" marT="0" marB="0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SDA (high voltage)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3865432587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D+ (SCL)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HV2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 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2" marR="7002" marT="0" marB="0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SCL (high voltage)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696277114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 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2" marR="7002" marT="0" marB="0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LV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3V3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Power plus 3.3V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1424955503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 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2" marR="7002" marT="0" marB="0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LV1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21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SDA (low voltage)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1293015041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 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2" marR="7002" marT="0" marB="0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LV2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22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SCL (low voltage)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3037812246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Display Pin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ESP32 Pin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Description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1472943761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VCC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3V3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Power plus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184268178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GND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GND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Power minus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199190201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CS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15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SPI Chip Select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2659461124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RST 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4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Display Reset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1967187312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DC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2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Data / Command Selection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1927413711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12</a:t>
                      </a: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MISO (in case of touch pad)</a:t>
                      </a: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1726931480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DIN (SDI, MOSI)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13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SPI-Datenausgang vom ESP32 (MasterOut-SlaveIn)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2369802236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CLK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16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SPI Hardware-Taktleitung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3589885974"/>
                  </a:ext>
                </a:extLst>
              </a:tr>
              <a:tr h="255564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</a:t>
                      </a: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u="none" strike="noStrike">
                          <a:effectLst/>
                        </a:rPr>
                        <a:t>GPIO 17</a:t>
                      </a: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Hintergrundbeleuchtung regelbar (oder dauerhaft an)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4113256515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u="none" strike="noStrike">
                          <a:effectLst/>
                        </a:rPr>
                        <a:t>Rotary Encoder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u="none" strike="noStrike">
                          <a:effectLst/>
                        </a:rPr>
                        <a:t>ESP32 Pin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Description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1793818777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LEFT CLK</a:t>
                      </a: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32</a:t>
                      </a: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CLK at Rotary Encoder on left side</a:t>
                      </a: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2341493969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LEFT DT</a:t>
                      </a: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33</a:t>
                      </a: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DT at Rotary Encoder on left side</a:t>
                      </a: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1944534126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LEFT SW</a:t>
                      </a: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25</a:t>
                      </a: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 at Rotary Encoder on left side</a:t>
                      </a: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3877505065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RIGHT CLK</a:t>
                      </a: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26</a:t>
                      </a: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CLK at Rotary Encoder on right side</a:t>
                      </a: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3845090519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RIGHT DT</a:t>
                      </a: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27</a:t>
                      </a: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DT at Rotary Encoder on rght side</a:t>
                      </a: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3433610737"/>
                  </a:ext>
                </a:extLst>
              </a:tr>
              <a:tr h="212675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0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RIGHT SW</a:t>
                      </a: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14</a:t>
                      </a:r>
                    </a:p>
                  </a:txBody>
                  <a:tcPr marL="7002" marR="7002" marT="0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 at Rotary Encoder on right side</a:t>
                      </a:r>
                    </a:p>
                  </a:txBody>
                  <a:tcPr marL="7002" marR="7002" marT="0" marB="0" anchor="ctr"/>
                </a:tc>
                <a:extLst>
                  <a:ext uri="{0D108BD9-81ED-4DB2-BD59-A6C34878D82A}">
                    <a16:rowId xmlns:a16="http://schemas.microsoft.com/office/drawing/2014/main" val="3020212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3580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378AAF-0BC5-4ABD-A43D-876A4795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Backlight Pin (BL)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650AF52-A8CF-425F-AA34-26BDFC0F4651}"/>
              </a:ext>
            </a:extLst>
          </p:cNvPr>
          <p:cNvSpPr txBox="1"/>
          <p:nvPr/>
        </p:nvSpPr>
        <p:spPr>
          <a:xfrm>
            <a:off x="272992" y="835702"/>
            <a:ext cx="56779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b="1" u="none" strike="noStrike">
                <a:solidFill>
                  <a:srgbClr val="0F1111"/>
                </a:solidFill>
                <a:effectLst/>
                <a:latin typeface="Amazon Ember"/>
              </a:rPr>
              <a:t>Typsches Setup:</a:t>
            </a:r>
            <a:endParaRPr lang="de-DE" b="0" u="none" strike="noStrike">
              <a:solidFill>
                <a:srgbClr val="0F1111"/>
              </a:solidFill>
              <a:effectLst/>
              <a:latin typeface="Amazon Ember"/>
            </a:endParaRPr>
          </a:p>
          <a:p>
            <a:pPr algn="l"/>
            <a:r>
              <a:rPr lang="de-DE" b="0" i="0" u="none" strike="noStrike">
                <a:solidFill>
                  <a:srgbClr val="0F1111"/>
                </a:solidFill>
                <a:effectLst/>
                <a:latin typeface="Amazon Ember"/>
              </a:rPr>
              <a:t>Arduino PWM-Pin → 100–220 Ohm Widerstand → BL-Pin</a:t>
            </a:r>
          </a:p>
          <a:p>
            <a:pPr algn="l"/>
            <a:r>
              <a:rPr lang="de-DE" b="0" i="0" u="none" strike="noStrike">
                <a:solidFill>
                  <a:srgbClr val="0F1111"/>
                </a:solidFill>
                <a:effectLst/>
                <a:latin typeface="Amazon Ember"/>
              </a:rPr>
              <a:t>Dann mit analogWrite(pin, 0-255) die Helligkeit steuern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9B53105-9887-4633-A2C6-7867BB39B808}"/>
              </a:ext>
            </a:extLst>
          </p:cNvPr>
          <p:cNvSpPr txBox="1"/>
          <p:nvPr/>
        </p:nvSpPr>
        <p:spPr>
          <a:xfrm>
            <a:off x="272992" y="1966958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b="1" u="none" strike="noStrike">
                <a:solidFill>
                  <a:srgbClr val="0F1111"/>
                </a:solidFill>
                <a:effectLst/>
                <a:latin typeface="Amazon Ember"/>
              </a:rPr>
              <a:t>Beim Arduino funktioniert das so:</a:t>
            </a:r>
            <a:endParaRPr lang="de-DE" b="0" u="none" strike="noStrike">
              <a:solidFill>
                <a:srgbClr val="0F1111"/>
              </a:solidFill>
              <a:effectLst/>
              <a:latin typeface="Amazon Ember"/>
            </a:endParaRPr>
          </a:p>
          <a:p>
            <a:pPr marL="285750" indent="-285750" algn="l">
              <a:buFontTx/>
              <a:buChar char="-"/>
            </a:pPr>
            <a:r>
              <a:rPr lang="de-DE" b="0" u="none" strike="noStrike">
                <a:solidFill>
                  <a:srgbClr val="0F1111"/>
                </a:solidFill>
                <a:effectLst/>
                <a:latin typeface="Amazon Ember"/>
              </a:rPr>
              <a:t>analogWrite(pin, 0); // 0 = komplett aus </a:t>
            </a:r>
            <a:endParaRPr lang="de-DE">
              <a:solidFill>
                <a:srgbClr val="0F1111"/>
              </a:solidFill>
              <a:latin typeface="Amazon Ember"/>
            </a:endParaRPr>
          </a:p>
          <a:p>
            <a:pPr marL="285750" indent="-285750" algn="l">
              <a:buFontTx/>
              <a:buChar char="-"/>
            </a:pPr>
            <a:r>
              <a:rPr lang="de-DE" b="0" u="none" strike="noStrike">
                <a:solidFill>
                  <a:srgbClr val="0F1111"/>
                </a:solidFill>
                <a:effectLst/>
                <a:latin typeface="Amazon Ember"/>
              </a:rPr>
              <a:t>analogWrite(pin, 128); // 128 = halbe Helligkeit</a:t>
            </a:r>
          </a:p>
          <a:p>
            <a:pPr marL="285750" indent="-285750" algn="l">
              <a:buFontTx/>
              <a:buChar char="-"/>
            </a:pPr>
            <a:r>
              <a:rPr lang="de-DE" b="0" u="none" strike="noStrike">
                <a:solidFill>
                  <a:srgbClr val="0F1111"/>
                </a:solidFill>
                <a:effectLst/>
                <a:latin typeface="Amazon Ember"/>
              </a:rPr>
              <a:t>analogWrite(pin, 255); // 255 = volle Helligkeit </a:t>
            </a:r>
            <a:br>
              <a:rPr lang="de-DE" b="0" u="none" strike="noStrike">
                <a:solidFill>
                  <a:srgbClr val="0F1111"/>
                </a:solidFill>
                <a:effectLst/>
                <a:latin typeface="Amazon Ember"/>
              </a:rPr>
            </a:br>
            <a:endParaRPr lang="de-DE" b="0" u="none" strike="noStrike">
              <a:solidFill>
                <a:srgbClr val="0F1111"/>
              </a:solidFill>
              <a:effectLst/>
              <a:latin typeface="Amazon Ember"/>
            </a:endParaRPr>
          </a:p>
          <a:p>
            <a:pPr algn="l"/>
            <a:r>
              <a:rPr lang="de-DE" b="1" u="none" strike="noStrike">
                <a:solidFill>
                  <a:srgbClr val="0F1111"/>
                </a:solidFill>
                <a:effectLst/>
                <a:latin typeface="Amazon Ember"/>
              </a:rPr>
              <a:t>Für deinen BL-Pin am Display reicht aber auch einfach:</a:t>
            </a:r>
            <a:endParaRPr lang="de-DE" b="0" u="none" strike="noStrike">
              <a:solidFill>
                <a:srgbClr val="0F1111"/>
              </a:solidFill>
              <a:effectLst/>
              <a:latin typeface="Amazon Ember"/>
            </a:endParaRPr>
          </a:p>
          <a:p>
            <a:pPr marL="285750" indent="-285750" algn="l">
              <a:buFontTx/>
              <a:buChar char="-"/>
            </a:pPr>
            <a:r>
              <a:rPr lang="de-DE" b="0" u="none" strike="noStrike">
                <a:solidFill>
                  <a:srgbClr val="0F1111"/>
                </a:solidFill>
                <a:effectLst/>
                <a:latin typeface="Amazon Ember"/>
              </a:rPr>
              <a:t>digitalWrite(BL_Pin, HIGH); // Backlight an</a:t>
            </a:r>
          </a:p>
          <a:p>
            <a:pPr marL="285750" indent="-285750" algn="l">
              <a:buFontTx/>
              <a:buChar char="-"/>
            </a:pPr>
            <a:r>
              <a:rPr lang="de-DE" b="0" u="none" strike="noStrike">
                <a:solidFill>
                  <a:srgbClr val="0F1111"/>
                </a:solidFill>
                <a:effectLst/>
                <a:latin typeface="Amazon Ember"/>
              </a:rPr>
              <a:t>digitalWrite(BL_Pin, LOW); // Backlight aus </a:t>
            </a:r>
          </a:p>
          <a:p>
            <a:pPr algn="l"/>
            <a:br>
              <a:rPr lang="de-DE" b="0" u="none" strike="noStrike">
                <a:solidFill>
                  <a:srgbClr val="0F1111"/>
                </a:solidFill>
                <a:effectLst/>
                <a:latin typeface="Amazon Ember"/>
              </a:rPr>
            </a:br>
            <a:r>
              <a:rPr lang="de-DE" b="0" u="none" strike="noStrike">
                <a:solidFill>
                  <a:srgbClr val="0F1111"/>
                </a:solidFill>
                <a:effectLst/>
                <a:latin typeface="Amazon Ember"/>
              </a:rPr>
              <a:t>Wenn du nur an/aus brauchst, ist digitalWrite völlig ausreichend – PWM (</a:t>
            </a:r>
            <a:r>
              <a:rPr lang="de-DE" b="1" i="0">
                <a:solidFill>
                  <a:srgbClr val="0F1111"/>
                </a:solidFill>
                <a:effectLst/>
                <a:latin typeface="Amazon Ember"/>
              </a:rPr>
              <a:t>Pulsweitenmodulation) </a:t>
            </a:r>
            <a:r>
              <a:rPr lang="de-DE" b="0" u="none" strike="noStrike">
                <a:solidFill>
                  <a:srgbClr val="0F1111"/>
                </a:solidFill>
                <a:effectLst/>
                <a:latin typeface="Amazon Ember"/>
              </a:rPr>
              <a:t>brauchst du nur, wenn du die Helligkeit stufenlos regeln möchtest.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51AA99B-A75E-4518-B2DF-DC16FCC78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873" y="923925"/>
            <a:ext cx="5550136" cy="482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87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122F7-06E5-4A20-A978-08CE3427D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Datenleitungen schützen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1F10E91-03FA-4176-8218-344CD35C4A32}"/>
              </a:ext>
            </a:extLst>
          </p:cNvPr>
          <p:cNvSpPr txBox="1"/>
          <p:nvPr/>
        </p:nvSpPr>
        <p:spPr>
          <a:xfrm>
            <a:off x="550333" y="12449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u="none" strike="noStrike">
                <a:effectLst/>
                <a:latin typeface="Google Sans"/>
              </a:rPr>
              <a:t>Spannungsteiler aus Widerständen:</a:t>
            </a:r>
            <a:r>
              <a:rPr lang="de-DE"/>
              <a:t> Schalte in jede Signalleitung vom Arduino Nano zum Display (MOSI, SCK, CS, D/C, RESET) einen einfachen Spannungsteiler. Ein </a:t>
            </a:r>
            <a:r>
              <a:rPr lang="de-DE" b="1" u="none" strike="noStrike">
                <a:effectLst/>
                <a:latin typeface="Google Sans"/>
              </a:rPr>
              <a:t>1kΩ Widerstand</a:t>
            </a:r>
            <a:r>
              <a:rPr lang="de-DE"/>
              <a:t> in Reihe und ein </a:t>
            </a:r>
            <a:r>
              <a:rPr lang="de-DE" b="1" u="none" strike="noStrike">
                <a:effectLst/>
                <a:latin typeface="Google Sans"/>
              </a:rPr>
              <a:t>2kΩ Widerstand</a:t>
            </a:r>
            <a:r>
              <a:rPr lang="de-DE"/>
              <a:t> gegen Masse (GND) senkt das 5V-Signal des Nano absolut sicher auf displayfreundliche ca. 3,3V ab. Das ist bei SPI-Frequenzen bis zu mehreren Megahertz absolut stabil.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B54BDFC-5608-4071-B1C7-6164B8D59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666" y="3366104"/>
            <a:ext cx="5434484" cy="329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525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7D3DF3-834B-4D46-95E9-F35E28672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Datenleitungen schützen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BA9057E0-0525-4E91-9150-C43837948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896" y="971549"/>
            <a:ext cx="5703128" cy="550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089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D10174C-7C02-4C8B-8C94-C98C8716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Lingo Bingo</a:t>
            </a:r>
          </a:p>
        </p:txBody>
      </p:sp>
    </p:spTree>
    <p:extLst>
      <p:ext uri="{BB962C8B-B14F-4D97-AF65-F5344CB8AC3E}">
        <p14:creationId xmlns:p14="http://schemas.microsoft.com/office/powerpoint/2010/main" val="18964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1D9B674-E0A9-452F-A749-67D4C9B83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Lingo Bingo Gadget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BBB2065-B24E-47C9-AE24-3E3B52AE4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Würfelähnliches Spiel</a:t>
            </a:r>
          </a:p>
          <a:p>
            <a:pPr lvl="1"/>
            <a:r>
              <a:rPr lang="de-DE"/>
              <a:t>6 LEDs die die Würfelaugen repräsentieren</a:t>
            </a:r>
          </a:p>
          <a:p>
            <a:pPr lvl="1"/>
            <a:r>
              <a:rPr lang="de-DE"/>
              <a:t>Ausgabe Jingle Sound während würfeln</a:t>
            </a:r>
          </a:p>
          <a:p>
            <a:pPr lvl="1"/>
            <a:r>
              <a:rPr lang="de-DE"/>
              <a:t>Ausgabe gewürfelte Ziffer Sound in unterschiedlichen Sprachen</a:t>
            </a:r>
            <a:br>
              <a:rPr lang="de-DE"/>
            </a:br>
            <a:endParaRPr lang="de-DE"/>
          </a:p>
          <a:p>
            <a:r>
              <a:rPr lang="de-DE"/>
              <a:t>Taste : es wird normal gewürfelt</a:t>
            </a:r>
            <a:br>
              <a:rPr lang="de-DE"/>
            </a:br>
            <a:endParaRPr lang="de-DE"/>
          </a:p>
          <a:p>
            <a:r>
              <a:rPr lang="de-DE"/>
              <a:t>Numpad Eingabe : es wird gewürfelt und bei Treffer entsprechend honoriert</a:t>
            </a:r>
          </a:p>
        </p:txBody>
      </p:sp>
    </p:spTree>
    <p:extLst>
      <p:ext uri="{BB962C8B-B14F-4D97-AF65-F5344CB8AC3E}">
        <p14:creationId xmlns:p14="http://schemas.microsoft.com/office/powerpoint/2010/main" val="3256396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le 3">
            <a:extLst>
              <a:ext uri="{FF2B5EF4-FFF2-40B4-BE49-F238E27FC236}">
                <a16:creationId xmlns:a16="http://schemas.microsoft.com/office/drawing/2014/main" id="{B6E3C101-B4D7-4AD7-B910-31FE55B47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092684"/>
              </p:ext>
            </p:extLst>
          </p:nvPr>
        </p:nvGraphicFramePr>
        <p:xfrm>
          <a:off x="0" y="434108"/>
          <a:ext cx="12192000" cy="5772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1539774444"/>
                    </a:ext>
                  </a:extLst>
                </a:gridCol>
                <a:gridCol w="535709">
                  <a:extLst>
                    <a:ext uri="{9D8B030D-6E8A-4147-A177-3AD203B41FA5}">
                      <a16:colId xmlns:a16="http://schemas.microsoft.com/office/drawing/2014/main" val="331362935"/>
                    </a:ext>
                  </a:extLst>
                </a:gridCol>
                <a:gridCol w="9935441">
                  <a:extLst>
                    <a:ext uri="{9D8B030D-6E8A-4147-A177-3AD203B41FA5}">
                      <a16:colId xmlns:a16="http://schemas.microsoft.com/office/drawing/2014/main" val="217806879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43541216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90653551"/>
                    </a:ext>
                  </a:extLst>
                </a:gridCol>
              </a:tblGrid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982814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CLK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913058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659889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912469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89404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449120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809008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223528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SDA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546112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SLC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975738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537215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LED-1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481746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783938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616500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430252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896791"/>
                  </a:ext>
                </a:extLst>
              </a:tr>
            </a:tbl>
          </a:graphicData>
        </a:graphic>
      </p:graphicFrame>
      <p:pic>
        <p:nvPicPr>
          <p:cNvPr id="7" name="Grafik 6">
            <a:extLst>
              <a:ext uri="{FF2B5EF4-FFF2-40B4-BE49-F238E27FC236}">
                <a16:creationId xmlns:a16="http://schemas.microsoft.com/office/drawing/2014/main" id="{7D694B51-1486-40C5-B134-A3988170806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1717479" y="0"/>
            <a:ext cx="8757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46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9294B0-BCA9-4658-B01F-4A948A05F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Lingo Bingo Controls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C81D91A-1930-4505-82E8-656199E88503}"/>
              </a:ext>
            </a:extLst>
          </p:cNvPr>
          <p:cNvSpPr/>
          <p:nvPr/>
        </p:nvSpPr>
        <p:spPr>
          <a:xfrm>
            <a:off x="3600000" y="1080000"/>
            <a:ext cx="73891" cy="8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5767EED-AE32-4E4E-BE9D-CC7AE83284FE}"/>
              </a:ext>
            </a:extLst>
          </p:cNvPr>
          <p:cNvSpPr/>
          <p:nvPr/>
        </p:nvSpPr>
        <p:spPr>
          <a:xfrm>
            <a:off x="7666109" y="1080000"/>
            <a:ext cx="73891" cy="8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3A7AA4A-B9C6-49BF-9867-618EF6204099}"/>
              </a:ext>
            </a:extLst>
          </p:cNvPr>
          <p:cNvSpPr/>
          <p:nvPr/>
        </p:nvSpPr>
        <p:spPr>
          <a:xfrm>
            <a:off x="3599999" y="5784872"/>
            <a:ext cx="73891" cy="8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06EC625-93E9-45E1-9439-0280E2F8361C}"/>
              </a:ext>
            </a:extLst>
          </p:cNvPr>
          <p:cNvSpPr/>
          <p:nvPr/>
        </p:nvSpPr>
        <p:spPr>
          <a:xfrm>
            <a:off x="7666109" y="5784873"/>
            <a:ext cx="73891" cy="8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7DA6A1E-307B-45CC-B50F-6D8205C3369E}"/>
              </a:ext>
            </a:extLst>
          </p:cNvPr>
          <p:cNvSpPr/>
          <p:nvPr/>
        </p:nvSpPr>
        <p:spPr>
          <a:xfrm>
            <a:off x="3600000" y="1080000"/>
            <a:ext cx="4140000" cy="47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3E11A70-FC8F-4C60-AD38-45AFDA945A17}"/>
              </a:ext>
            </a:extLst>
          </p:cNvPr>
          <p:cNvSpPr txBox="1"/>
          <p:nvPr/>
        </p:nvSpPr>
        <p:spPr>
          <a:xfrm>
            <a:off x="628072" y="1163127"/>
            <a:ext cx="1481496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/>
              <a:t>Panel</a:t>
            </a:r>
            <a:r>
              <a:rPr lang="de-DE" sz="1100"/>
              <a:t> </a:t>
            </a:r>
          </a:p>
          <a:p>
            <a:pPr marL="171450" indent="-171450">
              <a:buFontTx/>
              <a:buChar char="-"/>
            </a:pPr>
            <a:r>
              <a:rPr lang="de-DE" sz="1100"/>
              <a:t>inkl. nut : 115 x 133</a:t>
            </a:r>
          </a:p>
          <a:p>
            <a:pPr marL="171450" indent="-171450">
              <a:buFontTx/>
              <a:buChar char="-"/>
            </a:pPr>
            <a:r>
              <a:rPr lang="de-DE" sz="1100"/>
              <a:t>innen : 100 x 120</a:t>
            </a:r>
          </a:p>
          <a:p>
            <a:pPr marL="171450" indent="-171450">
              <a:buFontTx/>
              <a:buChar char="-"/>
            </a:pPr>
            <a:endParaRPr lang="de-DE" sz="1100"/>
          </a:p>
          <a:p>
            <a:r>
              <a:rPr lang="de-DE" sz="1100" b="1"/>
              <a:t>LED Kreis</a:t>
            </a:r>
          </a:p>
          <a:p>
            <a:pPr marL="171450" indent="-171450">
              <a:buFontTx/>
              <a:buChar char="-"/>
            </a:pPr>
            <a:r>
              <a:rPr lang="de-DE" sz="1100"/>
              <a:t>von oben: 50</a:t>
            </a:r>
          </a:p>
          <a:p>
            <a:pPr marL="171450" indent="-171450">
              <a:buFontTx/>
              <a:buChar char="-"/>
            </a:pPr>
            <a:r>
              <a:rPr lang="de-DE" sz="1100"/>
              <a:t>Radius: 30</a:t>
            </a:r>
          </a:p>
          <a:p>
            <a:pPr marL="171450" indent="-171450">
              <a:buFontTx/>
              <a:buChar char="-"/>
            </a:pPr>
            <a:endParaRPr lang="de-DE" sz="1100"/>
          </a:p>
          <a:p>
            <a:r>
              <a:rPr lang="de-DE" sz="1100"/>
              <a:t>Charging USB (links)</a:t>
            </a:r>
          </a:p>
          <a:p>
            <a:r>
              <a:rPr lang="de-DE" sz="1100"/>
              <a:t>- Links : 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FE6BD11C-5FA5-4430-923E-AAA9C865BC6F}"/>
              </a:ext>
            </a:extLst>
          </p:cNvPr>
          <p:cNvSpPr/>
          <p:nvPr/>
        </p:nvSpPr>
        <p:spPr>
          <a:xfrm>
            <a:off x="5535000" y="1661400"/>
            <a:ext cx="277200" cy="2772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9D12D2C-A941-4A97-9FCF-9FB67202BD27}"/>
              </a:ext>
            </a:extLst>
          </p:cNvPr>
          <p:cNvSpPr/>
          <p:nvPr/>
        </p:nvSpPr>
        <p:spPr>
          <a:xfrm>
            <a:off x="4590000" y="1800000"/>
            <a:ext cx="2160000" cy="2160000"/>
          </a:xfrm>
          <a:prstGeom prst="ellipse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2F97A1D-1DD0-4CE6-86EE-7C0AE2919C5E}"/>
              </a:ext>
            </a:extLst>
          </p:cNvPr>
          <p:cNvSpPr/>
          <p:nvPr/>
        </p:nvSpPr>
        <p:spPr>
          <a:xfrm>
            <a:off x="5535000" y="3822530"/>
            <a:ext cx="277200" cy="2772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5D80280E-5E86-4DC5-9250-415C611FEA86}"/>
              </a:ext>
            </a:extLst>
          </p:cNvPr>
          <p:cNvSpPr/>
          <p:nvPr/>
        </p:nvSpPr>
        <p:spPr>
          <a:xfrm>
            <a:off x="6460244" y="2192164"/>
            <a:ext cx="277200" cy="2772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B3F7E7DC-284A-4465-9E5F-05E8B147EE68}"/>
              </a:ext>
            </a:extLst>
          </p:cNvPr>
          <p:cNvSpPr/>
          <p:nvPr/>
        </p:nvSpPr>
        <p:spPr>
          <a:xfrm>
            <a:off x="6460244" y="3251426"/>
            <a:ext cx="277200" cy="2772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/>
              <a:t>0,77 cm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C67ACEA0-4B1E-4FB9-9974-A7C7D6E69B5A}"/>
              </a:ext>
            </a:extLst>
          </p:cNvPr>
          <p:cNvSpPr/>
          <p:nvPr/>
        </p:nvSpPr>
        <p:spPr>
          <a:xfrm>
            <a:off x="4590000" y="2200270"/>
            <a:ext cx="277200" cy="2772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357E5471-AD02-49B0-A554-F230B748C270}"/>
              </a:ext>
            </a:extLst>
          </p:cNvPr>
          <p:cNvSpPr/>
          <p:nvPr/>
        </p:nvSpPr>
        <p:spPr>
          <a:xfrm>
            <a:off x="4595674" y="3251426"/>
            <a:ext cx="277200" cy="2772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D69B637A-8CB4-4424-B56D-487560CF6B4D}"/>
              </a:ext>
            </a:extLst>
          </p:cNvPr>
          <p:cNvSpPr/>
          <p:nvPr/>
        </p:nvSpPr>
        <p:spPr>
          <a:xfrm>
            <a:off x="5385600" y="4627800"/>
            <a:ext cx="568800" cy="5688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/>
              <a:t>0,77 cm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C20E56B6-FDFC-43A5-B0DC-AC177F2D4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799" y="2369974"/>
            <a:ext cx="990977" cy="1020052"/>
          </a:xfrm>
          <a:prstGeom prst="rect">
            <a:avLst/>
          </a:prstGeom>
        </p:spPr>
      </p:pic>
      <p:sp>
        <p:nvSpPr>
          <p:cNvPr id="30" name="Textfeld 29">
            <a:extLst>
              <a:ext uri="{FF2B5EF4-FFF2-40B4-BE49-F238E27FC236}">
                <a16:creationId xmlns:a16="http://schemas.microsoft.com/office/drawing/2014/main" id="{C2F8B601-5508-4B93-8553-7D4909D66446}"/>
              </a:ext>
            </a:extLst>
          </p:cNvPr>
          <p:cNvSpPr txBox="1"/>
          <p:nvPr/>
        </p:nvSpPr>
        <p:spPr>
          <a:xfrm>
            <a:off x="5514095" y="128841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6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67462E24-93CC-49C5-B963-A6AD3BA31EE3}"/>
              </a:ext>
            </a:extLst>
          </p:cNvPr>
          <p:cNvSpPr txBox="1"/>
          <p:nvPr/>
        </p:nvSpPr>
        <p:spPr>
          <a:xfrm>
            <a:off x="5535916" y="4080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1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5FAB3BBC-4581-4F10-8B29-E2371696E1DA}"/>
              </a:ext>
            </a:extLst>
          </p:cNvPr>
          <p:cNvSpPr txBox="1"/>
          <p:nvPr/>
        </p:nvSpPr>
        <p:spPr>
          <a:xfrm>
            <a:off x="6783965" y="1967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3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A05DB1F1-81E2-4D6B-81F4-DACD1D8D7ADB}"/>
              </a:ext>
            </a:extLst>
          </p:cNvPr>
          <p:cNvSpPr txBox="1"/>
          <p:nvPr/>
        </p:nvSpPr>
        <p:spPr>
          <a:xfrm>
            <a:off x="4262577" y="34309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4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63F8590-FCA1-4871-ADE4-2414479996E8}"/>
              </a:ext>
            </a:extLst>
          </p:cNvPr>
          <p:cNvSpPr txBox="1"/>
          <p:nvPr/>
        </p:nvSpPr>
        <p:spPr>
          <a:xfrm>
            <a:off x="4262577" y="1967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2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C9875D0B-FB91-4FB6-9C67-6E77682BDA88}"/>
              </a:ext>
            </a:extLst>
          </p:cNvPr>
          <p:cNvSpPr txBox="1"/>
          <p:nvPr/>
        </p:nvSpPr>
        <p:spPr>
          <a:xfrm>
            <a:off x="6783965" y="34309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5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E2B53078-64AE-46A7-909B-9CA3E0525E5A}"/>
              </a:ext>
            </a:extLst>
          </p:cNvPr>
          <p:cNvSpPr/>
          <p:nvPr/>
        </p:nvSpPr>
        <p:spPr>
          <a:xfrm>
            <a:off x="4318287" y="1530000"/>
            <a:ext cx="2700000" cy="2700000"/>
          </a:xfrm>
          <a:prstGeom prst="ellipse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48545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8251AF-2378-46D7-8F36-63315088C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Lingo Bingo Frame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C1259D2-9E72-4ADB-AF59-4F642214D412}"/>
              </a:ext>
            </a:extLst>
          </p:cNvPr>
          <p:cNvSpPr txBox="1"/>
          <p:nvPr/>
        </p:nvSpPr>
        <p:spPr>
          <a:xfrm>
            <a:off x="628072" y="1163127"/>
            <a:ext cx="1377300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/>
              <a:t>Frame</a:t>
            </a:r>
            <a:endParaRPr lang="de-DE" sz="1100"/>
          </a:p>
          <a:p>
            <a:pPr marL="171450" indent="-171450">
              <a:buFontTx/>
              <a:buChar char="-"/>
            </a:pPr>
            <a:r>
              <a:rPr lang="de-DE" sz="1100"/>
              <a:t>außen : 136 x 156</a:t>
            </a:r>
          </a:p>
          <a:p>
            <a:pPr marL="171450" indent="-171450">
              <a:buFontTx/>
              <a:buChar char="-"/>
            </a:pPr>
            <a:r>
              <a:rPr lang="de-DE" sz="1100"/>
              <a:t>innen : 100 x 120</a:t>
            </a:r>
          </a:p>
          <a:p>
            <a:pPr marL="171450" indent="-171450">
              <a:buFontTx/>
              <a:buChar char="-"/>
            </a:pPr>
            <a:r>
              <a:rPr lang="de-DE" sz="1100"/>
              <a:t>Rand : 18</a:t>
            </a:r>
          </a:p>
          <a:p>
            <a:pPr marL="171450" indent="-171450">
              <a:buFontTx/>
              <a:buChar char="-"/>
            </a:pPr>
            <a:endParaRPr lang="de-DE" sz="110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86257AF-5B2C-4B7D-96A4-8B463888E337}"/>
              </a:ext>
            </a:extLst>
          </p:cNvPr>
          <p:cNvSpPr/>
          <p:nvPr/>
        </p:nvSpPr>
        <p:spPr>
          <a:xfrm>
            <a:off x="3600000" y="1080000"/>
            <a:ext cx="4896000" cy="5616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95B5C97-CCC5-42BE-A446-5AD71737C0C6}"/>
              </a:ext>
            </a:extLst>
          </p:cNvPr>
          <p:cNvSpPr/>
          <p:nvPr/>
        </p:nvSpPr>
        <p:spPr>
          <a:xfrm>
            <a:off x="4248000" y="1728000"/>
            <a:ext cx="3600000" cy="4320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682F45B-985B-409B-9268-75919B256BD7}"/>
              </a:ext>
            </a:extLst>
          </p:cNvPr>
          <p:cNvSpPr txBox="1"/>
          <p:nvPr/>
        </p:nvSpPr>
        <p:spPr>
          <a:xfrm>
            <a:off x="4984020" y="1204780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>
                <a:latin typeface="Henny Penny" panose="02000505000000020004" pitchFamily="2" charset="0"/>
              </a:rPr>
              <a:t>Fizz Bizz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4C102AA-979B-47B0-83C9-5FF96AF33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551" y="1858620"/>
            <a:ext cx="342000" cy="78721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2DC5EA9-3A3F-4624-9047-CBC1F0361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25514" y="1826707"/>
            <a:ext cx="342000" cy="78721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ADE3CB4-EC28-4634-96E5-026502F47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256635" y="6168215"/>
            <a:ext cx="349738" cy="360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E81E583-3803-41D2-8F91-3F3FDF662A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97007">
            <a:off x="3790362" y="3234043"/>
            <a:ext cx="342000" cy="66089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6AE5E9AC-5542-4D6D-B9DE-EE2227502F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902993" flipH="1">
            <a:off x="8011606" y="2745596"/>
            <a:ext cx="342000" cy="660892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68ECE7BD-5C24-4FCA-B231-F3FD8CD1E503}"/>
              </a:ext>
            </a:extLst>
          </p:cNvPr>
          <p:cNvSpPr txBox="1"/>
          <p:nvPr/>
        </p:nvSpPr>
        <p:spPr>
          <a:xfrm>
            <a:off x="5256995" y="6148160"/>
            <a:ext cx="16065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2800">
                <a:latin typeface="Henny Penny" panose="02000505000000020004" pitchFamily="2" charset="0"/>
              </a:defRPr>
            </a:lvl1pPr>
          </a:lstStyle>
          <a:p>
            <a:r>
              <a:rPr lang="de-DE" sz="2000"/>
              <a:t>Lingo Bingo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16FEBEB-2E04-42D9-8737-9D68507FBB75}"/>
              </a:ext>
            </a:extLst>
          </p:cNvPr>
          <p:cNvSpPr/>
          <p:nvPr/>
        </p:nvSpPr>
        <p:spPr>
          <a:xfrm>
            <a:off x="3600000" y="1080000"/>
            <a:ext cx="18000" cy="1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2542AA7-00D5-47BD-BAD9-9F331FCA7234}"/>
              </a:ext>
            </a:extLst>
          </p:cNvPr>
          <p:cNvSpPr/>
          <p:nvPr/>
        </p:nvSpPr>
        <p:spPr>
          <a:xfrm>
            <a:off x="8478000" y="1071000"/>
            <a:ext cx="18000" cy="1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BE1D3FC-6A8C-455B-B852-7BA46C4C0EF7}"/>
              </a:ext>
            </a:extLst>
          </p:cNvPr>
          <p:cNvSpPr/>
          <p:nvPr/>
        </p:nvSpPr>
        <p:spPr>
          <a:xfrm>
            <a:off x="3609000" y="6674036"/>
            <a:ext cx="18000" cy="1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35756E1-98A1-4E81-A36D-3563F350605C}"/>
              </a:ext>
            </a:extLst>
          </p:cNvPr>
          <p:cNvSpPr/>
          <p:nvPr/>
        </p:nvSpPr>
        <p:spPr>
          <a:xfrm>
            <a:off x="8469000" y="6674036"/>
            <a:ext cx="18000" cy="1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7A73D3EE-E8FD-4BE3-BD73-BFB7282567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6475" y="6168215"/>
            <a:ext cx="35741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34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602C5F-0F9F-4C7E-8B24-2CA2582B8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B88AFA4-427A-46D8-9C22-3B3F456A5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903" y="3360722"/>
            <a:ext cx="468000" cy="418266"/>
          </a:xfrm>
          <a:prstGeom prst="rect">
            <a:avLst/>
          </a:prstGeom>
        </p:spPr>
      </p:pic>
      <p:pic>
        <p:nvPicPr>
          <p:cNvPr id="1030" name="Picture 6" descr="Settings - Free Tools and utensils icons">
            <a:extLst>
              <a:ext uri="{FF2B5EF4-FFF2-40B4-BE49-F238E27FC236}">
                <a16:creationId xmlns:a16="http://schemas.microsoft.com/office/drawing/2014/main" id="{49D6F0FB-8DF9-4837-A0A6-6611A4F0E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903" y="3335855"/>
            <a:ext cx="468000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61E1F318-A3E1-4905-B544-2AD306F57087}"/>
              </a:ext>
            </a:extLst>
          </p:cNvPr>
          <p:cNvSpPr/>
          <p:nvPr/>
        </p:nvSpPr>
        <p:spPr>
          <a:xfrm>
            <a:off x="4027055" y="3260436"/>
            <a:ext cx="3260436" cy="61883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BA9EF90-1E80-477B-AFC5-A096F1550676}"/>
              </a:ext>
            </a:extLst>
          </p:cNvPr>
          <p:cNvSpPr txBox="1"/>
          <p:nvPr/>
        </p:nvSpPr>
        <p:spPr>
          <a:xfrm>
            <a:off x="628072" y="1163127"/>
            <a:ext cx="9476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/>
              <a:t>Frame</a:t>
            </a:r>
            <a:endParaRPr lang="de-DE" sz="1100"/>
          </a:p>
          <a:p>
            <a:pPr marL="171450" indent="-171450">
              <a:buFontTx/>
              <a:buChar char="-"/>
            </a:pPr>
            <a:r>
              <a:rPr lang="de-DE" sz="1100"/>
              <a:t>Breite : 86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4B078B84-66EB-47F5-B888-32B908C1E6BA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5657273" y="3260436"/>
            <a:ext cx="0" cy="618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5507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D10174C-7C02-4C8B-8C94-C98C8716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Storybook</a:t>
            </a:r>
          </a:p>
        </p:txBody>
      </p:sp>
    </p:spTree>
    <p:extLst>
      <p:ext uri="{BB962C8B-B14F-4D97-AF65-F5344CB8AC3E}">
        <p14:creationId xmlns:p14="http://schemas.microsoft.com/office/powerpoint/2010/main" val="18171576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1D9B674-E0A9-452F-A749-67D4C9B83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Storybook Gadget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BBB2065-B24E-47C9-AE24-3E3B52AE4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Geschichtenerzähler</a:t>
            </a:r>
          </a:p>
          <a:p>
            <a:pPr lvl="1"/>
            <a:r>
              <a:rPr lang="de-DE"/>
              <a:t>diverse interaktive Geschichten</a:t>
            </a:r>
          </a:p>
          <a:p>
            <a:pPr lvl="1"/>
            <a:r>
              <a:rPr lang="de-DE"/>
              <a:t>Auswahl der Geschichte</a:t>
            </a:r>
          </a:p>
          <a:p>
            <a:pPr lvl="1"/>
            <a:r>
              <a:rPr lang="de-DE"/>
              <a:t>Jede Geschichte eingeteilt in Abschnitte</a:t>
            </a:r>
          </a:p>
          <a:p>
            <a:pPr lvl="1"/>
            <a:r>
              <a:rPr lang="de-DE"/>
              <a:t>Optional : kein linearer Durchlauf, sondern gesteuert durch das Kind</a:t>
            </a:r>
          </a:p>
          <a:p>
            <a:pPr lvl="1"/>
            <a:endParaRPr lang="de-DE"/>
          </a:p>
          <a:p>
            <a:r>
              <a:rPr lang="de-DE"/>
              <a:t>Start Button (grüne LED)</a:t>
            </a:r>
          </a:p>
          <a:p>
            <a:pPr lvl="1"/>
            <a:r>
              <a:rPr lang="de-DE"/>
              <a:t>wenn der start button (unterhalb der grünen LED) gedrückt wird, werden die konfigurierten Stories hintereinander angezeigt</a:t>
            </a:r>
          </a:p>
          <a:p>
            <a:pPr lvl="1"/>
            <a:r>
              <a:rPr lang="de-DE"/>
              <a:t>während dieses "Selection" Modus wird eine grüne LED angezeigt</a:t>
            </a:r>
          </a:p>
          <a:p>
            <a:pPr lvl="1"/>
            <a:r>
              <a:rPr lang="de-DE"/>
              <a:t>es wird jeweils ein sound und ein bitmap geöffnet – quasi als teaser</a:t>
            </a:r>
          </a:p>
          <a:p>
            <a:pPr lvl="1"/>
            <a:r>
              <a:rPr lang="de-DE"/>
              <a:t>es werden alle Stories nur einmal gezeigt, dann wird der Selektionsmodus beendet</a:t>
            </a:r>
          </a:p>
          <a:p>
            <a:pPr lvl="1"/>
            <a:endParaRPr lang="de-DE"/>
          </a:p>
          <a:p>
            <a:r>
              <a:rPr lang="de-DE"/>
              <a:t>Select Button (blaue LED)</a:t>
            </a:r>
          </a:p>
          <a:p>
            <a:pPr lvl="1"/>
            <a:r>
              <a:rPr lang="de-DE"/>
              <a:t>während des Selektionsmodus kann die gerade angezeigte Story ausgewählt werden.</a:t>
            </a:r>
          </a:p>
          <a:p>
            <a:pPr lvl="1"/>
            <a:r>
              <a:rPr lang="de-DE"/>
              <a:t>dies erfolgt durch drücken des Select Buttons (unterhalb der blauen LED)</a:t>
            </a:r>
          </a:p>
          <a:p>
            <a:pPr lvl="1"/>
            <a:r>
              <a:rPr lang="de-DE"/>
              <a:t>damit wird der Selektionsmodus beendet (grüne LED erlischt) und der Reading Modus beginnt (blaue LED an)</a:t>
            </a:r>
          </a:p>
          <a:p>
            <a:pPr lvl="1"/>
            <a:endParaRPr lang="de-DE"/>
          </a:p>
          <a:p>
            <a:endParaRPr lang="de-DE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6635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EBD35803-D10E-4CBE-8067-1A699E440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716653"/>
              </p:ext>
            </p:extLst>
          </p:nvPr>
        </p:nvGraphicFramePr>
        <p:xfrm>
          <a:off x="143930" y="76200"/>
          <a:ext cx="12048069" cy="6155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6005">
                  <a:extLst>
                    <a:ext uri="{9D8B030D-6E8A-4147-A177-3AD203B41FA5}">
                      <a16:colId xmlns:a16="http://schemas.microsoft.com/office/drawing/2014/main" val="1539774444"/>
                    </a:ext>
                  </a:extLst>
                </a:gridCol>
                <a:gridCol w="450815">
                  <a:extLst>
                    <a:ext uri="{9D8B030D-6E8A-4147-A177-3AD203B41FA5}">
                      <a16:colId xmlns:a16="http://schemas.microsoft.com/office/drawing/2014/main" val="331362935"/>
                    </a:ext>
                  </a:extLst>
                </a:gridCol>
                <a:gridCol w="479368">
                  <a:extLst>
                    <a:ext uri="{9D8B030D-6E8A-4147-A177-3AD203B41FA5}">
                      <a16:colId xmlns:a16="http://schemas.microsoft.com/office/drawing/2014/main" val="883978954"/>
                    </a:ext>
                  </a:extLst>
                </a:gridCol>
                <a:gridCol w="1709807">
                  <a:extLst>
                    <a:ext uri="{9D8B030D-6E8A-4147-A177-3AD203B41FA5}">
                      <a16:colId xmlns:a16="http://schemas.microsoft.com/office/drawing/2014/main" val="3398344140"/>
                    </a:ext>
                  </a:extLst>
                </a:gridCol>
                <a:gridCol w="6572250">
                  <a:extLst>
                    <a:ext uri="{9D8B030D-6E8A-4147-A177-3AD203B41FA5}">
                      <a16:colId xmlns:a16="http://schemas.microsoft.com/office/drawing/2014/main" val="217806879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585164258"/>
                    </a:ext>
                  </a:extLst>
                </a:gridCol>
                <a:gridCol w="640699">
                  <a:extLst>
                    <a:ext uri="{9D8B030D-6E8A-4147-A177-3AD203B41FA5}">
                      <a16:colId xmlns:a16="http://schemas.microsoft.com/office/drawing/2014/main" val="252702316"/>
                    </a:ext>
                  </a:extLst>
                </a:gridCol>
                <a:gridCol w="648100">
                  <a:extLst>
                    <a:ext uri="{9D8B030D-6E8A-4147-A177-3AD203B41FA5}">
                      <a16:colId xmlns:a16="http://schemas.microsoft.com/office/drawing/2014/main" val="435412168"/>
                    </a:ext>
                  </a:extLst>
                </a:gridCol>
                <a:gridCol w="616200">
                  <a:extLst>
                    <a:ext uri="{9D8B030D-6E8A-4147-A177-3AD203B41FA5}">
                      <a16:colId xmlns:a16="http://schemas.microsoft.com/office/drawing/2014/main" val="90653551"/>
                    </a:ext>
                  </a:extLst>
                </a:gridCol>
              </a:tblGrid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982814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LV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913058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MOSI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659889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LV2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912469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89404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449120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LV1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809008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START_BUTTON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223528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SELECT_BUTTON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MISO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546112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SELECTING_LED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CLK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975738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READING_LED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537215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481746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783938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616500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430252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896791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36739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866544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688934"/>
                  </a:ext>
                </a:extLst>
              </a:tr>
              <a:tr h="307764">
                <a:tc>
                  <a:txBody>
                    <a:bodyPr/>
                    <a:lstStyle/>
                    <a:p>
                      <a:r>
                        <a:rPr lang="de-DE" sz="140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355016"/>
                  </a:ext>
                </a:extLst>
              </a:tr>
            </a:tbl>
          </a:graphicData>
        </a:graphic>
      </p:graphicFrame>
      <p:pic>
        <p:nvPicPr>
          <p:cNvPr id="2050" name="Picture 2" descr="Pin-Layout des ESP32">
            <a:extLst>
              <a:ext uri="{FF2B5EF4-FFF2-40B4-BE49-F238E27FC236}">
                <a16:creationId xmlns:a16="http://schemas.microsoft.com/office/drawing/2014/main" id="{3F9827A7-10EF-4D78-B33D-C00259CC7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827" y="0"/>
            <a:ext cx="5723944" cy="686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7490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le 3">
            <a:extLst>
              <a:ext uri="{FF2B5EF4-FFF2-40B4-BE49-F238E27FC236}">
                <a16:creationId xmlns:a16="http://schemas.microsoft.com/office/drawing/2014/main" id="{E5C74FF1-6670-45BA-854C-CFC387733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920808"/>
              </p:ext>
            </p:extLst>
          </p:nvPr>
        </p:nvGraphicFramePr>
        <p:xfrm>
          <a:off x="8452194" y="1682191"/>
          <a:ext cx="2965048" cy="273436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65048">
                  <a:extLst>
                    <a:ext uri="{9D8B030D-6E8A-4147-A177-3AD203B41FA5}">
                      <a16:colId xmlns:a16="http://schemas.microsoft.com/office/drawing/2014/main" val="883978954"/>
                    </a:ext>
                  </a:extLst>
                </a:gridCol>
              </a:tblGrid>
              <a:tr h="390623">
                <a:tc>
                  <a:txBody>
                    <a:bodyPr/>
                    <a:lstStyle/>
                    <a:p>
                      <a:r>
                        <a:rPr lang="de-DE" sz="1400"/>
                        <a:t>ESP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982814"/>
                  </a:ext>
                </a:extLst>
              </a:tr>
              <a:tr h="390623">
                <a:tc>
                  <a:txBody>
                    <a:bodyPr/>
                    <a:lstStyle/>
                    <a:p>
                      <a:r>
                        <a:rPr lang="de-DE" sz="1400"/>
                        <a:t>GND (rechts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913058"/>
                  </a:ext>
                </a:extLst>
              </a:tr>
              <a:tr h="390623">
                <a:tc>
                  <a:txBody>
                    <a:bodyPr/>
                    <a:lstStyle/>
                    <a:p>
                      <a:r>
                        <a:rPr lang="de-DE" sz="1400"/>
                        <a:t>GPIO 19 (VSPI MISO, rechts 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659889"/>
                  </a:ext>
                </a:extLst>
              </a:tr>
              <a:tr h="390623">
                <a:tc>
                  <a:txBody>
                    <a:bodyPr/>
                    <a:lstStyle/>
                    <a:p>
                      <a:r>
                        <a:rPr lang="de-DE" sz="1400"/>
                        <a:t>GPIO 18 (VSPI SCL, rechts 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912469"/>
                  </a:ext>
                </a:extLst>
              </a:tr>
              <a:tr h="390623">
                <a:tc>
                  <a:txBody>
                    <a:bodyPr/>
                    <a:lstStyle/>
                    <a:p>
                      <a:r>
                        <a:rPr lang="de-DE" sz="1400"/>
                        <a:t>GPIO 23 (VSPI MOSI, rechts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89404"/>
                  </a:ext>
                </a:extLst>
              </a:tr>
              <a:tr h="390623">
                <a:tc>
                  <a:txBody>
                    <a:bodyPr/>
                    <a:lstStyle/>
                    <a:p>
                      <a:r>
                        <a:rPr lang="de-DE" sz="1400"/>
                        <a:t>GPIO 5 (VSPI SS, rechts 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449120"/>
                  </a:ext>
                </a:extLst>
              </a:tr>
              <a:tr h="390623">
                <a:tc>
                  <a:txBody>
                    <a:bodyPr/>
                    <a:lstStyle/>
                    <a:p>
                      <a:r>
                        <a:rPr lang="de-DE" sz="1400"/>
                        <a:t>5V (links 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809008"/>
                  </a:ext>
                </a:extLst>
              </a:tr>
            </a:tbl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2DC6DC9-144C-4A1C-AF9E-50A125ECA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SD Modul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43DF3434-403C-4E20-A4CF-94B62C7DAE0F}"/>
              </a:ext>
            </a:extLst>
          </p:cNvPr>
          <p:cNvGrpSpPr/>
          <p:nvPr/>
        </p:nvGrpSpPr>
        <p:grpSpPr>
          <a:xfrm>
            <a:off x="345379" y="1645314"/>
            <a:ext cx="8154538" cy="3219899"/>
            <a:chOff x="2018731" y="1819050"/>
            <a:chExt cx="8154538" cy="3219899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4F45C3E0-F51D-404F-96ED-DC2301E1B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018731" y="1819050"/>
              <a:ext cx="8154538" cy="3219899"/>
            </a:xfrm>
            <a:prstGeom prst="rect">
              <a:avLst/>
            </a:prstGeom>
          </p:spPr>
        </p:pic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8C78FD4D-687D-4484-9DBF-B289D1EA502A}"/>
                </a:ext>
              </a:extLst>
            </p:cNvPr>
            <p:cNvSpPr txBox="1"/>
            <p:nvPr/>
          </p:nvSpPr>
          <p:spPr>
            <a:xfrm>
              <a:off x="6594729" y="2676525"/>
              <a:ext cx="3152776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de-DE" sz="2000" b="1" i="1"/>
                <a:t>MISO (Master In Slave Out)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96385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e 3">
            <a:extLst>
              <a:ext uri="{FF2B5EF4-FFF2-40B4-BE49-F238E27FC236}">
                <a16:creationId xmlns:a16="http://schemas.microsoft.com/office/drawing/2014/main" id="{3B27E527-8E64-4ACD-AB25-0BEFC29B6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575327"/>
              </p:ext>
            </p:extLst>
          </p:nvPr>
        </p:nvGraphicFramePr>
        <p:xfrm>
          <a:off x="1214392" y="2121408"/>
          <a:ext cx="9763214" cy="384962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88728">
                  <a:extLst>
                    <a:ext uri="{9D8B030D-6E8A-4147-A177-3AD203B41FA5}">
                      <a16:colId xmlns:a16="http://schemas.microsoft.com/office/drawing/2014/main" val="1539774444"/>
                    </a:ext>
                  </a:extLst>
                </a:gridCol>
                <a:gridCol w="812055">
                  <a:extLst>
                    <a:ext uri="{9D8B030D-6E8A-4147-A177-3AD203B41FA5}">
                      <a16:colId xmlns:a16="http://schemas.microsoft.com/office/drawing/2014/main" val="883978954"/>
                    </a:ext>
                  </a:extLst>
                </a:gridCol>
                <a:gridCol w="6163056">
                  <a:extLst>
                    <a:ext uri="{9D8B030D-6E8A-4147-A177-3AD203B41FA5}">
                      <a16:colId xmlns:a16="http://schemas.microsoft.com/office/drawing/2014/main" val="4257777642"/>
                    </a:ext>
                  </a:extLst>
                </a:gridCol>
                <a:gridCol w="1153556">
                  <a:extLst>
                    <a:ext uri="{9D8B030D-6E8A-4147-A177-3AD203B41FA5}">
                      <a16:colId xmlns:a16="http://schemas.microsoft.com/office/drawing/2014/main" val="252702316"/>
                    </a:ext>
                  </a:extLst>
                </a:gridCol>
                <a:gridCol w="745819">
                  <a:extLst>
                    <a:ext uri="{9D8B030D-6E8A-4147-A177-3AD203B41FA5}">
                      <a16:colId xmlns:a16="http://schemas.microsoft.com/office/drawing/2014/main" val="435412168"/>
                    </a:ext>
                  </a:extLst>
                </a:gridCol>
              </a:tblGrid>
              <a:tr h="549947">
                <a:tc>
                  <a:txBody>
                    <a:bodyPr/>
                    <a:lstStyle/>
                    <a:p>
                      <a:r>
                        <a:rPr lang="de-DE" sz="1400"/>
                        <a:t>BUS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ESP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ESP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BUS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982814"/>
                  </a:ext>
                </a:extLst>
              </a:tr>
              <a:tr h="549947"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913058"/>
                  </a:ext>
                </a:extLst>
              </a:tr>
              <a:tr h="549947"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659889"/>
                  </a:ext>
                </a:extLst>
              </a:tr>
              <a:tr h="549947">
                <a:tc>
                  <a:txBody>
                    <a:bodyPr/>
                    <a:lstStyle/>
                    <a:p>
                      <a:r>
                        <a:rPr lang="de-DE" sz="1400"/>
                        <a:t>GND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GND</a:t>
                      </a:r>
                      <a:br>
                        <a:rPr lang="de-DE" sz="1400"/>
                      </a:br>
                      <a:r>
                        <a:rPr lang="de-DE" sz="1400"/>
                        <a:t>(rechts 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7912469"/>
                  </a:ext>
                </a:extLst>
              </a:tr>
              <a:tr h="549947">
                <a:tc>
                  <a:txBody>
                    <a:bodyPr/>
                    <a:lstStyle/>
                    <a:p>
                      <a:r>
                        <a:rPr lang="de-DE" sz="1400"/>
                        <a:t>VCC (5V)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3V3</a:t>
                      </a:r>
                      <a:br>
                        <a:rPr lang="de-DE" sz="1400"/>
                      </a:br>
                      <a:r>
                        <a:rPr lang="de-DE" sz="1400"/>
                        <a:t>(links 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89404"/>
                  </a:ext>
                </a:extLst>
              </a:tr>
              <a:tr h="549947">
                <a:tc>
                  <a:txBody>
                    <a:bodyPr/>
                    <a:lstStyle/>
                    <a:p>
                      <a:r>
                        <a:rPr lang="de-DE" sz="1400"/>
                        <a:t>D+ (SCL)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GPIO 22</a:t>
                      </a:r>
                      <a:br>
                        <a:rPr lang="de-DE" sz="1400"/>
                      </a:br>
                      <a:r>
                        <a:rPr lang="de-DE" sz="1400"/>
                        <a:t>(rechts 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449120"/>
                  </a:ext>
                </a:extLst>
              </a:tr>
              <a:tr h="549947">
                <a:tc>
                  <a:txBody>
                    <a:bodyPr/>
                    <a:lstStyle/>
                    <a:p>
                      <a:r>
                        <a:rPr lang="de-DE" sz="1400"/>
                        <a:t>D- (SDA)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GPIO 21</a:t>
                      </a:r>
                      <a:br>
                        <a:rPr lang="de-DE" sz="1400"/>
                      </a:br>
                      <a:r>
                        <a:rPr lang="de-DE" sz="1400"/>
                        <a:t>(rechts 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809008"/>
                  </a:ext>
                </a:extLst>
              </a:tr>
            </a:tbl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69AB42F-BF99-4796-8E29-DE44F6DC4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Pegel Wandler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0A9278D-B44F-4710-B55A-9C3F2115179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7334132">
            <a:off x="3388251" y="2127414"/>
            <a:ext cx="5415497" cy="451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757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A14AE4C5-6D2B-45B1-9A81-39A158653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547235"/>
              </p:ext>
            </p:extLst>
          </p:nvPr>
        </p:nvGraphicFramePr>
        <p:xfrm>
          <a:off x="2882035" y="1457696"/>
          <a:ext cx="6058819" cy="357684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670790">
                  <a:extLst>
                    <a:ext uri="{9D8B030D-6E8A-4147-A177-3AD203B41FA5}">
                      <a16:colId xmlns:a16="http://schemas.microsoft.com/office/drawing/2014/main" val="398358395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190511087"/>
                    </a:ext>
                  </a:extLst>
                </a:gridCol>
                <a:gridCol w="947322">
                  <a:extLst>
                    <a:ext uri="{9D8B030D-6E8A-4147-A177-3AD203B41FA5}">
                      <a16:colId xmlns:a16="http://schemas.microsoft.com/office/drawing/2014/main" val="2171416717"/>
                    </a:ext>
                  </a:extLst>
                </a:gridCol>
                <a:gridCol w="2605503">
                  <a:extLst>
                    <a:ext uri="{9D8B030D-6E8A-4147-A177-3AD203B41FA5}">
                      <a16:colId xmlns:a16="http://schemas.microsoft.com/office/drawing/2014/main" val="2109541097"/>
                    </a:ext>
                  </a:extLst>
                </a:gridCol>
                <a:gridCol w="739829">
                  <a:extLst>
                    <a:ext uri="{9D8B030D-6E8A-4147-A177-3AD203B41FA5}">
                      <a16:colId xmlns:a16="http://schemas.microsoft.com/office/drawing/2014/main" val="627550626"/>
                    </a:ext>
                  </a:extLst>
                </a:gridCol>
              </a:tblGrid>
              <a:tr h="223553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SD-Modul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ESP32 Pin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Description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extLst>
                  <a:ext uri="{0D108BD9-81ED-4DB2-BD59-A6C34878D82A}">
                    <a16:rowId xmlns:a16="http://schemas.microsoft.com/office/drawing/2014/main" val="1762744045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3V3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3V3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Power plus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extLst>
                  <a:ext uri="{0D108BD9-81ED-4DB2-BD59-A6C34878D82A}">
                    <a16:rowId xmlns:a16="http://schemas.microsoft.com/office/drawing/2014/main" val="2772125625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GND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GND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Power minus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extLst>
                  <a:ext uri="{0D108BD9-81ED-4DB2-BD59-A6C34878D82A}">
                    <a16:rowId xmlns:a16="http://schemas.microsoft.com/office/drawing/2014/main" val="3221309675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MISO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19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Master-In-Slave-Out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extLst>
                  <a:ext uri="{0D108BD9-81ED-4DB2-BD59-A6C34878D82A}">
                    <a16:rowId xmlns:a16="http://schemas.microsoft.com/office/drawing/2014/main" val="3123315518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MOSI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23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u="none" strike="noStrike">
                          <a:effectLst/>
                        </a:rPr>
                        <a:t>Master-Out-Slave-In (parallel to DIN of Display)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extLst>
                  <a:ext uri="{0D108BD9-81ED-4DB2-BD59-A6C34878D82A}">
                    <a16:rowId xmlns:a16="http://schemas.microsoft.com/office/drawing/2014/main" val="3300033031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CLK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18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u="none" strike="noStrike">
                          <a:effectLst/>
                        </a:rPr>
                        <a:t>Clock (parallel to CLK of TFT Display)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extLst>
                  <a:ext uri="{0D108BD9-81ED-4DB2-BD59-A6C34878D82A}">
                    <a16:rowId xmlns:a16="http://schemas.microsoft.com/office/drawing/2014/main" val="1482623498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b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CS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5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Chip Select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extLst>
                  <a:ext uri="{0D108BD9-81ED-4DB2-BD59-A6C34878D82A}">
                    <a16:rowId xmlns:a16="http://schemas.microsoft.com/office/drawing/2014/main" val="1595480405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b"/>
                </a:tc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b"/>
                </a:tc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b"/>
                </a:tc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b"/>
                </a:tc>
                <a:tc>
                  <a:txBody>
                    <a:bodyPr/>
                    <a:lstStyle/>
                    <a:p>
                      <a:pPr marL="108000"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b"/>
                </a:tc>
                <a:extLst>
                  <a:ext uri="{0D108BD9-81ED-4DB2-BD59-A6C34878D82A}">
                    <a16:rowId xmlns:a16="http://schemas.microsoft.com/office/drawing/2014/main" val="1984365848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USB Port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Pegelwandler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ESP32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b="1" u="none" strike="noStrike">
                          <a:effectLst/>
                        </a:rPr>
                        <a:t>Description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extLst>
                  <a:ext uri="{0D108BD9-81ED-4DB2-BD59-A6C34878D82A}">
                    <a16:rowId xmlns:a16="http://schemas.microsoft.com/office/drawing/2014/main" val="3853113440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VCC (5V)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HV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V5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Power plus 5V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extLst>
                  <a:ext uri="{0D108BD9-81ED-4DB2-BD59-A6C34878D82A}">
                    <a16:rowId xmlns:a16="http://schemas.microsoft.com/office/drawing/2014/main" val="1426696766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GND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GND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GND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Power minus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extLst>
                  <a:ext uri="{0D108BD9-81ED-4DB2-BD59-A6C34878D82A}">
                    <a16:rowId xmlns:a16="http://schemas.microsoft.com/office/drawing/2014/main" val="3369650563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D- (SDA)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HV1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300" u="none" strike="noStrike">
                          <a:effectLst/>
                        </a:rPr>
                        <a:t> </a:t>
                      </a:r>
                      <a:endParaRPr lang="de-DE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2" marR="7002" marT="7002" marB="0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SDA (high voltage)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extLst>
                  <a:ext uri="{0D108BD9-81ED-4DB2-BD59-A6C34878D82A}">
                    <a16:rowId xmlns:a16="http://schemas.microsoft.com/office/drawing/2014/main" val="3865432587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D+ (SCL)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HV2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300" u="none" strike="noStrike">
                          <a:effectLst/>
                        </a:rPr>
                        <a:t> </a:t>
                      </a:r>
                      <a:endParaRPr lang="de-DE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2" marR="7002" marT="7002" marB="0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SCL (high voltage)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extLst>
                  <a:ext uri="{0D108BD9-81ED-4DB2-BD59-A6C34878D82A}">
                    <a16:rowId xmlns:a16="http://schemas.microsoft.com/office/drawing/2014/main" val="696277114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 marL="10800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300" u="none" strike="noStrike">
                          <a:effectLst/>
                        </a:rPr>
                        <a:t> </a:t>
                      </a:r>
                      <a:endParaRPr lang="de-DE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2" marR="7002" marT="7002" marB="0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LV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3V3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Power plus 3.3V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extLst>
                  <a:ext uri="{0D108BD9-81ED-4DB2-BD59-A6C34878D82A}">
                    <a16:rowId xmlns:a16="http://schemas.microsoft.com/office/drawing/2014/main" val="1424955503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 marL="10800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300" u="none" strike="noStrike">
                          <a:effectLst/>
                        </a:rPr>
                        <a:t> </a:t>
                      </a:r>
                      <a:endParaRPr lang="de-DE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2" marR="7002" marT="7002" marB="0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LV1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21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SDA (low voltage)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extLst>
                  <a:ext uri="{0D108BD9-81ED-4DB2-BD59-A6C34878D82A}">
                    <a16:rowId xmlns:a16="http://schemas.microsoft.com/office/drawing/2014/main" val="1293015041"/>
                  </a:ext>
                </a:extLst>
              </a:tr>
              <a:tr h="223553">
                <a:tc>
                  <a:txBody>
                    <a:bodyPr/>
                    <a:lstStyle/>
                    <a:p>
                      <a:pPr marL="10800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300" u="none" strike="noStrike">
                          <a:effectLst/>
                        </a:rPr>
                        <a:t> </a:t>
                      </a:r>
                      <a:endParaRPr lang="de-DE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02" marR="7002" marT="7002" marB="0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LV2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GPIO 22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900" u="none" strike="noStrike">
                          <a:effectLst/>
                        </a:rPr>
                        <a:t>SCL (low voltage)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tc>
                  <a:txBody>
                    <a:bodyPr/>
                    <a:lstStyle/>
                    <a:p>
                      <a:pPr marL="10800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2" marR="7002" marT="7002" marB="0" anchor="ctr"/>
                </a:tc>
                <a:extLst>
                  <a:ext uri="{0D108BD9-81ED-4DB2-BD59-A6C34878D82A}">
                    <a16:rowId xmlns:a16="http://schemas.microsoft.com/office/drawing/2014/main" val="3037812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0669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50A08EE-0F26-4E98-976D-5E42C1CD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Settings</a:t>
            </a:r>
          </a:p>
        </p:txBody>
      </p:sp>
    </p:spTree>
    <p:extLst>
      <p:ext uri="{BB962C8B-B14F-4D97-AF65-F5344CB8AC3E}">
        <p14:creationId xmlns:p14="http://schemas.microsoft.com/office/powerpoint/2010/main" val="4611634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88E96B4-6005-4A6A-AB47-9675B3D61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Portsettings</a:t>
            </a:r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06224E5A-12C2-4F09-9F0F-F49A0CBD3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977906"/>
              </p:ext>
            </p:extLst>
          </p:nvPr>
        </p:nvGraphicFramePr>
        <p:xfrm>
          <a:off x="2032000" y="719666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1598758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289487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91691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Module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COM 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817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Display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COM 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18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Sound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COM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87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Dice Gadget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COM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50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Storybook Gadget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COM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884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Numpad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014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098044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9D525682-08FD-4870-A401-EFAAF50B70E2}"/>
              </a:ext>
            </a:extLst>
          </p:cNvPr>
          <p:cNvSpPr txBox="1"/>
          <p:nvPr/>
        </p:nvSpPr>
        <p:spPr>
          <a:xfrm>
            <a:off x="1162050" y="4344085"/>
            <a:ext cx="868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/>
              <a:t>Computer\HKEY_LOCAL_MACHINE\SYSTEM\CurrentControlSet\Control\usbflags</a:t>
            </a:r>
            <a:br>
              <a:rPr lang="de-DE"/>
            </a:br>
            <a:r>
              <a:rPr lang="de-DE"/>
              <a:t>	IgnoreHWSerNum : DWORD = 1</a:t>
            </a:r>
          </a:p>
        </p:txBody>
      </p:sp>
    </p:spTree>
    <p:extLst>
      <p:ext uri="{BB962C8B-B14F-4D97-AF65-F5344CB8AC3E}">
        <p14:creationId xmlns:p14="http://schemas.microsoft.com/office/powerpoint/2010/main" val="1397802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E2327E2-E680-4673-8507-729A0F01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extras</a:t>
            </a:r>
          </a:p>
        </p:txBody>
      </p:sp>
    </p:spTree>
    <p:extLst>
      <p:ext uri="{BB962C8B-B14F-4D97-AF65-F5344CB8AC3E}">
        <p14:creationId xmlns:p14="http://schemas.microsoft.com/office/powerpoint/2010/main" val="6328636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le 3">
            <a:extLst>
              <a:ext uri="{FF2B5EF4-FFF2-40B4-BE49-F238E27FC236}">
                <a16:creationId xmlns:a16="http://schemas.microsoft.com/office/drawing/2014/main" id="{B6E3C101-B4D7-4AD7-B910-31FE55B47C4F}"/>
              </a:ext>
            </a:extLst>
          </p:cNvPr>
          <p:cNvGraphicFramePr>
            <a:graphicFrameLocks noGrp="1"/>
          </p:cNvGraphicFramePr>
          <p:nvPr/>
        </p:nvGraphicFramePr>
        <p:xfrm>
          <a:off x="0" y="434108"/>
          <a:ext cx="12192000" cy="57727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1539774444"/>
                    </a:ext>
                  </a:extLst>
                </a:gridCol>
                <a:gridCol w="535709">
                  <a:extLst>
                    <a:ext uri="{9D8B030D-6E8A-4147-A177-3AD203B41FA5}">
                      <a16:colId xmlns:a16="http://schemas.microsoft.com/office/drawing/2014/main" val="331362935"/>
                    </a:ext>
                  </a:extLst>
                </a:gridCol>
                <a:gridCol w="10261600">
                  <a:extLst>
                    <a:ext uri="{9D8B030D-6E8A-4147-A177-3AD203B41FA5}">
                      <a16:colId xmlns:a16="http://schemas.microsoft.com/office/drawing/2014/main" val="217806879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43541216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90653551"/>
                    </a:ext>
                  </a:extLst>
                </a:gridCol>
              </a:tblGrid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982814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CLK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MISO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913058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MOSI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659889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912469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89404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449120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809008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223528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SDA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546112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SLC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975738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537215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481746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783938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616500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430252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r>
                        <a:rPr lang="de-DE" sz="14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896791"/>
                  </a:ext>
                </a:extLst>
              </a:tr>
            </a:tbl>
          </a:graphicData>
        </a:graphic>
      </p:graphicFrame>
      <p:pic>
        <p:nvPicPr>
          <p:cNvPr id="7" name="Grafik 6">
            <a:extLst>
              <a:ext uri="{FF2B5EF4-FFF2-40B4-BE49-F238E27FC236}">
                <a16:creationId xmlns:a16="http://schemas.microsoft.com/office/drawing/2014/main" id="{7D694B51-1486-40C5-B134-A3988170806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1717479" y="0"/>
            <a:ext cx="8757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8193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DC6DC9-144C-4A1C-AF9E-50A125ECA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SD Modul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F45C3E0-F51D-404F-96ED-DC2301E1B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731" y="1819050"/>
            <a:ext cx="8154538" cy="321989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C78FD4D-687D-4484-9DBF-B289D1EA502A}"/>
              </a:ext>
            </a:extLst>
          </p:cNvPr>
          <p:cNvSpPr txBox="1"/>
          <p:nvPr/>
        </p:nvSpPr>
        <p:spPr>
          <a:xfrm>
            <a:off x="6677025" y="2676525"/>
            <a:ext cx="69762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/>
              <a:t>MISO</a:t>
            </a:r>
          </a:p>
        </p:txBody>
      </p:sp>
    </p:spTree>
    <p:extLst>
      <p:ext uri="{BB962C8B-B14F-4D97-AF65-F5344CB8AC3E}">
        <p14:creationId xmlns:p14="http://schemas.microsoft.com/office/powerpoint/2010/main" val="3963623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0E7B716-4061-47CC-B640-116600FD6A1C}"/>
              </a:ext>
            </a:extLst>
          </p:cNvPr>
          <p:cNvSpPr/>
          <p:nvPr/>
        </p:nvSpPr>
        <p:spPr>
          <a:xfrm>
            <a:off x="3793075" y="1582899"/>
            <a:ext cx="6486384" cy="14943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de-DE" sz="1200" b="1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02A5160-5D92-4B52-A314-FE417AB7B345}"/>
              </a:ext>
            </a:extLst>
          </p:cNvPr>
          <p:cNvSpPr/>
          <p:nvPr/>
        </p:nvSpPr>
        <p:spPr>
          <a:xfrm>
            <a:off x="4017065" y="3077271"/>
            <a:ext cx="1090824" cy="4888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/>
              <a:t>Gadget A </a:t>
            </a:r>
            <a:br>
              <a:rPr lang="de-DE" sz="1050"/>
            </a:br>
            <a:r>
              <a:rPr lang="de-DE" sz="1050"/>
              <a:t>I2C Port (USB)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EAA76D8-8567-4A14-8F1E-8EB8ACE4C6EE}"/>
              </a:ext>
            </a:extLst>
          </p:cNvPr>
          <p:cNvSpPr txBox="1"/>
          <p:nvPr/>
        </p:nvSpPr>
        <p:spPr>
          <a:xfrm>
            <a:off x="2399461" y="3105917"/>
            <a:ext cx="1459054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b="1"/>
              <a:t>USB Pin 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G : GND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D- : SDA (Ardino A4)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D+ : SCL (Ardino A5)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V : 5V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45B05E4-5529-4D1F-B57F-A725054574A4}"/>
              </a:ext>
            </a:extLst>
          </p:cNvPr>
          <p:cNvSpPr/>
          <p:nvPr/>
        </p:nvSpPr>
        <p:spPr>
          <a:xfrm>
            <a:off x="5456045" y="3077271"/>
            <a:ext cx="1090824" cy="4888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/>
              <a:t>more Gadgets … </a:t>
            </a:r>
            <a:br>
              <a:rPr lang="de-DE" sz="1050"/>
            </a:br>
            <a:r>
              <a:rPr lang="de-DE" sz="1050"/>
              <a:t>I2C Port (USB)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1DB9939-DF3E-4BF9-B32C-D706EBAAE002}"/>
              </a:ext>
            </a:extLst>
          </p:cNvPr>
          <p:cNvSpPr/>
          <p:nvPr/>
        </p:nvSpPr>
        <p:spPr>
          <a:xfrm>
            <a:off x="1910043" y="4785208"/>
            <a:ext cx="8369415" cy="13847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de-DE" sz="140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491A8D3-8CD2-4A94-A6D7-BAB19ABE4D2E}"/>
              </a:ext>
            </a:extLst>
          </p:cNvPr>
          <p:cNvSpPr/>
          <p:nvPr/>
        </p:nvSpPr>
        <p:spPr>
          <a:xfrm>
            <a:off x="7076711" y="5476057"/>
            <a:ext cx="2155161" cy="476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Arduino Nano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3E6CF24-67D2-4DE0-86E1-3530074B081C}"/>
              </a:ext>
            </a:extLst>
          </p:cNvPr>
          <p:cNvSpPr txBox="1"/>
          <p:nvPr/>
        </p:nvSpPr>
        <p:spPr>
          <a:xfrm>
            <a:off x="2021496" y="4943603"/>
            <a:ext cx="11868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Gadget Board A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06C804C-CF22-462E-8E91-5CE03D6F7C79}"/>
              </a:ext>
            </a:extLst>
          </p:cNvPr>
          <p:cNvSpPr/>
          <p:nvPr/>
        </p:nvSpPr>
        <p:spPr>
          <a:xfrm>
            <a:off x="8876764" y="5322970"/>
            <a:ext cx="271142" cy="276999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A4CC629-5AA5-49DD-B466-455E6A33A5C9}"/>
              </a:ext>
            </a:extLst>
          </p:cNvPr>
          <p:cNvSpPr/>
          <p:nvPr/>
        </p:nvSpPr>
        <p:spPr>
          <a:xfrm>
            <a:off x="8402579" y="4415934"/>
            <a:ext cx="1224284" cy="3653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Service  Port (USB)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58B94CB4-28CC-42CC-8A22-DACFA18DCE4B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 flipH="1">
            <a:off x="9012335" y="4781333"/>
            <a:ext cx="2386" cy="541637"/>
          </a:xfrm>
          <a:prstGeom prst="line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4BA6C506-6C72-452F-A821-6E48A899D09F}"/>
              </a:ext>
            </a:extLst>
          </p:cNvPr>
          <p:cNvSpPr/>
          <p:nvPr/>
        </p:nvSpPr>
        <p:spPr>
          <a:xfrm>
            <a:off x="3951263" y="4420545"/>
            <a:ext cx="1224284" cy="3653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I2C Port (USB)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05654976-600C-4DD4-92A8-03117A2D32B6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>
            <a:off x="4562477" y="3566164"/>
            <a:ext cx="928" cy="854381"/>
          </a:xfrm>
          <a:prstGeom prst="line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25">
            <a:extLst>
              <a:ext uri="{FF2B5EF4-FFF2-40B4-BE49-F238E27FC236}">
                <a16:creationId xmlns:a16="http://schemas.microsoft.com/office/drawing/2014/main" id="{679F61C3-6940-4F8A-9464-2CB2F4CFEB44}"/>
              </a:ext>
            </a:extLst>
          </p:cNvPr>
          <p:cNvCxnSpPr>
            <a:cxnSpLocks/>
            <a:stCxn id="23" idx="3"/>
            <a:endCxn id="21" idx="0"/>
          </p:cNvCxnSpPr>
          <p:nvPr/>
        </p:nvCxnSpPr>
        <p:spPr>
          <a:xfrm>
            <a:off x="5075702" y="4976936"/>
            <a:ext cx="3004851" cy="346034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44">
            <a:extLst>
              <a:ext uri="{FF2B5EF4-FFF2-40B4-BE49-F238E27FC236}">
                <a16:creationId xmlns:a16="http://schemas.microsoft.com/office/drawing/2014/main" id="{C992145D-9C5E-4493-BA72-B1A81EE20D04}"/>
              </a:ext>
            </a:extLst>
          </p:cNvPr>
          <p:cNvCxnSpPr>
            <a:cxnSpLocks/>
            <a:stCxn id="20" idx="0"/>
            <a:endCxn id="22" idx="2"/>
          </p:cNvCxnSpPr>
          <p:nvPr/>
        </p:nvCxnSpPr>
        <p:spPr>
          <a:xfrm rot="16200000" flipV="1">
            <a:off x="6057430" y="3717918"/>
            <a:ext cx="256747" cy="2936366"/>
          </a:xfrm>
          <a:prstGeom prst="bentConnector3">
            <a:avLst>
              <a:gd name="adj1" fmla="val 50000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1BC6F379-E786-4C1B-A9CB-801503D2AA11}"/>
              </a:ext>
            </a:extLst>
          </p:cNvPr>
          <p:cNvSpPr txBox="1"/>
          <p:nvPr/>
        </p:nvSpPr>
        <p:spPr>
          <a:xfrm>
            <a:off x="7580248" y="5314474"/>
            <a:ext cx="147476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A5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42B580D-9F2A-4C24-B622-0C03463BEF92}"/>
              </a:ext>
            </a:extLst>
          </p:cNvPr>
          <p:cNvSpPr txBox="1"/>
          <p:nvPr/>
        </p:nvSpPr>
        <p:spPr>
          <a:xfrm>
            <a:off x="8006815" y="5322970"/>
            <a:ext cx="147476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A4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99891AD-F604-40C6-B17B-59AB4DE96EBA}"/>
              </a:ext>
            </a:extLst>
          </p:cNvPr>
          <p:cNvSpPr txBox="1"/>
          <p:nvPr/>
        </p:nvSpPr>
        <p:spPr>
          <a:xfrm>
            <a:off x="4642278" y="4896144"/>
            <a:ext cx="15068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D+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27C0C4A-50B4-41F3-875B-FE7AF678D452}"/>
              </a:ext>
            </a:extLst>
          </p:cNvPr>
          <p:cNvSpPr txBox="1"/>
          <p:nvPr/>
        </p:nvSpPr>
        <p:spPr>
          <a:xfrm>
            <a:off x="4950667" y="4896144"/>
            <a:ext cx="125035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D-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D498B56-EB15-4347-B07C-2BA504C4580D}"/>
              </a:ext>
            </a:extLst>
          </p:cNvPr>
          <p:cNvSpPr txBox="1"/>
          <p:nvPr/>
        </p:nvSpPr>
        <p:spPr>
          <a:xfrm>
            <a:off x="4229694" y="4896144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06B9EB67-8245-43B6-ACFC-AA4766A5AA96}"/>
              </a:ext>
            </a:extLst>
          </p:cNvPr>
          <p:cNvSpPr txBox="1"/>
          <p:nvPr/>
        </p:nvSpPr>
        <p:spPr>
          <a:xfrm>
            <a:off x="3995044" y="4896144"/>
            <a:ext cx="7694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V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8A5DB76C-25AA-4F5D-9847-99CDC7AFDCE6}"/>
              </a:ext>
            </a:extLst>
          </p:cNvPr>
          <p:cNvSpPr txBox="1"/>
          <p:nvPr/>
        </p:nvSpPr>
        <p:spPr>
          <a:xfrm>
            <a:off x="6844467" y="5736784"/>
            <a:ext cx="14587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5V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140CA42-C996-48C2-B123-65C55EB520F4}"/>
              </a:ext>
            </a:extLst>
          </p:cNvPr>
          <p:cNvSpPr txBox="1"/>
          <p:nvPr/>
        </p:nvSpPr>
        <p:spPr>
          <a:xfrm>
            <a:off x="6789964" y="5512371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cxnSp>
        <p:nvCxnSpPr>
          <p:cNvPr id="28" name="Gerader Verbinder 144">
            <a:extLst>
              <a:ext uri="{FF2B5EF4-FFF2-40B4-BE49-F238E27FC236}">
                <a16:creationId xmlns:a16="http://schemas.microsoft.com/office/drawing/2014/main" id="{EE1B5EA7-C41D-429F-AC0F-85277D825246}"/>
              </a:ext>
            </a:extLst>
          </p:cNvPr>
          <p:cNvCxnSpPr>
            <a:cxnSpLocks/>
            <a:stCxn id="26" idx="1"/>
            <a:endCxn id="25" idx="2"/>
          </p:cNvCxnSpPr>
          <p:nvPr/>
        </p:nvCxnSpPr>
        <p:spPr>
          <a:xfrm rot="10800000">
            <a:off x="4033517" y="5057728"/>
            <a:ext cx="2810951" cy="759849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44">
            <a:extLst>
              <a:ext uri="{FF2B5EF4-FFF2-40B4-BE49-F238E27FC236}">
                <a16:creationId xmlns:a16="http://schemas.microsoft.com/office/drawing/2014/main" id="{D27CE172-E8D6-41D3-BB4A-247BD50C3DF0}"/>
              </a:ext>
            </a:extLst>
          </p:cNvPr>
          <p:cNvCxnSpPr>
            <a:cxnSpLocks/>
            <a:stCxn id="27" idx="1"/>
            <a:endCxn id="24" idx="2"/>
          </p:cNvCxnSpPr>
          <p:nvPr/>
        </p:nvCxnSpPr>
        <p:spPr>
          <a:xfrm rot="10800000">
            <a:off x="4357134" y="5057727"/>
            <a:ext cx="2432831" cy="535436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181C01E3-C333-4E48-A679-18434C5DDDCD}"/>
              </a:ext>
            </a:extLst>
          </p:cNvPr>
          <p:cNvSpPr txBox="1"/>
          <p:nvPr/>
        </p:nvSpPr>
        <p:spPr>
          <a:xfrm>
            <a:off x="3347073" y="726846"/>
            <a:ext cx="1933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/>
              <a:t>USB Power 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only V5 and GND are provided</a:t>
            </a:r>
          </a:p>
        </p:txBody>
      </p: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47D5F9C3-B945-4A16-8D61-3C40888D4AD7}"/>
              </a:ext>
            </a:extLst>
          </p:cNvPr>
          <p:cNvGrpSpPr/>
          <p:nvPr/>
        </p:nvGrpSpPr>
        <p:grpSpPr>
          <a:xfrm>
            <a:off x="469478" y="643388"/>
            <a:ext cx="2738818" cy="1279943"/>
            <a:chOff x="536558" y="372279"/>
            <a:chExt cx="2738818" cy="1279943"/>
          </a:xfrm>
        </p:grpSpPr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263D5E58-392C-4C5F-B18F-E5C54DED8FBE}"/>
                </a:ext>
              </a:extLst>
            </p:cNvPr>
            <p:cNvSpPr/>
            <p:nvPr/>
          </p:nvSpPr>
          <p:spPr>
            <a:xfrm>
              <a:off x="1133190" y="372280"/>
              <a:ext cx="1552994" cy="12799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2">
                  <a:shade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de-DE" sz="1400"/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1F4B666F-ECD5-4910-9E28-F9B4393991BC}"/>
                </a:ext>
              </a:extLst>
            </p:cNvPr>
            <p:cNvSpPr/>
            <p:nvPr/>
          </p:nvSpPr>
          <p:spPr>
            <a:xfrm rot="16200000">
              <a:off x="194903" y="713934"/>
              <a:ext cx="1279941" cy="59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050"/>
                <a:t>Charging  (USB)</a:t>
              </a: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91078EBD-888F-458C-B897-D4C1447E02B1}"/>
                </a:ext>
              </a:extLst>
            </p:cNvPr>
            <p:cNvSpPr/>
            <p:nvPr/>
          </p:nvSpPr>
          <p:spPr>
            <a:xfrm rot="5400000">
              <a:off x="2337089" y="713934"/>
              <a:ext cx="1279942" cy="59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050"/>
                <a:t>Power Out</a:t>
              </a:r>
            </a:p>
            <a:p>
              <a:pPr algn="ctr"/>
              <a:r>
                <a:rPr lang="de-DE" sz="1050"/>
                <a:t>Port (USB)</a:t>
              </a:r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6C0D95B1-7B0A-4BE6-A984-47CDF5E801C4}"/>
                </a:ext>
              </a:extLst>
            </p:cNvPr>
            <p:cNvSpPr txBox="1"/>
            <p:nvPr/>
          </p:nvSpPr>
          <p:spPr>
            <a:xfrm>
              <a:off x="1190375" y="594886"/>
              <a:ext cx="147719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b="1"/>
                <a:t>Power Supply Board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/>
                <a:t>Li Battery Pack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/>
                <a:t>TP4056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/>
                <a:t>MT3608</a:t>
              </a:r>
            </a:p>
          </p:txBody>
        </p:sp>
      </p:grp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B0334D1B-06F7-4941-8C05-FC3593032A30}"/>
              </a:ext>
            </a:extLst>
          </p:cNvPr>
          <p:cNvCxnSpPr>
            <a:cxnSpLocks/>
            <a:stCxn id="48" idx="0"/>
            <a:endCxn id="58" idx="1"/>
          </p:cNvCxnSpPr>
          <p:nvPr/>
        </p:nvCxnSpPr>
        <p:spPr>
          <a:xfrm>
            <a:off x="3208296" y="1283359"/>
            <a:ext cx="2887704" cy="896"/>
          </a:xfrm>
          <a:prstGeom prst="line">
            <a:avLst/>
          </a:prstGeom>
          <a:ln w="73025" cmpd="tri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hteck 55">
            <a:extLst>
              <a:ext uri="{FF2B5EF4-FFF2-40B4-BE49-F238E27FC236}">
                <a16:creationId xmlns:a16="http://schemas.microsoft.com/office/drawing/2014/main" id="{6976310C-B988-427C-A0B0-90EF1612C87F}"/>
              </a:ext>
            </a:extLst>
          </p:cNvPr>
          <p:cNvSpPr/>
          <p:nvPr/>
        </p:nvSpPr>
        <p:spPr>
          <a:xfrm>
            <a:off x="5745156" y="1956192"/>
            <a:ext cx="2155161" cy="476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Arduino Nano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B2B5C071-6E19-4609-90D7-ACA3834CD0AA}"/>
              </a:ext>
            </a:extLst>
          </p:cNvPr>
          <p:cNvSpPr/>
          <p:nvPr/>
        </p:nvSpPr>
        <p:spPr>
          <a:xfrm>
            <a:off x="6647596" y="1776175"/>
            <a:ext cx="271142" cy="276999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19419DD3-F5E2-4537-A1C2-678DBA819425}"/>
              </a:ext>
            </a:extLst>
          </p:cNvPr>
          <p:cNvSpPr/>
          <p:nvPr/>
        </p:nvSpPr>
        <p:spPr>
          <a:xfrm>
            <a:off x="6096000" y="986834"/>
            <a:ext cx="1375120" cy="5948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Power / Service Port (USB)</a:t>
            </a:r>
          </a:p>
        </p:txBody>
      </p: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14603872-D37F-4F24-B5A6-A71747DCB9FA}"/>
              </a:ext>
            </a:extLst>
          </p:cNvPr>
          <p:cNvCxnSpPr>
            <a:cxnSpLocks/>
            <a:stCxn id="58" idx="2"/>
            <a:endCxn id="57" idx="0"/>
          </p:cNvCxnSpPr>
          <p:nvPr/>
        </p:nvCxnSpPr>
        <p:spPr>
          <a:xfrm flipH="1">
            <a:off x="6783167" y="1581675"/>
            <a:ext cx="393" cy="194500"/>
          </a:xfrm>
          <a:prstGeom prst="line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feld 59">
            <a:extLst>
              <a:ext uri="{FF2B5EF4-FFF2-40B4-BE49-F238E27FC236}">
                <a16:creationId xmlns:a16="http://schemas.microsoft.com/office/drawing/2014/main" id="{5B1A6C57-6E8A-4091-BAF9-BC0A253A8096}"/>
              </a:ext>
            </a:extLst>
          </p:cNvPr>
          <p:cNvSpPr txBox="1"/>
          <p:nvPr/>
        </p:nvSpPr>
        <p:spPr>
          <a:xfrm>
            <a:off x="8368077" y="1705309"/>
            <a:ext cx="1727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Master Board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DFPlayer Mini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common components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EE6C514A-8EDC-46F8-9012-F11DE5831EB0}"/>
              </a:ext>
            </a:extLst>
          </p:cNvPr>
          <p:cNvSpPr txBox="1"/>
          <p:nvPr/>
        </p:nvSpPr>
        <p:spPr>
          <a:xfrm>
            <a:off x="6491653" y="2473404"/>
            <a:ext cx="147476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A5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72713849-A927-46A6-91C5-4ED3666312A6}"/>
              </a:ext>
            </a:extLst>
          </p:cNvPr>
          <p:cNvSpPr txBox="1"/>
          <p:nvPr/>
        </p:nvSpPr>
        <p:spPr>
          <a:xfrm>
            <a:off x="6929235" y="2473404"/>
            <a:ext cx="147476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A4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E4691BB0-C879-44B2-ACA9-06A4A7C556EB}"/>
              </a:ext>
            </a:extLst>
          </p:cNvPr>
          <p:cNvSpPr txBox="1"/>
          <p:nvPr/>
        </p:nvSpPr>
        <p:spPr>
          <a:xfrm>
            <a:off x="5574440" y="1968240"/>
            <a:ext cx="14587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5V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29741C10-C2F6-4097-BED5-45A140D66E96}"/>
              </a:ext>
            </a:extLst>
          </p:cNvPr>
          <p:cNvSpPr txBox="1"/>
          <p:nvPr/>
        </p:nvSpPr>
        <p:spPr>
          <a:xfrm>
            <a:off x="5465436" y="2238433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7C0E5760-4570-4BEE-81D5-4284D14D1C52}"/>
              </a:ext>
            </a:extLst>
          </p:cNvPr>
          <p:cNvSpPr/>
          <p:nvPr/>
        </p:nvSpPr>
        <p:spPr>
          <a:xfrm>
            <a:off x="8663146" y="200408"/>
            <a:ext cx="1552994" cy="7864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de-DE" sz="1400" b="1">
              <a:solidFill>
                <a:schemeClr val="tx1"/>
              </a:solidFill>
            </a:endParaRP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1102F38D-5304-429D-A753-0891792FB76F}"/>
              </a:ext>
            </a:extLst>
          </p:cNvPr>
          <p:cNvSpPr txBox="1"/>
          <p:nvPr/>
        </p:nvSpPr>
        <p:spPr>
          <a:xfrm>
            <a:off x="8861890" y="170158"/>
            <a:ext cx="13751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Computer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Arduino 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software upload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debugging</a:t>
            </a:r>
          </a:p>
        </p:txBody>
      </p: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D572532C-F497-473F-9D1B-B5F0D5987E67}"/>
              </a:ext>
            </a:extLst>
          </p:cNvPr>
          <p:cNvCxnSpPr>
            <a:cxnSpLocks/>
            <a:stCxn id="58" idx="0"/>
            <a:endCxn id="71" idx="1"/>
          </p:cNvCxnSpPr>
          <p:nvPr/>
        </p:nvCxnSpPr>
        <p:spPr>
          <a:xfrm rot="5400000" flipH="1" flipV="1">
            <a:off x="7526747" y="-149565"/>
            <a:ext cx="393212" cy="1879586"/>
          </a:xfrm>
          <a:prstGeom prst="bentConnector2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feld 77">
            <a:extLst>
              <a:ext uri="{FF2B5EF4-FFF2-40B4-BE49-F238E27FC236}">
                <a16:creationId xmlns:a16="http://schemas.microsoft.com/office/drawing/2014/main" id="{C6CA06CD-BA72-4F3B-9812-C0B116E82CA2}"/>
              </a:ext>
            </a:extLst>
          </p:cNvPr>
          <p:cNvSpPr txBox="1"/>
          <p:nvPr/>
        </p:nvSpPr>
        <p:spPr>
          <a:xfrm>
            <a:off x="4710319" y="2764590"/>
            <a:ext cx="15068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D+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CC40E91D-2E6C-406B-8CF7-5D5500C2B922}"/>
              </a:ext>
            </a:extLst>
          </p:cNvPr>
          <p:cNvSpPr txBox="1"/>
          <p:nvPr/>
        </p:nvSpPr>
        <p:spPr>
          <a:xfrm>
            <a:off x="5018708" y="2764590"/>
            <a:ext cx="125035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D-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2055E633-5491-4EEA-9CF3-BF856FE7FB1C}"/>
              </a:ext>
            </a:extLst>
          </p:cNvPr>
          <p:cNvSpPr txBox="1"/>
          <p:nvPr/>
        </p:nvSpPr>
        <p:spPr>
          <a:xfrm>
            <a:off x="4297735" y="2764590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CA21472A-1065-4487-BD83-22379CD97C18}"/>
              </a:ext>
            </a:extLst>
          </p:cNvPr>
          <p:cNvSpPr txBox="1"/>
          <p:nvPr/>
        </p:nvSpPr>
        <p:spPr>
          <a:xfrm>
            <a:off x="4063085" y="2764590"/>
            <a:ext cx="7694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V</a:t>
            </a:r>
          </a:p>
        </p:txBody>
      </p:sp>
      <p:cxnSp>
        <p:nvCxnSpPr>
          <p:cNvPr id="93" name="Gerader Verbinder 144">
            <a:extLst>
              <a:ext uri="{FF2B5EF4-FFF2-40B4-BE49-F238E27FC236}">
                <a16:creationId xmlns:a16="http://schemas.microsoft.com/office/drawing/2014/main" id="{F4AB6C7D-9501-4705-A78D-CE3D118D3353}"/>
              </a:ext>
            </a:extLst>
          </p:cNvPr>
          <p:cNvCxnSpPr>
            <a:cxnSpLocks/>
            <a:stCxn id="69" idx="1"/>
            <a:endCxn id="81" idx="0"/>
          </p:cNvCxnSpPr>
          <p:nvPr/>
        </p:nvCxnSpPr>
        <p:spPr>
          <a:xfrm rot="10800000" flipV="1">
            <a:off x="4101558" y="2049032"/>
            <a:ext cx="1472883" cy="715558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rader Verbinder 144">
            <a:extLst>
              <a:ext uri="{FF2B5EF4-FFF2-40B4-BE49-F238E27FC236}">
                <a16:creationId xmlns:a16="http://schemas.microsoft.com/office/drawing/2014/main" id="{EAA67D7C-459E-4971-A033-78F4C5E2BC13}"/>
              </a:ext>
            </a:extLst>
          </p:cNvPr>
          <p:cNvCxnSpPr>
            <a:cxnSpLocks/>
            <a:stCxn id="70" idx="1"/>
            <a:endCxn id="80" idx="0"/>
          </p:cNvCxnSpPr>
          <p:nvPr/>
        </p:nvCxnSpPr>
        <p:spPr>
          <a:xfrm rot="10800000" flipV="1">
            <a:off x="4425174" y="2319224"/>
            <a:ext cx="1040262" cy="445365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r Verbinder 144">
            <a:extLst>
              <a:ext uri="{FF2B5EF4-FFF2-40B4-BE49-F238E27FC236}">
                <a16:creationId xmlns:a16="http://schemas.microsoft.com/office/drawing/2014/main" id="{12F9AD4A-022F-4D0E-B45E-B2202E5B769E}"/>
              </a:ext>
            </a:extLst>
          </p:cNvPr>
          <p:cNvCxnSpPr>
            <a:cxnSpLocks/>
            <a:stCxn id="67" idx="1"/>
            <a:endCxn id="78" idx="0"/>
          </p:cNvCxnSpPr>
          <p:nvPr/>
        </p:nvCxnSpPr>
        <p:spPr>
          <a:xfrm rot="10800000" flipV="1">
            <a:off x="4785661" y="2554196"/>
            <a:ext cx="1705992" cy="210394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Gerader Verbinder 144">
            <a:extLst>
              <a:ext uri="{FF2B5EF4-FFF2-40B4-BE49-F238E27FC236}">
                <a16:creationId xmlns:a16="http://schemas.microsoft.com/office/drawing/2014/main" id="{62F36673-2291-4D12-AB33-4B767DEDFD01}"/>
              </a:ext>
            </a:extLst>
          </p:cNvPr>
          <p:cNvCxnSpPr>
            <a:cxnSpLocks/>
            <a:stCxn id="68" idx="2"/>
            <a:endCxn id="79" idx="3"/>
          </p:cNvCxnSpPr>
          <p:nvPr/>
        </p:nvCxnSpPr>
        <p:spPr>
          <a:xfrm rot="5400000">
            <a:off x="5968161" y="1810569"/>
            <a:ext cx="210395" cy="1859230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Gerader Verbinder 72">
            <a:extLst>
              <a:ext uri="{FF2B5EF4-FFF2-40B4-BE49-F238E27FC236}">
                <a16:creationId xmlns:a16="http://schemas.microsoft.com/office/drawing/2014/main" id="{3BC67A7E-9648-420D-8D38-74AA3103C85D}"/>
              </a:ext>
            </a:extLst>
          </p:cNvPr>
          <p:cNvCxnSpPr>
            <a:cxnSpLocks/>
            <a:stCxn id="14" idx="3"/>
            <a:endCxn id="72" idx="3"/>
          </p:cNvCxnSpPr>
          <p:nvPr/>
        </p:nvCxnSpPr>
        <p:spPr>
          <a:xfrm flipV="1">
            <a:off x="9626863" y="585657"/>
            <a:ext cx="610147" cy="4012977"/>
          </a:xfrm>
          <a:prstGeom prst="bentConnector3">
            <a:avLst>
              <a:gd name="adj1" fmla="val 137466"/>
            </a:avLst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6157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0E7B716-4061-47CC-B640-116600FD6A1C}"/>
              </a:ext>
            </a:extLst>
          </p:cNvPr>
          <p:cNvSpPr/>
          <p:nvPr/>
        </p:nvSpPr>
        <p:spPr>
          <a:xfrm>
            <a:off x="3793075" y="1582899"/>
            <a:ext cx="6486384" cy="14943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de-DE" sz="1200" b="1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02A5160-5D92-4B52-A314-FE417AB7B345}"/>
              </a:ext>
            </a:extLst>
          </p:cNvPr>
          <p:cNvSpPr/>
          <p:nvPr/>
        </p:nvSpPr>
        <p:spPr>
          <a:xfrm>
            <a:off x="4017065" y="3077271"/>
            <a:ext cx="1090824" cy="4888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/>
              <a:t>Gadget A </a:t>
            </a:r>
            <a:br>
              <a:rPr lang="de-DE" sz="1050"/>
            </a:br>
            <a:r>
              <a:rPr lang="de-DE" sz="1050"/>
              <a:t>I2C Port (USB)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EAA76D8-8567-4A14-8F1E-8EB8ACE4C6EE}"/>
              </a:ext>
            </a:extLst>
          </p:cNvPr>
          <p:cNvSpPr txBox="1"/>
          <p:nvPr/>
        </p:nvSpPr>
        <p:spPr>
          <a:xfrm>
            <a:off x="2399461" y="3105917"/>
            <a:ext cx="1459054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b="1"/>
              <a:t>USB Pin 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G : GND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D- : SDA (Ardino A4)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D+ : SCL (Ardino A5)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/>
              <a:t>V : 5V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45B05E4-5529-4D1F-B57F-A725054574A4}"/>
              </a:ext>
            </a:extLst>
          </p:cNvPr>
          <p:cNvSpPr/>
          <p:nvPr/>
        </p:nvSpPr>
        <p:spPr>
          <a:xfrm>
            <a:off x="5456045" y="3077271"/>
            <a:ext cx="1090824" cy="4888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050"/>
              <a:t>more Gadgets … </a:t>
            </a:r>
            <a:br>
              <a:rPr lang="de-DE" sz="1050"/>
            </a:br>
            <a:r>
              <a:rPr lang="de-DE" sz="1050"/>
              <a:t>I2C Port (USB)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1DB9939-DF3E-4BF9-B32C-D706EBAAE002}"/>
              </a:ext>
            </a:extLst>
          </p:cNvPr>
          <p:cNvSpPr/>
          <p:nvPr/>
        </p:nvSpPr>
        <p:spPr>
          <a:xfrm>
            <a:off x="1867595" y="4785208"/>
            <a:ext cx="8369415" cy="18723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de-DE" sz="140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491A8D3-8CD2-4A94-A6D7-BAB19ABE4D2E}"/>
              </a:ext>
            </a:extLst>
          </p:cNvPr>
          <p:cNvSpPr/>
          <p:nvPr/>
        </p:nvSpPr>
        <p:spPr>
          <a:xfrm>
            <a:off x="7076711" y="5743909"/>
            <a:ext cx="2155161" cy="476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Arduino Nano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3E6CF24-67D2-4DE0-86E1-3530074B081C}"/>
              </a:ext>
            </a:extLst>
          </p:cNvPr>
          <p:cNvSpPr txBox="1"/>
          <p:nvPr/>
        </p:nvSpPr>
        <p:spPr>
          <a:xfrm>
            <a:off x="2021496" y="4943603"/>
            <a:ext cx="11868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Gadget Board A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06C804C-CF22-462E-8E91-5CE03D6F7C79}"/>
              </a:ext>
            </a:extLst>
          </p:cNvPr>
          <p:cNvSpPr/>
          <p:nvPr/>
        </p:nvSpPr>
        <p:spPr>
          <a:xfrm>
            <a:off x="8876764" y="5600057"/>
            <a:ext cx="271142" cy="276999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A4CC629-5AA5-49DD-B466-455E6A33A5C9}"/>
              </a:ext>
            </a:extLst>
          </p:cNvPr>
          <p:cNvSpPr/>
          <p:nvPr/>
        </p:nvSpPr>
        <p:spPr>
          <a:xfrm>
            <a:off x="8402579" y="4415934"/>
            <a:ext cx="1224284" cy="3653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Service  Port (USB)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BA6C506-6C72-452F-A821-6E48A899D09F}"/>
              </a:ext>
            </a:extLst>
          </p:cNvPr>
          <p:cNvSpPr/>
          <p:nvPr/>
        </p:nvSpPr>
        <p:spPr>
          <a:xfrm>
            <a:off x="3951263" y="4420545"/>
            <a:ext cx="1224284" cy="3653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I2C Port (USB)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05654976-600C-4DD4-92A8-03117A2D32B6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>
            <a:off x="4562477" y="3566164"/>
            <a:ext cx="928" cy="854381"/>
          </a:xfrm>
          <a:prstGeom prst="line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25">
            <a:extLst>
              <a:ext uri="{FF2B5EF4-FFF2-40B4-BE49-F238E27FC236}">
                <a16:creationId xmlns:a16="http://schemas.microsoft.com/office/drawing/2014/main" id="{679F61C3-6940-4F8A-9464-2CB2F4CFEB44}"/>
              </a:ext>
            </a:extLst>
          </p:cNvPr>
          <p:cNvCxnSpPr>
            <a:cxnSpLocks/>
            <a:stCxn id="23" idx="3"/>
            <a:endCxn id="21" idx="0"/>
          </p:cNvCxnSpPr>
          <p:nvPr/>
        </p:nvCxnSpPr>
        <p:spPr>
          <a:xfrm>
            <a:off x="5075702" y="5512636"/>
            <a:ext cx="3004851" cy="6067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44">
            <a:extLst>
              <a:ext uri="{FF2B5EF4-FFF2-40B4-BE49-F238E27FC236}">
                <a16:creationId xmlns:a16="http://schemas.microsoft.com/office/drawing/2014/main" id="{C992145D-9C5E-4493-BA72-B1A81EE20D04}"/>
              </a:ext>
            </a:extLst>
          </p:cNvPr>
          <p:cNvCxnSpPr>
            <a:cxnSpLocks/>
            <a:stCxn id="20" idx="1"/>
            <a:endCxn id="22" idx="2"/>
          </p:cNvCxnSpPr>
          <p:nvPr/>
        </p:nvCxnSpPr>
        <p:spPr>
          <a:xfrm rot="10800000">
            <a:off x="4717621" y="5593428"/>
            <a:ext cx="2863117" cy="33103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1BC6F379-E786-4C1B-A9CB-801503D2AA11}"/>
              </a:ext>
            </a:extLst>
          </p:cNvPr>
          <p:cNvSpPr txBox="1"/>
          <p:nvPr/>
        </p:nvSpPr>
        <p:spPr>
          <a:xfrm>
            <a:off x="7580737" y="5545738"/>
            <a:ext cx="147476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A5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42B580D-9F2A-4C24-B622-0C03463BEF92}"/>
              </a:ext>
            </a:extLst>
          </p:cNvPr>
          <p:cNvSpPr txBox="1"/>
          <p:nvPr/>
        </p:nvSpPr>
        <p:spPr>
          <a:xfrm>
            <a:off x="8006815" y="5518703"/>
            <a:ext cx="147476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A4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99891AD-F604-40C6-B17B-59AB4DE96EBA}"/>
              </a:ext>
            </a:extLst>
          </p:cNvPr>
          <p:cNvSpPr txBox="1"/>
          <p:nvPr/>
        </p:nvSpPr>
        <p:spPr>
          <a:xfrm>
            <a:off x="4642278" y="5431844"/>
            <a:ext cx="15068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D+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27C0C4A-50B4-41F3-875B-FE7AF678D452}"/>
              </a:ext>
            </a:extLst>
          </p:cNvPr>
          <p:cNvSpPr txBox="1"/>
          <p:nvPr/>
        </p:nvSpPr>
        <p:spPr>
          <a:xfrm>
            <a:off x="4950667" y="5431844"/>
            <a:ext cx="125035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D-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D498B56-EB15-4347-B07C-2BA504C4580D}"/>
              </a:ext>
            </a:extLst>
          </p:cNvPr>
          <p:cNvSpPr txBox="1"/>
          <p:nvPr/>
        </p:nvSpPr>
        <p:spPr>
          <a:xfrm>
            <a:off x="4229694" y="5431843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06B9EB67-8245-43B6-ACFC-AA4766A5AA96}"/>
              </a:ext>
            </a:extLst>
          </p:cNvPr>
          <p:cNvSpPr txBox="1"/>
          <p:nvPr/>
        </p:nvSpPr>
        <p:spPr>
          <a:xfrm>
            <a:off x="3995044" y="5431844"/>
            <a:ext cx="7694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V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140CA42-C996-48C2-B123-65C55EB520F4}"/>
              </a:ext>
            </a:extLst>
          </p:cNvPr>
          <p:cNvSpPr txBox="1"/>
          <p:nvPr/>
        </p:nvSpPr>
        <p:spPr>
          <a:xfrm>
            <a:off x="6789964" y="5928002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cxnSp>
        <p:nvCxnSpPr>
          <p:cNvPr id="28" name="Gerader Verbinder 144">
            <a:extLst>
              <a:ext uri="{FF2B5EF4-FFF2-40B4-BE49-F238E27FC236}">
                <a16:creationId xmlns:a16="http://schemas.microsoft.com/office/drawing/2014/main" id="{EE1B5EA7-C41D-429F-AC0F-85277D825246}"/>
              </a:ext>
            </a:extLst>
          </p:cNvPr>
          <p:cNvCxnSpPr>
            <a:cxnSpLocks/>
            <a:stCxn id="9" idx="1"/>
            <a:endCxn id="25" idx="0"/>
          </p:cNvCxnSpPr>
          <p:nvPr/>
        </p:nvCxnSpPr>
        <p:spPr>
          <a:xfrm rot="10800000" flipV="1">
            <a:off x="4033517" y="5021748"/>
            <a:ext cx="3280423" cy="410095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44">
            <a:extLst>
              <a:ext uri="{FF2B5EF4-FFF2-40B4-BE49-F238E27FC236}">
                <a16:creationId xmlns:a16="http://schemas.microsoft.com/office/drawing/2014/main" id="{D27CE172-E8D6-41D3-BB4A-247BD50C3DF0}"/>
              </a:ext>
            </a:extLst>
          </p:cNvPr>
          <p:cNvCxnSpPr>
            <a:cxnSpLocks/>
            <a:stCxn id="27" idx="1"/>
            <a:endCxn id="24" idx="2"/>
          </p:cNvCxnSpPr>
          <p:nvPr/>
        </p:nvCxnSpPr>
        <p:spPr>
          <a:xfrm rot="10800000">
            <a:off x="4357134" y="5593426"/>
            <a:ext cx="2432831" cy="415368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181C01E3-C333-4E48-A679-18434C5DDDCD}"/>
              </a:ext>
            </a:extLst>
          </p:cNvPr>
          <p:cNvSpPr txBox="1"/>
          <p:nvPr/>
        </p:nvSpPr>
        <p:spPr>
          <a:xfrm>
            <a:off x="3347073" y="726846"/>
            <a:ext cx="1933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/>
              <a:t>USB Power 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/>
              <a:t>only V5 and GND are provided</a:t>
            </a:r>
          </a:p>
        </p:txBody>
      </p: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47D5F9C3-B945-4A16-8D61-3C40888D4AD7}"/>
              </a:ext>
            </a:extLst>
          </p:cNvPr>
          <p:cNvGrpSpPr/>
          <p:nvPr/>
        </p:nvGrpSpPr>
        <p:grpSpPr>
          <a:xfrm>
            <a:off x="469478" y="643388"/>
            <a:ext cx="2738818" cy="1279943"/>
            <a:chOff x="536558" y="372279"/>
            <a:chExt cx="2738818" cy="1279943"/>
          </a:xfrm>
        </p:grpSpPr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263D5E58-392C-4C5F-B18F-E5C54DED8FBE}"/>
                </a:ext>
              </a:extLst>
            </p:cNvPr>
            <p:cNvSpPr/>
            <p:nvPr/>
          </p:nvSpPr>
          <p:spPr>
            <a:xfrm>
              <a:off x="1133190" y="372280"/>
              <a:ext cx="1552994" cy="12799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2">
                  <a:shade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de-DE" sz="1400"/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1F4B666F-ECD5-4910-9E28-F9B4393991BC}"/>
                </a:ext>
              </a:extLst>
            </p:cNvPr>
            <p:cNvSpPr/>
            <p:nvPr/>
          </p:nvSpPr>
          <p:spPr>
            <a:xfrm rot="16200000">
              <a:off x="194903" y="713934"/>
              <a:ext cx="1279941" cy="59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050"/>
                <a:t>Charging  (USB)</a:t>
              </a: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91078EBD-888F-458C-B897-D4C1447E02B1}"/>
                </a:ext>
              </a:extLst>
            </p:cNvPr>
            <p:cNvSpPr/>
            <p:nvPr/>
          </p:nvSpPr>
          <p:spPr>
            <a:xfrm rot="5400000">
              <a:off x="2337089" y="713934"/>
              <a:ext cx="1279942" cy="59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050"/>
                <a:t>Power Out</a:t>
              </a:r>
            </a:p>
            <a:p>
              <a:pPr algn="ctr"/>
              <a:r>
                <a:rPr lang="de-DE" sz="1050"/>
                <a:t>Port (USB)</a:t>
              </a:r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6C0D95B1-7B0A-4BE6-A984-47CDF5E801C4}"/>
                </a:ext>
              </a:extLst>
            </p:cNvPr>
            <p:cNvSpPr txBox="1"/>
            <p:nvPr/>
          </p:nvSpPr>
          <p:spPr>
            <a:xfrm>
              <a:off x="1190375" y="594886"/>
              <a:ext cx="147719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b="1"/>
                <a:t>Power Supply Board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/>
                <a:t>Li Battery Pack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/>
                <a:t>TP4056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/>
                <a:t>MT3608</a:t>
              </a:r>
            </a:p>
          </p:txBody>
        </p:sp>
      </p:grp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B0334D1B-06F7-4941-8C05-FC3593032A30}"/>
              </a:ext>
            </a:extLst>
          </p:cNvPr>
          <p:cNvCxnSpPr>
            <a:cxnSpLocks/>
            <a:stCxn id="48" idx="0"/>
            <a:endCxn id="58" idx="1"/>
          </p:cNvCxnSpPr>
          <p:nvPr/>
        </p:nvCxnSpPr>
        <p:spPr>
          <a:xfrm>
            <a:off x="3208296" y="1283359"/>
            <a:ext cx="2887704" cy="896"/>
          </a:xfrm>
          <a:prstGeom prst="line">
            <a:avLst/>
          </a:prstGeom>
          <a:ln w="73025" cmpd="tri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hteck 55">
            <a:extLst>
              <a:ext uri="{FF2B5EF4-FFF2-40B4-BE49-F238E27FC236}">
                <a16:creationId xmlns:a16="http://schemas.microsoft.com/office/drawing/2014/main" id="{6976310C-B988-427C-A0B0-90EF1612C87F}"/>
              </a:ext>
            </a:extLst>
          </p:cNvPr>
          <p:cNvSpPr/>
          <p:nvPr/>
        </p:nvSpPr>
        <p:spPr>
          <a:xfrm>
            <a:off x="5745156" y="1956192"/>
            <a:ext cx="2155161" cy="476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>
                <a:solidFill>
                  <a:schemeClr val="tx1"/>
                </a:solidFill>
              </a:rPr>
              <a:t>Arduino Nano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B2B5C071-6E19-4609-90D7-ACA3834CD0AA}"/>
              </a:ext>
            </a:extLst>
          </p:cNvPr>
          <p:cNvSpPr/>
          <p:nvPr/>
        </p:nvSpPr>
        <p:spPr>
          <a:xfrm>
            <a:off x="6647596" y="1776175"/>
            <a:ext cx="271142" cy="276999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19419DD3-F5E2-4537-A1C2-678DBA819425}"/>
              </a:ext>
            </a:extLst>
          </p:cNvPr>
          <p:cNvSpPr/>
          <p:nvPr/>
        </p:nvSpPr>
        <p:spPr>
          <a:xfrm>
            <a:off x="6096000" y="986834"/>
            <a:ext cx="1375120" cy="5948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Power / Service Port (USB)</a:t>
            </a:r>
          </a:p>
        </p:txBody>
      </p: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14603872-D37F-4F24-B5A6-A71747DCB9FA}"/>
              </a:ext>
            </a:extLst>
          </p:cNvPr>
          <p:cNvCxnSpPr>
            <a:cxnSpLocks/>
            <a:stCxn id="58" idx="2"/>
            <a:endCxn id="57" idx="0"/>
          </p:cNvCxnSpPr>
          <p:nvPr/>
        </p:nvCxnSpPr>
        <p:spPr>
          <a:xfrm flipH="1">
            <a:off x="6783167" y="1581675"/>
            <a:ext cx="393" cy="194500"/>
          </a:xfrm>
          <a:prstGeom prst="line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feld 59">
            <a:extLst>
              <a:ext uri="{FF2B5EF4-FFF2-40B4-BE49-F238E27FC236}">
                <a16:creationId xmlns:a16="http://schemas.microsoft.com/office/drawing/2014/main" id="{5B1A6C57-6E8A-4091-BAF9-BC0A253A8096}"/>
              </a:ext>
            </a:extLst>
          </p:cNvPr>
          <p:cNvSpPr txBox="1"/>
          <p:nvPr/>
        </p:nvSpPr>
        <p:spPr>
          <a:xfrm>
            <a:off x="8368077" y="1705309"/>
            <a:ext cx="1727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Master Board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DFPlayer Mini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common components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EE6C514A-8EDC-46F8-9012-F11DE5831EB0}"/>
              </a:ext>
            </a:extLst>
          </p:cNvPr>
          <p:cNvSpPr txBox="1"/>
          <p:nvPr/>
        </p:nvSpPr>
        <p:spPr>
          <a:xfrm>
            <a:off x="6491653" y="2473404"/>
            <a:ext cx="147476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A5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72713849-A927-46A6-91C5-4ED3666312A6}"/>
              </a:ext>
            </a:extLst>
          </p:cNvPr>
          <p:cNvSpPr txBox="1"/>
          <p:nvPr/>
        </p:nvSpPr>
        <p:spPr>
          <a:xfrm>
            <a:off x="6929235" y="2473404"/>
            <a:ext cx="147476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A4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E4691BB0-C879-44B2-ACA9-06A4A7C556EB}"/>
              </a:ext>
            </a:extLst>
          </p:cNvPr>
          <p:cNvSpPr txBox="1"/>
          <p:nvPr/>
        </p:nvSpPr>
        <p:spPr>
          <a:xfrm>
            <a:off x="5574440" y="1968240"/>
            <a:ext cx="14587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5V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29741C10-C2F6-4097-BED5-45A140D66E96}"/>
              </a:ext>
            </a:extLst>
          </p:cNvPr>
          <p:cNvSpPr txBox="1"/>
          <p:nvPr/>
        </p:nvSpPr>
        <p:spPr>
          <a:xfrm>
            <a:off x="5465436" y="2238433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7C0E5760-4570-4BEE-81D5-4284D14D1C52}"/>
              </a:ext>
            </a:extLst>
          </p:cNvPr>
          <p:cNvSpPr/>
          <p:nvPr/>
        </p:nvSpPr>
        <p:spPr>
          <a:xfrm>
            <a:off x="8663146" y="200408"/>
            <a:ext cx="1552994" cy="7864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shade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de-DE" sz="1400" b="1">
              <a:solidFill>
                <a:schemeClr val="tx1"/>
              </a:solidFill>
            </a:endParaRP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1102F38D-5304-429D-A753-0891792FB76F}"/>
              </a:ext>
            </a:extLst>
          </p:cNvPr>
          <p:cNvSpPr txBox="1"/>
          <p:nvPr/>
        </p:nvSpPr>
        <p:spPr>
          <a:xfrm>
            <a:off x="8861890" y="170158"/>
            <a:ext cx="13751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/>
              <a:t>Computer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Arduino 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software upload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debugging</a:t>
            </a:r>
          </a:p>
        </p:txBody>
      </p: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D572532C-F497-473F-9D1B-B5F0D5987E67}"/>
              </a:ext>
            </a:extLst>
          </p:cNvPr>
          <p:cNvCxnSpPr>
            <a:cxnSpLocks/>
            <a:stCxn id="58" idx="0"/>
            <a:endCxn id="71" idx="1"/>
          </p:cNvCxnSpPr>
          <p:nvPr/>
        </p:nvCxnSpPr>
        <p:spPr>
          <a:xfrm rot="5400000" flipH="1" flipV="1">
            <a:off x="7526747" y="-149565"/>
            <a:ext cx="393212" cy="1879586"/>
          </a:xfrm>
          <a:prstGeom prst="bentConnector2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feld 77">
            <a:extLst>
              <a:ext uri="{FF2B5EF4-FFF2-40B4-BE49-F238E27FC236}">
                <a16:creationId xmlns:a16="http://schemas.microsoft.com/office/drawing/2014/main" id="{C6CA06CD-BA72-4F3B-9812-C0B116E82CA2}"/>
              </a:ext>
            </a:extLst>
          </p:cNvPr>
          <p:cNvSpPr txBox="1"/>
          <p:nvPr/>
        </p:nvSpPr>
        <p:spPr>
          <a:xfrm>
            <a:off x="4710319" y="2764590"/>
            <a:ext cx="15068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D+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CC40E91D-2E6C-406B-8CF7-5D5500C2B922}"/>
              </a:ext>
            </a:extLst>
          </p:cNvPr>
          <p:cNvSpPr txBox="1"/>
          <p:nvPr/>
        </p:nvSpPr>
        <p:spPr>
          <a:xfrm>
            <a:off x="5018708" y="2764590"/>
            <a:ext cx="125035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D-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2055E633-5491-4EEA-9CF3-BF856FE7FB1C}"/>
              </a:ext>
            </a:extLst>
          </p:cNvPr>
          <p:cNvSpPr txBox="1"/>
          <p:nvPr/>
        </p:nvSpPr>
        <p:spPr>
          <a:xfrm>
            <a:off x="4297735" y="2764590"/>
            <a:ext cx="25487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GND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CA21472A-1065-4487-BD83-22379CD97C18}"/>
              </a:ext>
            </a:extLst>
          </p:cNvPr>
          <p:cNvSpPr txBox="1"/>
          <p:nvPr/>
        </p:nvSpPr>
        <p:spPr>
          <a:xfrm>
            <a:off x="4063085" y="2764590"/>
            <a:ext cx="7694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de-DE" sz="1050"/>
              <a:t>V</a:t>
            </a:r>
          </a:p>
        </p:txBody>
      </p:sp>
      <p:cxnSp>
        <p:nvCxnSpPr>
          <p:cNvPr id="93" name="Gerader Verbinder 144">
            <a:extLst>
              <a:ext uri="{FF2B5EF4-FFF2-40B4-BE49-F238E27FC236}">
                <a16:creationId xmlns:a16="http://schemas.microsoft.com/office/drawing/2014/main" id="{F4AB6C7D-9501-4705-A78D-CE3D118D3353}"/>
              </a:ext>
            </a:extLst>
          </p:cNvPr>
          <p:cNvCxnSpPr>
            <a:cxnSpLocks/>
            <a:stCxn id="69" idx="1"/>
            <a:endCxn id="81" idx="0"/>
          </p:cNvCxnSpPr>
          <p:nvPr/>
        </p:nvCxnSpPr>
        <p:spPr>
          <a:xfrm rot="10800000" flipV="1">
            <a:off x="4101558" y="2049032"/>
            <a:ext cx="1472883" cy="715558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rader Verbinder 144">
            <a:extLst>
              <a:ext uri="{FF2B5EF4-FFF2-40B4-BE49-F238E27FC236}">
                <a16:creationId xmlns:a16="http://schemas.microsoft.com/office/drawing/2014/main" id="{EAA67D7C-459E-4971-A033-78F4C5E2BC13}"/>
              </a:ext>
            </a:extLst>
          </p:cNvPr>
          <p:cNvCxnSpPr>
            <a:cxnSpLocks/>
            <a:stCxn id="70" idx="1"/>
            <a:endCxn id="80" idx="0"/>
          </p:cNvCxnSpPr>
          <p:nvPr/>
        </p:nvCxnSpPr>
        <p:spPr>
          <a:xfrm rot="10800000" flipV="1">
            <a:off x="4425174" y="2319224"/>
            <a:ext cx="1040262" cy="445365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r Verbinder 144">
            <a:extLst>
              <a:ext uri="{FF2B5EF4-FFF2-40B4-BE49-F238E27FC236}">
                <a16:creationId xmlns:a16="http://schemas.microsoft.com/office/drawing/2014/main" id="{12F9AD4A-022F-4D0E-B45E-B2202E5B769E}"/>
              </a:ext>
            </a:extLst>
          </p:cNvPr>
          <p:cNvCxnSpPr>
            <a:cxnSpLocks/>
            <a:stCxn id="67" idx="1"/>
            <a:endCxn id="78" idx="0"/>
          </p:cNvCxnSpPr>
          <p:nvPr/>
        </p:nvCxnSpPr>
        <p:spPr>
          <a:xfrm rot="10800000" flipV="1">
            <a:off x="4785661" y="2554196"/>
            <a:ext cx="1705992" cy="210394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Gerader Verbinder 144">
            <a:extLst>
              <a:ext uri="{FF2B5EF4-FFF2-40B4-BE49-F238E27FC236}">
                <a16:creationId xmlns:a16="http://schemas.microsoft.com/office/drawing/2014/main" id="{62F36673-2291-4D12-AB33-4B767DEDFD01}"/>
              </a:ext>
            </a:extLst>
          </p:cNvPr>
          <p:cNvCxnSpPr>
            <a:cxnSpLocks/>
            <a:stCxn id="68" idx="2"/>
            <a:endCxn id="79" idx="3"/>
          </p:cNvCxnSpPr>
          <p:nvPr/>
        </p:nvCxnSpPr>
        <p:spPr>
          <a:xfrm rot="5400000">
            <a:off x="5968161" y="1810569"/>
            <a:ext cx="210395" cy="1859230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Gerader Verbinder 72">
            <a:extLst>
              <a:ext uri="{FF2B5EF4-FFF2-40B4-BE49-F238E27FC236}">
                <a16:creationId xmlns:a16="http://schemas.microsoft.com/office/drawing/2014/main" id="{3BC67A7E-9648-420D-8D38-74AA3103C85D}"/>
              </a:ext>
            </a:extLst>
          </p:cNvPr>
          <p:cNvCxnSpPr>
            <a:cxnSpLocks/>
            <a:stCxn id="14" idx="3"/>
            <a:endCxn id="72" idx="3"/>
          </p:cNvCxnSpPr>
          <p:nvPr/>
        </p:nvCxnSpPr>
        <p:spPr>
          <a:xfrm flipV="1">
            <a:off x="9626863" y="585657"/>
            <a:ext cx="610147" cy="4012977"/>
          </a:xfrm>
          <a:prstGeom prst="bentConnector3">
            <a:avLst>
              <a:gd name="adj1" fmla="val 137466"/>
            </a:avLst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28F6ED8C-1746-427D-86CA-BA27A4BBDDEE}"/>
              </a:ext>
            </a:extLst>
          </p:cNvPr>
          <p:cNvSpPr/>
          <p:nvPr/>
        </p:nvSpPr>
        <p:spPr>
          <a:xfrm>
            <a:off x="7313939" y="4926074"/>
            <a:ext cx="781337" cy="19134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50"/>
              <a:t>switch V</a:t>
            </a:r>
          </a:p>
        </p:txBody>
      </p:sp>
      <p:cxnSp>
        <p:nvCxnSpPr>
          <p:cNvPr id="65" name="Gerader Verbinder 144">
            <a:extLst>
              <a:ext uri="{FF2B5EF4-FFF2-40B4-BE49-F238E27FC236}">
                <a16:creationId xmlns:a16="http://schemas.microsoft.com/office/drawing/2014/main" id="{FB3BC31D-9EFF-4327-B7E2-983422F3DB81}"/>
              </a:ext>
            </a:extLst>
          </p:cNvPr>
          <p:cNvCxnSpPr>
            <a:cxnSpLocks/>
            <a:stCxn id="13" idx="0"/>
            <a:endCxn id="9" idx="2"/>
          </p:cNvCxnSpPr>
          <p:nvPr/>
        </p:nvCxnSpPr>
        <p:spPr>
          <a:xfrm rot="16200000" flipV="1">
            <a:off x="8117155" y="4704876"/>
            <a:ext cx="482634" cy="1307727"/>
          </a:xfrm>
          <a:prstGeom prst="bentConnector3">
            <a:avLst>
              <a:gd name="adj1" fmla="val 50000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144">
            <a:extLst>
              <a:ext uri="{FF2B5EF4-FFF2-40B4-BE49-F238E27FC236}">
                <a16:creationId xmlns:a16="http://schemas.microsoft.com/office/drawing/2014/main" id="{36D62C59-7218-4CF2-9AA2-F2DFCCDE5B3B}"/>
              </a:ext>
            </a:extLst>
          </p:cNvPr>
          <p:cNvCxnSpPr>
            <a:cxnSpLocks/>
            <a:stCxn id="14" idx="2"/>
            <a:endCxn id="9" idx="3"/>
          </p:cNvCxnSpPr>
          <p:nvPr/>
        </p:nvCxnSpPr>
        <p:spPr>
          <a:xfrm rot="5400000">
            <a:off x="8434791" y="4441819"/>
            <a:ext cx="240416" cy="919445"/>
          </a:xfrm>
          <a:prstGeom prst="bentConnector2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58B94CB4-28CC-42CC-8A22-DACFA18DCE4B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 flipH="1">
            <a:off x="9012335" y="4781333"/>
            <a:ext cx="2386" cy="818724"/>
          </a:xfrm>
          <a:prstGeom prst="line">
            <a:avLst/>
          </a:prstGeom>
          <a:ln w="73025" cmpd="tri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3543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feld 84">
            <a:extLst>
              <a:ext uri="{FF2B5EF4-FFF2-40B4-BE49-F238E27FC236}">
                <a16:creationId xmlns:a16="http://schemas.microsoft.com/office/drawing/2014/main" id="{77B4B0B5-48AE-4138-9B77-164018F4524E}"/>
              </a:ext>
            </a:extLst>
          </p:cNvPr>
          <p:cNvSpPr txBox="1"/>
          <p:nvPr/>
        </p:nvSpPr>
        <p:spPr>
          <a:xfrm>
            <a:off x="7675871" y="860802"/>
            <a:ext cx="2520242" cy="523220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chemeClr val="bg1"/>
                </a:solidFill>
              </a:rPr>
              <a:t>TF Card, FAT32, Folder "mp3"</a:t>
            </a:r>
          </a:p>
          <a:p>
            <a:r>
              <a:rPr lang="de-DE" sz="1400">
                <a:solidFill>
                  <a:schemeClr val="bg1"/>
                </a:solidFill>
              </a:rPr>
              <a:t>Files "0001.mp3" … "0004.mp3"</a:t>
            </a:r>
          </a:p>
        </p:txBody>
      </p:sp>
      <p:grpSp>
        <p:nvGrpSpPr>
          <p:cNvPr id="145" name="Gruppieren 144">
            <a:extLst>
              <a:ext uri="{FF2B5EF4-FFF2-40B4-BE49-F238E27FC236}">
                <a16:creationId xmlns:a16="http://schemas.microsoft.com/office/drawing/2014/main" id="{E04DF9F9-EF02-4871-B114-AB5BE0CF54E0}"/>
              </a:ext>
            </a:extLst>
          </p:cNvPr>
          <p:cNvGrpSpPr/>
          <p:nvPr/>
        </p:nvGrpSpPr>
        <p:grpSpPr>
          <a:xfrm>
            <a:off x="1098814" y="4256452"/>
            <a:ext cx="2068566" cy="1240575"/>
            <a:chOff x="1100173" y="3438872"/>
            <a:chExt cx="2068566" cy="1240575"/>
          </a:xfrm>
        </p:grpSpPr>
        <p:sp>
          <p:nvSpPr>
            <p:cNvPr id="130" name="Rechteck: abgerundete Ecken 129">
              <a:extLst>
                <a:ext uri="{FF2B5EF4-FFF2-40B4-BE49-F238E27FC236}">
                  <a16:creationId xmlns:a16="http://schemas.microsoft.com/office/drawing/2014/main" id="{F7365A3C-F6EE-4686-AD77-760BDA5A57CB}"/>
                </a:ext>
              </a:extLst>
            </p:cNvPr>
            <p:cNvSpPr/>
            <p:nvPr/>
          </p:nvSpPr>
          <p:spPr>
            <a:xfrm>
              <a:off x="1100173" y="3586027"/>
              <a:ext cx="1638265" cy="109342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b" anchorCtr="0"/>
            <a:lstStyle/>
            <a:p>
              <a:pPr algn="ctr"/>
              <a:r>
                <a:rPr lang="de-DE" sz="1600"/>
                <a:t>Button Field</a:t>
              </a:r>
            </a:p>
          </p:txBody>
        </p:sp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154DB65E-8289-48C8-907E-DB4A697BDC55}"/>
                </a:ext>
              </a:extLst>
            </p:cNvPr>
            <p:cNvSpPr/>
            <p:nvPr/>
          </p:nvSpPr>
          <p:spPr>
            <a:xfrm>
              <a:off x="1333657" y="3674896"/>
              <a:ext cx="508000" cy="410248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T1</a:t>
              </a:r>
            </a:p>
          </p:txBody>
        </p:sp>
        <p:cxnSp>
          <p:nvCxnSpPr>
            <p:cNvPr id="68" name="Gerader Verbinder 67">
              <a:extLst>
                <a:ext uri="{FF2B5EF4-FFF2-40B4-BE49-F238E27FC236}">
                  <a16:creationId xmlns:a16="http://schemas.microsoft.com/office/drawing/2014/main" id="{B002BB39-55E1-4084-A8B3-033671639293}"/>
                </a:ext>
              </a:extLst>
            </p:cNvPr>
            <p:cNvCxnSpPr>
              <a:cxnSpLocks/>
              <a:stCxn id="66" idx="4"/>
              <a:endCxn id="104" idx="2"/>
            </p:cNvCxnSpPr>
            <p:nvPr/>
          </p:nvCxnSpPr>
          <p:spPr>
            <a:xfrm rot="16200000" flipH="1">
              <a:off x="2157264" y="3515536"/>
              <a:ext cx="141958" cy="1281173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495A2A6B-51E7-449C-9D04-CD032F2E73BD}"/>
                </a:ext>
              </a:extLst>
            </p:cNvPr>
            <p:cNvSpPr/>
            <p:nvPr/>
          </p:nvSpPr>
          <p:spPr>
            <a:xfrm>
              <a:off x="2077003" y="3693010"/>
              <a:ext cx="508000" cy="410248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T4</a:t>
              </a:r>
            </a:p>
          </p:txBody>
        </p:sp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5EE502AE-70D7-4F9B-8B22-56360F766339}"/>
                </a:ext>
              </a:extLst>
            </p:cNvPr>
            <p:cNvCxnSpPr>
              <a:cxnSpLocks/>
              <a:stCxn id="75" idx="4"/>
              <a:endCxn id="104" idx="2"/>
            </p:cNvCxnSpPr>
            <p:nvPr/>
          </p:nvCxnSpPr>
          <p:spPr>
            <a:xfrm rot="16200000" flipH="1">
              <a:off x="2537994" y="3896266"/>
              <a:ext cx="123844" cy="537827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DB1E540B-9DDC-4021-95E6-C3A54B9AE9D4}"/>
                </a:ext>
              </a:extLst>
            </p:cNvPr>
            <p:cNvSpPr txBox="1"/>
            <p:nvPr/>
          </p:nvSpPr>
          <p:spPr>
            <a:xfrm>
              <a:off x="2692327" y="3917513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/>
                <a:t>GND</a:t>
              </a:r>
            </a:p>
          </p:txBody>
        </p:sp>
        <p:sp>
          <p:nvSpPr>
            <p:cNvPr id="81" name="Textfeld 80">
              <a:extLst>
                <a:ext uri="{FF2B5EF4-FFF2-40B4-BE49-F238E27FC236}">
                  <a16:creationId xmlns:a16="http://schemas.microsoft.com/office/drawing/2014/main" id="{1F1C196A-0D11-46AE-B550-20FA477DBF68}"/>
                </a:ext>
              </a:extLst>
            </p:cNvPr>
            <p:cNvSpPr txBox="1"/>
            <p:nvPr/>
          </p:nvSpPr>
          <p:spPr>
            <a:xfrm>
              <a:off x="1816338" y="3701830"/>
              <a:ext cx="3593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u="none" strike="noStrike">
                  <a:effectLst/>
                </a:rPr>
                <a:t>…</a:t>
              </a:r>
              <a:r>
                <a:rPr lang="de-DE" sz="1400"/>
                <a:t> </a:t>
              </a:r>
            </a:p>
          </p:txBody>
        </p:sp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D17D3B1D-8CA0-4688-A2B2-99B69C47B065}"/>
                </a:ext>
              </a:extLst>
            </p:cNvPr>
            <p:cNvSpPr/>
            <p:nvPr/>
          </p:nvSpPr>
          <p:spPr>
            <a:xfrm>
              <a:off x="2868830" y="4179568"/>
              <a:ext cx="85199" cy="95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22" name="Gerader Verbinder 121">
              <a:extLst>
                <a:ext uri="{FF2B5EF4-FFF2-40B4-BE49-F238E27FC236}">
                  <a16:creationId xmlns:a16="http://schemas.microsoft.com/office/drawing/2014/main" id="{4DE9BCC8-F7F0-449D-A874-05F5A5D88814}"/>
                </a:ext>
              </a:extLst>
            </p:cNvPr>
            <p:cNvCxnSpPr>
              <a:cxnSpLocks/>
              <a:stCxn id="66" idx="0"/>
              <a:endCxn id="124" idx="4"/>
            </p:cNvCxnSpPr>
            <p:nvPr/>
          </p:nvCxnSpPr>
          <p:spPr>
            <a:xfrm flipV="1">
              <a:off x="1587657" y="3533939"/>
              <a:ext cx="1" cy="1409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Gerader Verbinder 122">
              <a:extLst>
                <a:ext uri="{FF2B5EF4-FFF2-40B4-BE49-F238E27FC236}">
                  <a16:creationId xmlns:a16="http://schemas.microsoft.com/office/drawing/2014/main" id="{85043E50-DE7C-4B0A-B188-BFF76720049B}"/>
                </a:ext>
              </a:extLst>
            </p:cNvPr>
            <p:cNvCxnSpPr>
              <a:cxnSpLocks/>
              <a:stCxn id="75" idx="0"/>
              <a:endCxn id="125" idx="4"/>
            </p:cNvCxnSpPr>
            <p:nvPr/>
          </p:nvCxnSpPr>
          <p:spPr>
            <a:xfrm flipV="1">
              <a:off x="2331003" y="3533939"/>
              <a:ext cx="1" cy="1590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Ellipse 123">
              <a:extLst>
                <a:ext uri="{FF2B5EF4-FFF2-40B4-BE49-F238E27FC236}">
                  <a16:creationId xmlns:a16="http://schemas.microsoft.com/office/drawing/2014/main" id="{5A003C98-7791-4A36-97C8-BF2AF5BB2E82}"/>
                </a:ext>
              </a:extLst>
            </p:cNvPr>
            <p:cNvSpPr/>
            <p:nvPr/>
          </p:nvSpPr>
          <p:spPr>
            <a:xfrm>
              <a:off x="1545058" y="3445727"/>
              <a:ext cx="85199" cy="882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5" name="Ellipse 124">
              <a:extLst>
                <a:ext uri="{FF2B5EF4-FFF2-40B4-BE49-F238E27FC236}">
                  <a16:creationId xmlns:a16="http://schemas.microsoft.com/office/drawing/2014/main" id="{7FDFA12F-DB11-413B-9B42-6120103F15CB}"/>
                </a:ext>
              </a:extLst>
            </p:cNvPr>
            <p:cNvSpPr/>
            <p:nvPr/>
          </p:nvSpPr>
          <p:spPr>
            <a:xfrm>
              <a:off x="2288404" y="3438872"/>
              <a:ext cx="85199" cy="95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05" name="Gruppieren 204">
            <a:extLst>
              <a:ext uri="{FF2B5EF4-FFF2-40B4-BE49-F238E27FC236}">
                <a16:creationId xmlns:a16="http://schemas.microsoft.com/office/drawing/2014/main" id="{E730267A-C759-4918-AA9F-3703C6A9B1D1}"/>
              </a:ext>
            </a:extLst>
          </p:cNvPr>
          <p:cNvGrpSpPr/>
          <p:nvPr/>
        </p:nvGrpSpPr>
        <p:grpSpPr>
          <a:xfrm>
            <a:off x="4365061" y="4037705"/>
            <a:ext cx="1830514" cy="430887"/>
            <a:chOff x="4365061" y="4762526"/>
            <a:chExt cx="1830514" cy="430887"/>
          </a:xfrm>
        </p:grpSpPr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CC933CA8-D8FA-411B-991A-BA1C0EEDCB4E}"/>
                </a:ext>
              </a:extLst>
            </p:cNvPr>
            <p:cNvSpPr txBox="1"/>
            <p:nvPr/>
          </p:nvSpPr>
          <p:spPr>
            <a:xfrm>
              <a:off x="4547759" y="4762526"/>
              <a:ext cx="1465118" cy="430887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de-DE" sz="1400"/>
                <a:t>brown-black-red</a:t>
              </a:r>
              <a:br>
                <a:rPr lang="de-DE" sz="1400"/>
              </a:br>
              <a:r>
                <a:rPr lang="de-DE" sz="1400"/>
                <a:t>1 k Ohm</a:t>
              </a:r>
            </a:p>
          </p:txBody>
        </p:sp>
        <p:cxnSp>
          <p:nvCxnSpPr>
            <p:cNvPr id="136" name="Gerader Verbinder 135">
              <a:extLst>
                <a:ext uri="{FF2B5EF4-FFF2-40B4-BE49-F238E27FC236}">
                  <a16:creationId xmlns:a16="http://schemas.microsoft.com/office/drawing/2014/main" id="{24243ABE-A079-4D3E-A2A1-10119FD2AC7D}"/>
                </a:ext>
              </a:extLst>
            </p:cNvPr>
            <p:cNvCxnSpPr>
              <a:stCxn id="33" idx="1"/>
            </p:cNvCxnSpPr>
            <p:nvPr/>
          </p:nvCxnSpPr>
          <p:spPr>
            <a:xfrm flipH="1" flipV="1">
              <a:off x="4393049" y="4977969"/>
              <a:ext cx="154710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Gerader Verbinder 137">
              <a:extLst>
                <a:ext uri="{FF2B5EF4-FFF2-40B4-BE49-F238E27FC236}">
                  <a16:creationId xmlns:a16="http://schemas.microsoft.com/office/drawing/2014/main" id="{42436CA5-ADB8-4BC5-AB6F-33871AA1ACF5}"/>
                </a:ext>
              </a:extLst>
            </p:cNvPr>
            <p:cNvCxnSpPr>
              <a:stCxn id="33" idx="3"/>
            </p:cNvCxnSpPr>
            <p:nvPr/>
          </p:nvCxnSpPr>
          <p:spPr>
            <a:xfrm flipV="1">
              <a:off x="6012877" y="4977969"/>
              <a:ext cx="123247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Ellipse 138">
              <a:extLst>
                <a:ext uri="{FF2B5EF4-FFF2-40B4-BE49-F238E27FC236}">
                  <a16:creationId xmlns:a16="http://schemas.microsoft.com/office/drawing/2014/main" id="{68B774ED-7FEF-4D7F-8DE6-E90F20E380BA}"/>
                </a:ext>
              </a:extLst>
            </p:cNvPr>
            <p:cNvSpPr/>
            <p:nvPr/>
          </p:nvSpPr>
          <p:spPr>
            <a:xfrm>
              <a:off x="4365061" y="4930435"/>
              <a:ext cx="85199" cy="95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0" name="Ellipse 139">
              <a:extLst>
                <a:ext uri="{FF2B5EF4-FFF2-40B4-BE49-F238E27FC236}">
                  <a16:creationId xmlns:a16="http://schemas.microsoft.com/office/drawing/2014/main" id="{64231119-DFB1-4218-9730-84AE48FE2E53}"/>
                </a:ext>
              </a:extLst>
            </p:cNvPr>
            <p:cNvSpPr/>
            <p:nvPr/>
          </p:nvSpPr>
          <p:spPr>
            <a:xfrm>
              <a:off x="6110376" y="4927697"/>
              <a:ext cx="85199" cy="95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16" name="Gruppieren 315">
            <a:extLst>
              <a:ext uri="{FF2B5EF4-FFF2-40B4-BE49-F238E27FC236}">
                <a16:creationId xmlns:a16="http://schemas.microsoft.com/office/drawing/2014/main" id="{38543C81-D2DB-4DB0-BFBF-34B3C3D437A8}"/>
              </a:ext>
            </a:extLst>
          </p:cNvPr>
          <p:cNvGrpSpPr/>
          <p:nvPr/>
        </p:nvGrpSpPr>
        <p:grpSpPr>
          <a:xfrm>
            <a:off x="4847789" y="2295694"/>
            <a:ext cx="3276354" cy="1373344"/>
            <a:chOff x="4847789" y="2295694"/>
            <a:chExt cx="3276354" cy="137334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9A2F04B4-96C3-47C5-972D-638F5427CD5A}"/>
                </a:ext>
              </a:extLst>
            </p:cNvPr>
            <p:cNvSpPr/>
            <p:nvPr/>
          </p:nvSpPr>
          <p:spPr>
            <a:xfrm>
              <a:off x="5740400" y="2395295"/>
              <a:ext cx="13462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DFPlayer</a:t>
              </a:r>
              <a:br>
                <a:rPr lang="de-DE"/>
              </a:br>
              <a:r>
                <a:rPr lang="de-DE"/>
                <a:t>Mini</a:t>
              </a:r>
            </a:p>
          </p:txBody>
        </p: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00B78A26-2F7E-4CF6-8747-3143F1B9D9C0}"/>
                </a:ext>
              </a:extLst>
            </p:cNvPr>
            <p:cNvCxnSpPr/>
            <p:nvPr/>
          </p:nvCxnSpPr>
          <p:spPr>
            <a:xfrm flipH="1">
              <a:off x="5564909" y="2652066"/>
              <a:ext cx="2185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B9E54D6-9678-470E-B676-4D57FF85276A}"/>
                </a:ext>
              </a:extLst>
            </p:cNvPr>
            <p:cNvSpPr txBox="1"/>
            <p:nvPr/>
          </p:nvSpPr>
          <p:spPr>
            <a:xfrm>
              <a:off x="4847789" y="2295695"/>
              <a:ext cx="7780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u="none" strike="noStrike">
                  <a:effectLst/>
                </a:rPr>
                <a:t>VCC</a:t>
              </a:r>
              <a:r>
                <a:rPr lang="de-DE" sz="1200"/>
                <a:t> Pin 1</a:t>
              </a:r>
            </a:p>
          </p:txBody>
        </p: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CF7DA7A9-0C3F-4641-9E4F-8726B6AD9F77}"/>
                </a:ext>
              </a:extLst>
            </p:cNvPr>
            <p:cNvCxnSpPr/>
            <p:nvPr/>
          </p:nvCxnSpPr>
          <p:spPr>
            <a:xfrm flipH="1">
              <a:off x="5564909" y="3123120"/>
              <a:ext cx="2185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4BA454E-8595-42B2-8546-B0FC41BED137}"/>
                </a:ext>
              </a:extLst>
            </p:cNvPr>
            <p:cNvSpPr txBox="1"/>
            <p:nvPr/>
          </p:nvSpPr>
          <p:spPr>
            <a:xfrm>
              <a:off x="4873812" y="2762952"/>
              <a:ext cx="8210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/>
                <a:t>GND Pin 7</a:t>
              </a:r>
            </a:p>
          </p:txBody>
        </p: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077BE8B0-FB3B-4028-BD29-084023D518CF}"/>
                </a:ext>
              </a:extLst>
            </p:cNvPr>
            <p:cNvCxnSpPr>
              <a:cxnSpLocks/>
            </p:cNvCxnSpPr>
            <p:nvPr/>
          </p:nvCxnSpPr>
          <p:spPr>
            <a:xfrm>
              <a:off x="6687127" y="3309695"/>
              <a:ext cx="0" cy="224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28F8226D-9C72-4FC1-AAA9-87C39D9E124A}"/>
                </a:ext>
              </a:extLst>
            </p:cNvPr>
            <p:cNvSpPr txBox="1"/>
            <p:nvPr/>
          </p:nvSpPr>
          <p:spPr>
            <a:xfrm>
              <a:off x="6724012" y="3392039"/>
              <a:ext cx="6928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/>
                <a:t>RX Pin 2</a:t>
              </a:r>
            </a:p>
          </p:txBody>
        </p: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57CF89AE-CAC8-4DF6-8ACA-CACD39CB4AB3}"/>
                </a:ext>
              </a:extLst>
            </p:cNvPr>
            <p:cNvCxnSpPr>
              <a:cxnSpLocks/>
            </p:cNvCxnSpPr>
            <p:nvPr/>
          </p:nvCxnSpPr>
          <p:spPr>
            <a:xfrm>
              <a:off x="6050614" y="3309695"/>
              <a:ext cx="0" cy="208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46BF7B6B-9FEE-4DAC-BD85-C0456790C3B3}"/>
                </a:ext>
              </a:extLst>
            </p:cNvPr>
            <p:cNvSpPr txBox="1"/>
            <p:nvPr/>
          </p:nvSpPr>
          <p:spPr>
            <a:xfrm>
              <a:off x="5287172" y="3366259"/>
              <a:ext cx="6848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/>
                <a:t>TX Pin 3</a:t>
              </a:r>
            </a:p>
          </p:txBody>
        </p: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7194E64F-2B7C-4676-846D-15AD9114CDFB}"/>
                </a:ext>
              </a:extLst>
            </p:cNvPr>
            <p:cNvCxnSpPr/>
            <p:nvPr/>
          </p:nvCxnSpPr>
          <p:spPr>
            <a:xfrm>
              <a:off x="7086600" y="2652066"/>
              <a:ext cx="25691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feld 59">
              <a:extLst>
                <a:ext uri="{FF2B5EF4-FFF2-40B4-BE49-F238E27FC236}">
                  <a16:creationId xmlns:a16="http://schemas.microsoft.com/office/drawing/2014/main" id="{186D13C5-AA00-4DC9-A15C-9507DA0E6652}"/>
                </a:ext>
              </a:extLst>
            </p:cNvPr>
            <p:cNvSpPr txBox="1"/>
            <p:nvPr/>
          </p:nvSpPr>
          <p:spPr>
            <a:xfrm>
              <a:off x="7208508" y="2295694"/>
              <a:ext cx="9156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u="none" strike="noStrike">
                  <a:effectLst/>
                </a:rPr>
                <a:t>SPK_1 Pin 6</a:t>
              </a:r>
              <a:endParaRPr lang="de-DE" sz="1200"/>
            </a:p>
          </p:txBody>
        </p: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B7BB4199-68E8-4307-81BC-5302E46FEC80}"/>
                </a:ext>
              </a:extLst>
            </p:cNvPr>
            <p:cNvCxnSpPr/>
            <p:nvPr/>
          </p:nvCxnSpPr>
          <p:spPr>
            <a:xfrm>
              <a:off x="7100706" y="3030707"/>
              <a:ext cx="25691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229DE44-BDDE-45E8-9510-2DAC4B5CDF08}"/>
                </a:ext>
              </a:extLst>
            </p:cNvPr>
            <p:cNvSpPr txBox="1"/>
            <p:nvPr/>
          </p:nvSpPr>
          <p:spPr>
            <a:xfrm>
              <a:off x="7208508" y="2717103"/>
              <a:ext cx="9156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u="none" strike="noStrike">
                  <a:effectLst/>
                </a:rPr>
                <a:t>SPK_2 Pin 8</a:t>
              </a:r>
              <a:endParaRPr lang="de-DE" sz="1200"/>
            </a:p>
          </p:txBody>
        </p:sp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7D6BB96D-E436-4D19-A7E6-74A12657CE20}"/>
                </a:ext>
              </a:extLst>
            </p:cNvPr>
            <p:cNvSpPr/>
            <p:nvPr/>
          </p:nvSpPr>
          <p:spPr>
            <a:xfrm>
              <a:off x="7325826" y="2593516"/>
              <a:ext cx="85199" cy="10245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018E3FFF-BCEB-4561-B909-7CCB9B8EF455}"/>
                </a:ext>
              </a:extLst>
            </p:cNvPr>
            <p:cNvSpPr/>
            <p:nvPr/>
          </p:nvSpPr>
          <p:spPr>
            <a:xfrm>
              <a:off x="7342295" y="2976284"/>
              <a:ext cx="85199" cy="10245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3" name="Ellipse 92">
              <a:extLst>
                <a:ext uri="{FF2B5EF4-FFF2-40B4-BE49-F238E27FC236}">
                  <a16:creationId xmlns:a16="http://schemas.microsoft.com/office/drawing/2014/main" id="{B370EB6D-2E2F-4812-B7C0-7AFB2668B121}"/>
                </a:ext>
              </a:extLst>
            </p:cNvPr>
            <p:cNvSpPr/>
            <p:nvPr/>
          </p:nvSpPr>
          <p:spPr>
            <a:xfrm>
              <a:off x="5492989" y="2597193"/>
              <a:ext cx="85199" cy="10245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76B56C6C-FE7A-4475-B843-AE6EED5E6A96}"/>
                </a:ext>
              </a:extLst>
            </p:cNvPr>
            <p:cNvSpPr/>
            <p:nvPr/>
          </p:nvSpPr>
          <p:spPr>
            <a:xfrm>
              <a:off x="5519692" y="3078524"/>
              <a:ext cx="85199" cy="10245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2D020D8E-38B8-47D9-A486-1D9CA9816E47}"/>
                </a:ext>
              </a:extLst>
            </p:cNvPr>
            <p:cNvSpPr/>
            <p:nvPr/>
          </p:nvSpPr>
          <p:spPr>
            <a:xfrm>
              <a:off x="5999833" y="3453456"/>
              <a:ext cx="85199" cy="95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2" name="Ellipse 141">
              <a:extLst>
                <a:ext uri="{FF2B5EF4-FFF2-40B4-BE49-F238E27FC236}">
                  <a16:creationId xmlns:a16="http://schemas.microsoft.com/office/drawing/2014/main" id="{87CB467D-EC3C-4BE6-BF4A-DB539CFC2845}"/>
                </a:ext>
              </a:extLst>
            </p:cNvPr>
            <p:cNvSpPr/>
            <p:nvPr/>
          </p:nvSpPr>
          <p:spPr>
            <a:xfrm>
              <a:off x="6648326" y="3483494"/>
              <a:ext cx="85199" cy="95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1DC74D4B-BEDF-438A-AAA6-AAF31B78F3F9}"/>
              </a:ext>
            </a:extLst>
          </p:cNvPr>
          <p:cNvGrpSpPr/>
          <p:nvPr/>
        </p:nvGrpSpPr>
        <p:grpSpPr>
          <a:xfrm>
            <a:off x="9268309" y="2372205"/>
            <a:ext cx="1705802" cy="914400"/>
            <a:chOff x="9268309" y="1993516"/>
            <a:chExt cx="1705802" cy="914400"/>
          </a:xfrm>
        </p:grpSpPr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8E49DD2F-33D1-443E-9074-93D660172479}"/>
                </a:ext>
              </a:extLst>
            </p:cNvPr>
            <p:cNvSpPr/>
            <p:nvPr/>
          </p:nvSpPr>
          <p:spPr>
            <a:xfrm>
              <a:off x="9592734" y="1993516"/>
              <a:ext cx="1381377" cy="9144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Speaker</a:t>
              </a:r>
              <a:br>
                <a:rPr lang="de-DE"/>
              </a:br>
              <a:r>
                <a:rPr lang="de-DE"/>
                <a:t>8 Ohm</a:t>
              </a:r>
            </a:p>
          </p:txBody>
        </p:sp>
        <p:cxnSp>
          <p:nvCxnSpPr>
            <p:cNvPr id="106" name="Gerader Verbinder 105">
              <a:extLst>
                <a:ext uri="{FF2B5EF4-FFF2-40B4-BE49-F238E27FC236}">
                  <a16:creationId xmlns:a16="http://schemas.microsoft.com/office/drawing/2014/main" id="{BE16164F-D10B-4DD9-B0C7-CCF64BCF9EE2}"/>
                </a:ext>
              </a:extLst>
            </p:cNvPr>
            <p:cNvCxnSpPr>
              <a:stCxn id="63" idx="1"/>
            </p:cNvCxnSpPr>
            <p:nvPr/>
          </p:nvCxnSpPr>
          <p:spPr>
            <a:xfrm flipH="1" flipV="1">
              <a:off x="9337964" y="2123081"/>
              <a:ext cx="457068" cy="43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r Verbinder 106">
              <a:extLst>
                <a:ext uri="{FF2B5EF4-FFF2-40B4-BE49-F238E27FC236}">
                  <a16:creationId xmlns:a16="http://schemas.microsoft.com/office/drawing/2014/main" id="{0B1384F1-7EBC-405C-AFEB-A0340B5C1562}"/>
                </a:ext>
              </a:extLst>
            </p:cNvPr>
            <p:cNvCxnSpPr>
              <a:cxnSpLocks/>
              <a:stCxn id="63" idx="3"/>
            </p:cNvCxnSpPr>
            <p:nvPr/>
          </p:nvCxnSpPr>
          <p:spPr>
            <a:xfrm flipH="1">
              <a:off x="9337964" y="2774005"/>
              <a:ext cx="457068" cy="9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Ellipse 147">
              <a:extLst>
                <a:ext uri="{FF2B5EF4-FFF2-40B4-BE49-F238E27FC236}">
                  <a16:creationId xmlns:a16="http://schemas.microsoft.com/office/drawing/2014/main" id="{1BD5DA24-8881-4CB6-9D20-F8D1925C0C4D}"/>
                </a:ext>
              </a:extLst>
            </p:cNvPr>
            <p:cNvSpPr/>
            <p:nvPr/>
          </p:nvSpPr>
          <p:spPr>
            <a:xfrm>
              <a:off x="9268309" y="2077981"/>
              <a:ext cx="85199" cy="880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9" name="Ellipse 148">
              <a:extLst>
                <a:ext uri="{FF2B5EF4-FFF2-40B4-BE49-F238E27FC236}">
                  <a16:creationId xmlns:a16="http://schemas.microsoft.com/office/drawing/2014/main" id="{F37B7238-B41F-4EBC-83A8-949085163E53}"/>
                </a:ext>
              </a:extLst>
            </p:cNvPr>
            <p:cNvSpPr/>
            <p:nvPr/>
          </p:nvSpPr>
          <p:spPr>
            <a:xfrm>
              <a:off x="9268309" y="2746985"/>
              <a:ext cx="85199" cy="880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54" name="Gerader Verbinder 153">
            <a:extLst>
              <a:ext uri="{FF2B5EF4-FFF2-40B4-BE49-F238E27FC236}">
                <a16:creationId xmlns:a16="http://schemas.microsoft.com/office/drawing/2014/main" id="{983C1836-866C-4983-8AD1-869B33AB1232}"/>
              </a:ext>
            </a:extLst>
          </p:cNvPr>
          <p:cNvCxnSpPr>
            <a:cxnSpLocks/>
            <a:stCxn id="6" idx="0"/>
            <a:endCxn id="85" idx="2"/>
          </p:cNvCxnSpPr>
          <p:nvPr/>
        </p:nvCxnSpPr>
        <p:spPr>
          <a:xfrm rot="5400000" flipH="1" flipV="1">
            <a:off x="7169110" y="628413"/>
            <a:ext cx="1011273" cy="252249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Rechteck: abgerundete Ecken 180">
            <a:extLst>
              <a:ext uri="{FF2B5EF4-FFF2-40B4-BE49-F238E27FC236}">
                <a16:creationId xmlns:a16="http://schemas.microsoft.com/office/drawing/2014/main" id="{002B488E-F370-437A-8594-10B1DD0FD1F4}"/>
              </a:ext>
            </a:extLst>
          </p:cNvPr>
          <p:cNvSpPr/>
          <p:nvPr/>
        </p:nvSpPr>
        <p:spPr>
          <a:xfrm>
            <a:off x="8686265" y="4615650"/>
            <a:ext cx="2287845" cy="137535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lang="de-DE"/>
              <a:t>Battery Box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74DED79-117A-423A-8FD7-61E5D9694582}"/>
              </a:ext>
            </a:extLst>
          </p:cNvPr>
          <p:cNvSpPr/>
          <p:nvPr/>
        </p:nvSpPr>
        <p:spPr>
          <a:xfrm>
            <a:off x="9268309" y="4859583"/>
            <a:ext cx="914400" cy="64064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4,5 V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51B5F04-5673-462D-BCFB-A3FE21E47672}"/>
              </a:ext>
            </a:extLst>
          </p:cNvPr>
          <p:cNvSpPr txBox="1"/>
          <p:nvPr/>
        </p:nvSpPr>
        <p:spPr>
          <a:xfrm>
            <a:off x="6950982" y="5486224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GND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61B5431-803F-4877-8BF5-599AF02FB173}"/>
              </a:ext>
            </a:extLst>
          </p:cNvPr>
          <p:cNvSpPr txBox="1"/>
          <p:nvPr/>
        </p:nvSpPr>
        <p:spPr>
          <a:xfrm>
            <a:off x="6930843" y="5048468"/>
            <a:ext cx="4686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u="none" strike="noStrike">
                <a:effectLst/>
              </a:rPr>
              <a:t>VCC</a:t>
            </a:r>
            <a:r>
              <a:rPr lang="de-DE" sz="1200"/>
              <a:t> 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DFA95AB-0E89-4F21-B547-DCB278C46396}"/>
              </a:ext>
            </a:extLst>
          </p:cNvPr>
          <p:cNvCxnSpPr>
            <a:cxnSpLocks/>
            <a:stCxn id="150" idx="6"/>
            <a:endCxn id="7" idx="1"/>
          </p:cNvCxnSpPr>
          <p:nvPr/>
        </p:nvCxnSpPr>
        <p:spPr>
          <a:xfrm flipV="1">
            <a:off x="8552432" y="5179907"/>
            <a:ext cx="715877" cy="70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33AB841F-96B6-487D-BF9F-0F0BA4C4C4DC}"/>
              </a:ext>
            </a:extLst>
          </p:cNvPr>
          <p:cNvCxnSpPr>
            <a:cxnSpLocks/>
            <a:stCxn id="7" idx="3"/>
            <a:endCxn id="151" idx="6"/>
          </p:cNvCxnSpPr>
          <p:nvPr/>
        </p:nvCxnSpPr>
        <p:spPr>
          <a:xfrm flipH="1">
            <a:off x="8549070" y="5179907"/>
            <a:ext cx="1633639" cy="452860"/>
          </a:xfrm>
          <a:prstGeom prst="bentConnector3">
            <a:avLst>
              <a:gd name="adj1" fmla="val -1399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Ellipse 149">
            <a:extLst>
              <a:ext uri="{FF2B5EF4-FFF2-40B4-BE49-F238E27FC236}">
                <a16:creationId xmlns:a16="http://schemas.microsoft.com/office/drawing/2014/main" id="{06ECDA3E-D5F8-4FCF-85AF-E1303EF62194}"/>
              </a:ext>
            </a:extLst>
          </p:cNvPr>
          <p:cNvSpPr/>
          <p:nvPr/>
        </p:nvSpPr>
        <p:spPr>
          <a:xfrm>
            <a:off x="8467233" y="5142962"/>
            <a:ext cx="85199" cy="880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630E493C-84B4-4E3C-A918-5E2332184EC8}"/>
              </a:ext>
            </a:extLst>
          </p:cNvPr>
          <p:cNvSpPr/>
          <p:nvPr/>
        </p:nvSpPr>
        <p:spPr>
          <a:xfrm>
            <a:off x="8463871" y="5588762"/>
            <a:ext cx="85199" cy="880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BBFFF5A-C644-455E-AC44-7CE5452D0CDD}"/>
              </a:ext>
            </a:extLst>
          </p:cNvPr>
          <p:cNvSpPr/>
          <p:nvPr/>
        </p:nvSpPr>
        <p:spPr>
          <a:xfrm>
            <a:off x="8837281" y="4771980"/>
            <a:ext cx="384848" cy="349442"/>
          </a:xfrm>
          <a:prstGeom prst="ellips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/>
              <a:t>+</a:t>
            </a:r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A822DD4-AFED-43BE-A49C-CB5B28B82F0B}"/>
              </a:ext>
            </a:extLst>
          </p:cNvPr>
          <p:cNvSpPr/>
          <p:nvPr/>
        </p:nvSpPr>
        <p:spPr>
          <a:xfrm>
            <a:off x="10243780" y="4771980"/>
            <a:ext cx="384848" cy="349442"/>
          </a:xfrm>
          <a:prstGeom prst="ellips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/>
              <a:t>-</a:t>
            </a:r>
          </a:p>
        </p:txBody>
      </p:sp>
      <p:cxnSp>
        <p:nvCxnSpPr>
          <p:cNvPr id="186" name="Verbinder: gewinkelt 185">
            <a:extLst>
              <a:ext uri="{FF2B5EF4-FFF2-40B4-BE49-F238E27FC236}">
                <a16:creationId xmlns:a16="http://schemas.microsoft.com/office/drawing/2014/main" id="{1BA226D9-BA35-41BC-83CA-A9B13E61426F}"/>
              </a:ext>
            </a:extLst>
          </p:cNvPr>
          <p:cNvCxnSpPr>
            <a:cxnSpLocks/>
            <a:stCxn id="95" idx="4"/>
            <a:endCxn id="124" idx="0"/>
          </p:cNvCxnSpPr>
          <p:nvPr/>
        </p:nvCxnSpPr>
        <p:spPr>
          <a:xfrm rot="5400000">
            <a:off x="1317035" y="3990224"/>
            <a:ext cx="542347" cy="3818"/>
          </a:xfrm>
          <a:prstGeom prst="bentConnector3">
            <a:avLst>
              <a:gd name="adj1" fmla="val 50000"/>
            </a:avLst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Verbinder: gewinkelt 186">
            <a:extLst>
              <a:ext uri="{FF2B5EF4-FFF2-40B4-BE49-F238E27FC236}">
                <a16:creationId xmlns:a16="http://schemas.microsoft.com/office/drawing/2014/main" id="{296CF01F-8C66-44F5-AFCF-5BE10EF07335}"/>
              </a:ext>
            </a:extLst>
          </p:cNvPr>
          <p:cNvCxnSpPr>
            <a:cxnSpLocks/>
            <a:stCxn id="96" idx="4"/>
            <a:endCxn id="125" idx="0"/>
          </p:cNvCxnSpPr>
          <p:nvPr/>
        </p:nvCxnSpPr>
        <p:spPr>
          <a:xfrm rot="5400000">
            <a:off x="2063907" y="3986698"/>
            <a:ext cx="535493" cy="4015"/>
          </a:xfrm>
          <a:prstGeom prst="bentConnector3">
            <a:avLst>
              <a:gd name="adj1" fmla="val 50000"/>
            </a:avLst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Verbinder: gewinkelt 191">
            <a:extLst>
              <a:ext uri="{FF2B5EF4-FFF2-40B4-BE49-F238E27FC236}">
                <a16:creationId xmlns:a16="http://schemas.microsoft.com/office/drawing/2014/main" id="{C0A3CB44-A2E1-4B17-9A76-49A6D764A3CC}"/>
              </a:ext>
            </a:extLst>
          </p:cNvPr>
          <p:cNvCxnSpPr>
            <a:stCxn id="102" idx="6"/>
            <a:endCxn id="139" idx="2"/>
          </p:cNvCxnSpPr>
          <p:nvPr/>
        </p:nvCxnSpPr>
        <p:spPr>
          <a:xfrm>
            <a:off x="2971193" y="2986567"/>
            <a:ext cx="1393868" cy="1266581"/>
          </a:xfrm>
          <a:prstGeom prst="bentConnector3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Verbinder: gewinkelt 193">
            <a:extLst>
              <a:ext uri="{FF2B5EF4-FFF2-40B4-BE49-F238E27FC236}">
                <a16:creationId xmlns:a16="http://schemas.microsoft.com/office/drawing/2014/main" id="{55136151-0077-40DA-B7AD-59C3DAC8DC00}"/>
              </a:ext>
            </a:extLst>
          </p:cNvPr>
          <p:cNvCxnSpPr>
            <a:stCxn id="101" idx="6"/>
            <a:endCxn id="141" idx="4"/>
          </p:cNvCxnSpPr>
          <p:nvPr/>
        </p:nvCxnSpPr>
        <p:spPr>
          <a:xfrm>
            <a:off x="2984233" y="2658104"/>
            <a:ext cx="3058200" cy="890419"/>
          </a:xfrm>
          <a:prstGeom prst="bentConnector4">
            <a:avLst>
              <a:gd name="adj1" fmla="val 26879"/>
              <a:gd name="adj2" fmla="val 125673"/>
            </a:avLst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Verbinder: gewinkelt 195">
            <a:extLst>
              <a:ext uri="{FF2B5EF4-FFF2-40B4-BE49-F238E27FC236}">
                <a16:creationId xmlns:a16="http://schemas.microsoft.com/office/drawing/2014/main" id="{A4049F2E-CCE6-437D-8D49-0FB846B3867A}"/>
              </a:ext>
            </a:extLst>
          </p:cNvPr>
          <p:cNvCxnSpPr>
            <a:stCxn id="91" idx="6"/>
            <a:endCxn id="148" idx="4"/>
          </p:cNvCxnSpPr>
          <p:nvPr/>
        </p:nvCxnSpPr>
        <p:spPr>
          <a:xfrm flipV="1">
            <a:off x="7411025" y="2544679"/>
            <a:ext cx="1899884" cy="100063"/>
          </a:xfrm>
          <a:prstGeom prst="bentConnector2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Verbinder: gewinkelt 197">
            <a:extLst>
              <a:ext uri="{FF2B5EF4-FFF2-40B4-BE49-F238E27FC236}">
                <a16:creationId xmlns:a16="http://schemas.microsoft.com/office/drawing/2014/main" id="{FBD859FC-C3F0-4A7C-9D3F-D0C1F2FA0B8E}"/>
              </a:ext>
            </a:extLst>
          </p:cNvPr>
          <p:cNvCxnSpPr>
            <a:stCxn id="92" idx="6"/>
            <a:endCxn id="149" idx="0"/>
          </p:cNvCxnSpPr>
          <p:nvPr/>
        </p:nvCxnSpPr>
        <p:spPr>
          <a:xfrm>
            <a:off x="7427494" y="3027510"/>
            <a:ext cx="1883415" cy="98164"/>
          </a:xfrm>
          <a:prstGeom prst="bentConnector2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Verbinder: gewinkelt 201">
            <a:extLst>
              <a:ext uri="{FF2B5EF4-FFF2-40B4-BE49-F238E27FC236}">
                <a16:creationId xmlns:a16="http://schemas.microsoft.com/office/drawing/2014/main" id="{514EA306-1BD8-4F94-8EC3-012879223506}"/>
              </a:ext>
            </a:extLst>
          </p:cNvPr>
          <p:cNvCxnSpPr>
            <a:cxnSpLocks/>
            <a:stCxn id="142" idx="4"/>
            <a:endCxn id="140" idx="6"/>
          </p:cNvCxnSpPr>
          <p:nvPr/>
        </p:nvCxnSpPr>
        <p:spPr>
          <a:xfrm rot="5400000">
            <a:off x="6107327" y="3666810"/>
            <a:ext cx="671849" cy="495351"/>
          </a:xfrm>
          <a:prstGeom prst="bentConnector2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Verbinder: gewinkelt 234">
            <a:extLst>
              <a:ext uri="{FF2B5EF4-FFF2-40B4-BE49-F238E27FC236}">
                <a16:creationId xmlns:a16="http://schemas.microsoft.com/office/drawing/2014/main" id="{52113A51-BEE9-4E7A-965A-6D83715CEF22}"/>
              </a:ext>
            </a:extLst>
          </p:cNvPr>
          <p:cNvCxnSpPr>
            <a:cxnSpLocks/>
            <a:stCxn id="261" idx="4"/>
            <a:endCxn id="211" idx="0"/>
          </p:cNvCxnSpPr>
          <p:nvPr/>
        </p:nvCxnSpPr>
        <p:spPr>
          <a:xfrm rot="5400000">
            <a:off x="903753" y="1473217"/>
            <a:ext cx="1378418" cy="3689"/>
          </a:xfrm>
          <a:prstGeom prst="bentConnector3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Verbinder: gewinkelt 237">
            <a:extLst>
              <a:ext uri="{FF2B5EF4-FFF2-40B4-BE49-F238E27FC236}">
                <a16:creationId xmlns:a16="http://schemas.microsoft.com/office/drawing/2014/main" id="{9EEE615E-9E1C-4EA8-85BF-333F96326E7F}"/>
              </a:ext>
            </a:extLst>
          </p:cNvPr>
          <p:cNvCxnSpPr>
            <a:cxnSpLocks/>
            <a:stCxn id="292" idx="4"/>
            <a:endCxn id="212" idx="0"/>
          </p:cNvCxnSpPr>
          <p:nvPr/>
        </p:nvCxnSpPr>
        <p:spPr>
          <a:xfrm rot="5400000">
            <a:off x="1901122" y="1722145"/>
            <a:ext cx="882012" cy="2236"/>
          </a:xfrm>
          <a:prstGeom prst="bentConnector3">
            <a:avLst>
              <a:gd name="adj1" fmla="val 50000"/>
            </a:avLst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7" name="Gruppieren 356">
            <a:extLst>
              <a:ext uri="{FF2B5EF4-FFF2-40B4-BE49-F238E27FC236}">
                <a16:creationId xmlns:a16="http://schemas.microsoft.com/office/drawing/2014/main" id="{7023C0FC-5082-49B4-8D74-4F71B9B31C61}"/>
              </a:ext>
            </a:extLst>
          </p:cNvPr>
          <p:cNvGrpSpPr/>
          <p:nvPr/>
        </p:nvGrpSpPr>
        <p:grpSpPr>
          <a:xfrm>
            <a:off x="4402012" y="332298"/>
            <a:ext cx="2583058" cy="1405905"/>
            <a:chOff x="4402012" y="332298"/>
            <a:chExt cx="2583058" cy="1405905"/>
          </a:xfrm>
        </p:grpSpPr>
        <p:sp>
          <p:nvSpPr>
            <p:cNvPr id="224" name="Textfeld 223">
              <a:extLst>
                <a:ext uri="{FF2B5EF4-FFF2-40B4-BE49-F238E27FC236}">
                  <a16:creationId xmlns:a16="http://schemas.microsoft.com/office/drawing/2014/main" id="{201E7BF3-18BD-48B3-82AE-EC683D131EFE}"/>
                </a:ext>
              </a:extLst>
            </p:cNvPr>
            <p:cNvSpPr txBox="1"/>
            <p:nvPr/>
          </p:nvSpPr>
          <p:spPr>
            <a:xfrm>
              <a:off x="6508658" y="432599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/>
                <a:t>GND</a:t>
              </a:r>
            </a:p>
          </p:txBody>
        </p:sp>
        <p:sp>
          <p:nvSpPr>
            <p:cNvPr id="219" name="Rechteck: abgerundete Ecken 218">
              <a:extLst>
                <a:ext uri="{FF2B5EF4-FFF2-40B4-BE49-F238E27FC236}">
                  <a16:creationId xmlns:a16="http://schemas.microsoft.com/office/drawing/2014/main" id="{7E89B070-7DCE-4242-B3CD-C18D1A1A20FF}"/>
                </a:ext>
              </a:extLst>
            </p:cNvPr>
            <p:cNvSpPr/>
            <p:nvPr/>
          </p:nvSpPr>
          <p:spPr>
            <a:xfrm>
              <a:off x="4594768" y="332298"/>
              <a:ext cx="1861330" cy="1405905"/>
            </a:xfrm>
            <a:prstGeom prst="roundRect">
              <a:avLst>
                <a:gd name="adj" fmla="val 10569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rtlCol="0" anchor="b" anchorCtr="0"/>
            <a:lstStyle/>
            <a:p>
              <a:pPr algn="r"/>
              <a:r>
                <a:rPr lang="de-DE" sz="1600"/>
                <a:t>Light Field</a:t>
              </a:r>
            </a:p>
          </p:txBody>
        </p:sp>
        <p:sp>
          <p:nvSpPr>
            <p:cNvPr id="220" name="Ellipse 219">
              <a:extLst>
                <a:ext uri="{FF2B5EF4-FFF2-40B4-BE49-F238E27FC236}">
                  <a16:creationId xmlns:a16="http://schemas.microsoft.com/office/drawing/2014/main" id="{44AD6899-D60F-4B16-8164-2A3A49C1814A}"/>
                </a:ext>
              </a:extLst>
            </p:cNvPr>
            <p:cNvSpPr/>
            <p:nvPr/>
          </p:nvSpPr>
          <p:spPr>
            <a:xfrm>
              <a:off x="4866020" y="532859"/>
              <a:ext cx="508000" cy="410248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L1</a:t>
              </a:r>
            </a:p>
          </p:txBody>
        </p:sp>
        <p:cxnSp>
          <p:nvCxnSpPr>
            <p:cNvPr id="221" name="Gerader Verbinder 67">
              <a:extLst>
                <a:ext uri="{FF2B5EF4-FFF2-40B4-BE49-F238E27FC236}">
                  <a16:creationId xmlns:a16="http://schemas.microsoft.com/office/drawing/2014/main" id="{69B246DE-A447-44F9-B02D-A3530169E714}"/>
                </a:ext>
              </a:extLst>
            </p:cNvPr>
            <p:cNvCxnSpPr>
              <a:cxnSpLocks/>
              <a:stCxn id="220" idx="6"/>
              <a:endCxn id="226" idx="2"/>
            </p:cNvCxnSpPr>
            <p:nvPr/>
          </p:nvCxnSpPr>
          <p:spPr>
            <a:xfrm flipV="1">
              <a:off x="5374020" y="735179"/>
              <a:ext cx="1250226" cy="2804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Ellipse 221">
              <a:extLst>
                <a:ext uri="{FF2B5EF4-FFF2-40B4-BE49-F238E27FC236}">
                  <a16:creationId xmlns:a16="http://schemas.microsoft.com/office/drawing/2014/main" id="{D49EAE2E-BFB3-4494-99EE-E574410488C2}"/>
                </a:ext>
              </a:extLst>
            </p:cNvPr>
            <p:cNvSpPr/>
            <p:nvPr/>
          </p:nvSpPr>
          <p:spPr>
            <a:xfrm>
              <a:off x="4852037" y="1030879"/>
              <a:ext cx="508000" cy="410248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L4</a:t>
              </a:r>
            </a:p>
          </p:txBody>
        </p:sp>
        <p:cxnSp>
          <p:nvCxnSpPr>
            <p:cNvPr id="223" name="Gerader Verbinder 75">
              <a:extLst>
                <a:ext uri="{FF2B5EF4-FFF2-40B4-BE49-F238E27FC236}">
                  <a16:creationId xmlns:a16="http://schemas.microsoft.com/office/drawing/2014/main" id="{A0DF1611-6014-453C-B39A-A513DA24198F}"/>
                </a:ext>
              </a:extLst>
            </p:cNvPr>
            <p:cNvCxnSpPr>
              <a:cxnSpLocks/>
              <a:stCxn id="222" idx="6"/>
              <a:endCxn id="226" idx="2"/>
            </p:cNvCxnSpPr>
            <p:nvPr/>
          </p:nvCxnSpPr>
          <p:spPr>
            <a:xfrm flipV="1">
              <a:off x="5360037" y="735179"/>
              <a:ext cx="1264209" cy="500824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Textfeld 224">
              <a:extLst>
                <a:ext uri="{FF2B5EF4-FFF2-40B4-BE49-F238E27FC236}">
                  <a16:creationId xmlns:a16="http://schemas.microsoft.com/office/drawing/2014/main" id="{F811070C-0059-4CB3-84D5-F71AAC1D35ED}"/>
                </a:ext>
              </a:extLst>
            </p:cNvPr>
            <p:cNvSpPr txBox="1"/>
            <p:nvPr/>
          </p:nvSpPr>
          <p:spPr>
            <a:xfrm>
              <a:off x="4962828" y="792606"/>
              <a:ext cx="3593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u="none" strike="noStrike">
                  <a:effectLst/>
                </a:rPr>
                <a:t>…</a:t>
              </a:r>
              <a:r>
                <a:rPr lang="de-DE" sz="1400"/>
                <a:t> </a:t>
              </a:r>
            </a:p>
          </p:txBody>
        </p:sp>
        <p:sp>
          <p:nvSpPr>
            <p:cNvPr id="226" name="Ellipse 225">
              <a:extLst>
                <a:ext uri="{FF2B5EF4-FFF2-40B4-BE49-F238E27FC236}">
                  <a16:creationId xmlns:a16="http://schemas.microsoft.com/office/drawing/2014/main" id="{0616FCB1-DF6D-4A20-8082-017981E73B56}"/>
                </a:ext>
              </a:extLst>
            </p:cNvPr>
            <p:cNvSpPr/>
            <p:nvPr/>
          </p:nvSpPr>
          <p:spPr>
            <a:xfrm>
              <a:off x="6624246" y="687645"/>
              <a:ext cx="85199" cy="95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27" name="Gerader Verbinder 226">
              <a:extLst>
                <a:ext uri="{FF2B5EF4-FFF2-40B4-BE49-F238E27FC236}">
                  <a16:creationId xmlns:a16="http://schemas.microsoft.com/office/drawing/2014/main" id="{131B6FA9-19F7-4549-B701-498C8AA0DFAB}"/>
                </a:ext>
              </a:extLst>
            </p:cNvPr>
            <p:cNvCxnSpPr>
              <a:cxnSpLocks/>
              <a:stCxn id="220" idx="2"/>
              <a:endCxn id="229" idx="6"/>
            </p:cNvCxnSpPr>
            <p:nvPr/>
          </p:nvCxnSpPr>
          <p:spPr>
            <a:xfrm flipH="1" flipV="1">
              <a:off x="4488802" y="734294"/>
              <a:ext cx="377218" cy="36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Gerader Verbinder 227">
              <a:extLst>
                <a:ext uri="{FF2B5EF4-FFF2-40B4-BE49-F238E27FC236}">
                  <a16:creationId xmlns:a16="http://schemas.microsoft.com/office/drawing/2014/main" id="{A300AFFF-1486-4B8F-BBE6-CF454CDF46FB}"/>
                </a:ext>
              </a:extLst>
            </p:cNvPr>
            <p:cNvCxnSpPr>
              <a:cxnSpLocks/>
              <a:stCxn id="222" idx="2"/>
              <a:endCxn id="230" idx="6"/>
            </p:cNvCxnSpPr>
            <p:nvPr/>
          </p:nvCxnSpPr>
          <p:spPr>
            <a:xfrm flipH="1" flipV="1">
              <a:off x="4487211" y="1232353"/>
              <a:ext cx="364826" cy="36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Ellipse 228">
              <a:extLst>
                <a:ext uri="{FF2B5EF4-FFF2-40B4-BE49-F238E27FC236}">
                  <a16:creationId xmlns:a16="http://schemas.microsoft.com/office/drawing/2014/main" id="{836D7BAB-0B57-47A9-B4DC-F2F823DBF560}"/>
                </a:ext>
              </a:extLst>
            </p:cNvPr>
            <p:cNvSpPr/>
            <p:nvPr/>
          </p:nvSpPr>
          <p:spPr>
            <a:xfrm>
              <a:off x="4403603" y="690188"/>
              <a:ext cx="85199" cy="882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0" name="Ellipse 229">
              <a:extLst>
                <a:ext uri="{FF2B5EF4-FFF2-40B4-BE49-F238E27FC236}">
                  <a16:creationId xmlns:a16="http://schemas.microsoft.com/office/drawing/2014/main" id="{594AF01D-FB7B-4A27-9CCF-FE2F43466433}"/>
                </a:ext>
              </a:extLst>
            </p:cNvPr>
            <p:cNvSpPr/>
            <p:nvPr/>
          </p:nvSpPr>
          <p:spPr>
            <a:xfrm>
              <a:off x="4402012" y="1184819"/>
              <a:ext cx="85199" cy="95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8" name="Ellipse 247">
              <a:extLst>
                <a:ext uri="{FF2B5EF4-FFF2-40B4-BE49-F238E27FC236}">
                  <a16:creationId xmlns:a16="http://schemas.microsoft.com/office/drawing/2014/main" id="{886B8248-DE0B-490D-940A-6142B272C423}"/>
                </a:ext>
              </a:extLst>
            </p:cNvPr>
            <p:cNvSpPr/>
            <p:nvPr/>
          </p:nvSpPr>
          <p:spPr>
            <a:xfrm>
              <a:off x="4757789" y="417708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de-DE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249" name="Ellipse 248">
              <a:extLst>
                <a:ext uri="{FF2B5EF4-FFF2-40B4-BE49-F238E27FC236}">
                  <a16:creationId xmlns:a16="http://schemas.microsoft.com/office/drawing/2014/main" id="{3D166AC5-5794-49F7-B96D-680730E584F6}"/>
                </a:ext>
              </a:extLst>
            </p:cNvPr>
            <p:cNvSpPr/>
            <p:nvPr/>
          </p:nvSpPr>
          <p:spPr>
            <a:xfrm>
              <a:off x="4745013" y="920383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de-DE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250" name="Ellipse 249">
              <a:extLst>
                <a:ext uri="{FF2B5EF4-FFF2-40B4-BE49-F238E27FC236}">
                  <a16:creationId xmlns:a16="http://schemas.microsoft.com/office/drawing/2014/main" id="{829EE611-EB68-4434-8755-B92C55FD1DC1}"/>
                </a:ext>
              </a:extLst>
            </p:cNvPr>
            <p:cNvSpPr/>
            <p:nvPr/>
          </p:nvSpPr>
          <p:spPr>
            <a:xfrm>
              <a:off x="5405913" y="427928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de-DE">
                  <a:solidFill>
                    <a:schemeClr val="tx1"/>
                  </a:solidFill>
                </a:rPr>
                <a:t>-</a:t>
              </a:r>
            </a:p>
          </p:txBody>
        </p:sp>
        <p:sp>
          <p:nvSpPr>
            <p:cNvPr id="251" name="Ellipse 250">
              <a:extLst>
                <a:ext uri="{FF2B5EF4-FFF2-40B4-BE49-F238E27FC236}">
                  <a16:creationId xmlns:a16="http://schemas.microsoft.com/office/drawing/2014/main" id="{7C5BB6E0-E43D-4886-A3E1-F87C6F40FCEC}"/>
                </a:ext>
              </a:extLst>
            </p:cNvPr>
            <p:cNvSpPr/>
            <p:nvPr/>
          </p:nvSpPr>
          <p:spPr>
            <a:xfrm>
              <a:off x="5405806" y="999117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de-DE">
                  <a:solidFill>
                    <a:schemeClr val="tx1"/>
                  </a:solidFill>
                </a:rPr>
                <a:t>-</a:t>
              </a:r>
            </a:p>
          </p:txBody>
        </p:sp>
      </p:grpSp>
      <p:grpSp>
        <p:nvGrpSpPr>
          <p:cNvPr id="257" name="Gruppieren 256">
            <a:extLst>
              <a:ext uri="{FF2B5EF4-FFF2-40B4-BE49-F238E27FC236}">
                <a16:creationId xmlns:a16="http://schemas.microsoft.com/office/drawing/2014/main" id="{943C4F0D-5B2B-4C49-B319-B4BE2BE0D007}"/>
              </a:ext>
            </a:extLst>
          </p:cNvPr>
          <p:cNvGrpSpPr/>
          <p:nvPr/>
        </p:nvGrpSpPr>
        <p:grpSpPr>
          <a:xfrm>
            <a:off x="1552206" y="522876"/>
            <a:ext cx="1830514" cy="430887"/>
            <a:chOff x="4365061" y="4762526"/>
            <a:chExt cx="1830514" cy="430887"/>
          </a:xfrm>
        </p:grpSpPr>
        <p:sp>
          <p:nvSpPr>
            <p:cNvPr id="258" name="Textfeld 257">
              <a:extLst>
                <a:ext uri="{FF2B5EF4-FFF2-40B4-BE49-F238E27FC236}">
                  <a16:creationId xmlns:a16="http://schemas.microsoft.com/office/drawing/2014/main" id="{68260D39-F687-4AF3-81AF-F3D71F8673B6}"/>
                </a:ext>
              </a:extLst>
            </p:cNvPr>
            <p:cNvSpPr txBox="1"/>
            <p:nvPr/>
          </p:nvSpPr>
          <p:spPr>
            <a:xfrm>
              <a:off x="4547759" y="4762526"/>
              <a:ext cx="1465118" cy="430887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de-DE" sz="1400"/>
                <a:t>red-red-brown</a:t>
              </a:r>
              <a:br>
                <a:rPr lang="de-DE" sz="1400"/>
              </a:br>
              <a:r>
                <a:rPr lang="de-DE" sz="1400"/>
                <a:t>220 k Ohm</a:t>
              </a:r>
            </a:p>
          </p:txBody>
        </p:sp>
        <p:cxnSp>
          <p:nvCxnSpPr>
            <p:cNvPr id="259" name="Gerader Verbinder 258">
              <a:extLst>
                <a:ext uri="{FF2B5EF4-FFF2-40B4-BE49-F238E27FC236}">
                  <a16:creationId xmlns:a16="http://schemas.microsoft.com/office/drawing/2014/main" id="{62115042-CB8A-4801-BB1E-9E875109363F}"/>
                </a:ext>
              </a:extLst>
            </p:cNvPr>
            <p:cNvCxnSpPr>
              <a:stCxn id="258" idx="1"/>
            </p:cNvCxnSpPr>
            <p:nvPr/>
          </p:nvCxnSpPr>
          <p:spPr>
            <a:xfrm flipH="1" flipV="1">
              <a:off x="4393049" y="4977969"/>
              <a:ext cx="154710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Gerader Verbinder 259">
              <a:extLst>
                <a:ext uri="{FF2B5EF4-FFF2-40B4-BE49-F238E27FC236}">
                  <a16:creationId xmlns:a16="http://schemas.microsoft.com/office/drawing/2014/main" id="{1FBA2AC6-0293-419A-8041-F766C7BF676D}"/>
                </a:ext>
              </a:extLst>
            </p:cNvPr>
            <p:cNvCxnSpPr>
              <a:stCxn id="258" idx="3"/>
            </p:cNvCxnSpPr>
            <p:nvPr/>
          </p:nvCxnSpPr>
          <p:spPr>
            <a:xfrm flipV="1">
              <a:off x="6012877" y="4977969"/>
              <a:ext cx="123247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Ellipse 260">
              <a:extLst>
                <a:ext uri="{FF2B5EF4-FFF2-40B4-BE49-F238E27FC236}">
                  <a16:creationId xmlns:a16="http://schemas.microsoft.com/office/drawing/2014/main" id="{62BD2987-BC9F-444E-A261-6CBBB98A3641}"/>
                </a:ext>
              </a:extLst>
            </p:cNvPr>
            <p:cNvSpPr/>
            <p:nvPr/>
          </p:nvSpPr>
          <p:spPr>
            <a:xfrm>
              <a:off x="4365061" y="4930435"/>
              <a:ext cx="85199" cy="95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2" name="Ellipse 261">
              <a:extLst>
                <a:ext uri="{FF2B5EF4-FFF2-40B4-BE49-F238E27FC236}">
                  <a16:creationId xmlns:a16="http://schemas.microsoft.com/office/drawing/2014/main" id="{EDBDAB9E-9BD2-4B11-8809-B86DB7EA804E}"/>
                </a:ext>
              </a:extLst>
            </p:cNvPr>
            <p:cNvSpPr/>
            <p:nvPr/>
          </p:nvSpPr>
          <p:spPr>
            <a:xfrm>
              <a:off x="6110376" y="4927697"/>
              <a:ext cx="85199" cy="95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88" name="Gruppieren 287">
            <a:extLst>
              <a:ext uri="{FF2B5EF4-FFF2-40B4-BE49-F238E27FC236}">
                <a16:creationId xmlns:a16="http://schemas.microsoft.com/office/drawing/2014/main" id="{AB3776DC-8AB2-4E3C-8BE1-28642F8B10FE}"/>
              </a:ext>
            </a:extLst>
          </p:cNvPr>
          <p:cNvGrpSpPr/>
          <p:nvPr/>
        </p:nvGrpSpPr>
        <p:grpSpPr>
          <a:xfrm>
            <a:off x="2300646" y="1019281"/>
            <a:ext cx="1830514" cy="430887"/>
            <a:chOff x="4365061" y="4762526"/>
            <a:chExt cx="1830514" cy="430887"/>
          </a:xfrm>
        </p:grpSpPr>
        <p:sp>
          <p:nvSpPr>
            <p:cNvPr id="289" name="Textfeld 288">
              <a:extLst>
                <a:ext uri="{FF2B5EF4-FFF2-40B4-BE49-F238E27FC236}">
                  <a16:creationId xmlns:a16="http://schemas.microsoft.com/office/drawing/2014/main" id="{8982F461-BBE8-4CCF-A1D8-315821EE016D}"/>
                </a:ext>
              </a:extLst>
            </p:cNvPr>
            <p:cNvSpPr txBox="1"/>
            <p:nvPr/>
          </p:nvSpPr>
          <p:spPr>
            <a:xfrm>
              <a:off x="4547759" y="4762526"/>
              <a:ext cx="1465118" cy="430887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de-DE" sz="1400"/>
                <a:t>red-red-brown</a:t>
              </a:r>
              <a:br>
                <a:rPr lang="de-DE" sz="1400"/>
              </a:br>
              <a:r>
                <a:rPr lang="de-DE" sz="1400"/>
                <a:t>220 k Ohm</a:t>
              </a:r>
            </a:p>
          </p:txBody>
        </p:sp>
        <p:cxnSp>
          <p:nvCxnSpPr>
            <p:cNvPr id="290" name="Gerader Verbinder 289">
              <a:extLst>
                <a:ext uri="{FF2B5EF4-FFF2-40B4-BE49-F238E27FC236}">
                  <a16:creationId xmlns:a16="http://schemas.microsoft.com/office/drawing/2014/main" id="{6BC8E090-42AA-46B5-8115-FD99B1479A6B}"/>
                </a:ext>
              </a:extLst>
            </p:cNvPr>
            <p:cNvCxnSpPr>
              <a:stCxn id="289" idx="1"/>
            </p:cNvCxnSpPr>
            <p:nvPr/>
          </p:nvCxnSpPr>
          <p:spPr>
            <a:xfrm flipH="1" flipV="1">
              <a:off x="4393049" y="4977969"/>
              <a:ext cx="154710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Gerader Verbinder 290">
              <a:extLst>
                <a:ext uri="{FF2B5EF4-FFF2-40B4-BE49-F238E27FC236}">
                  <a16:creationId xmlns:a16="http://schemas.microsoft.com/office/drawing/2014/main" id="{D4794C61-86A5-4096-A024-E4CC4393EE05}"/>
                </a:ext>
              </a:extLst>
            </p:cNvPr>
            <p:cNvCxnSpPr>
              <a:stCxn id="289" idx="3"/>
            </p:cNvCxnSpPr>
            <p:nvPr/>
          </p:nvCxnSpPr>
          <p:spPr>
            <a:xfrm flipV="1">
              <a:off x="6012877" y="4977969"/>
              <a:ext cx="123247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2" name="Ellipse 291">
              <a:extLst>
                <a:ext uri="{FF2B5EF4-FFF2-40B4-BE49-F238E27FC236}">
                  <a16:creationId xmlns:a16="http://schemas.microsoft.com/office/drawing/2014/main" id="{AF3BB276-A7C6-4514-A8BF-E7B2D69FC234}"/>
                </a:ext>
              </a:extLst>
            </p:cNvPr>
            <p:cNvSpPr/>
            <p:nvPr/>
          </p:nvSpPr>
          <p:spPr>
            <a:xfrm>
              <a:off x="4365061" y="4930435"/>
              <a:ext cx="85199" cy="95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3" name="Ellipse 292">
              <a:extLst>
                <a:ext uri="{FF2B5EF4-FFF2-40B4-BE49-F238E27FC236}">
                  <a16:creationId xmlns:a16="http://schemas.microsoft.com/office/drawing/2014/main" id="{512E57B0-9076-4038-8A33-5133BECC0CA7}"/>
                </a:ext>
              </a:extLst>
            </p:cNvPr>
            <p:cNvSpPr/>
            <p:nvPr/>
          </p:nvSpPr>
          <p:spPr>
            <a:xfrm>
              <a:off x="6110376" y="4927697"/>
              <a:ext cx="85199" cy="95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295" name="Verbinder: gewinkelt 294">
            <a:extLst>
              <a:ext uri="{FF2B5EF4-FFF2-40B4-BE49-F238E27FC236}">
                <a16:creationId xmlns:a16="http://schemas.microsoft.com/office/drawing/2014/main" id="{E42EEC04-FDDA-49E1-BD28-314533E1FCBB}"/>
              </a:ext>
            </a:extLst>
          </p:cNvPr>
          <p:cNvCxnSpPr>
            <a:cxnSpLocks/>
            <a:stCxn id="229" idx="2"/>
            <a:endCxn id="262" idx="6"/>
          </p:cNvCxnSpPr>
          <p:nvPr/>
        </p:nvCxnSpPr>
        <p:spPr>
          <a:xfrm flipH="1">
            <a:off x="3382720" y="734294"/>
            <a:ext cx="1020883" cy="1287"/>
          </a:xfrm>
          <a:prstGeom prst="straightConnector1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Verbinder: gewinkelt 294">
            <a:extLst>
              <a:ext uri="{FF2B5EF4-FFF2-40B4-BE49-F238E27FC236}">
                <a16:creationId xmlns:a16="http://schemas.microsoft.com/office/drawing/2014/main" id="{EBA901C9-B337-4056-B009-67843769270D}"/>
              </a:ext>
            </a:extLst>
          </p:cNvPr>
          <p:cNvCxnSpPr>
            <a:cxnSpLocks/>
            <a:stCxn id="230" idx="2"/>
            <a:endCxn id="293" idx="6"/>
          </p:cNvCxnSpPr>
          <p:nvPr/>
        </p:nvCxnSpPr>
        <p:spPr>
          <a:xfrm flipH="1" flipV="1">
            <a:off x="4131160" y="1231986"/>
            <a:ext cx="270852" cy="367"/>
          </a:xfrm>
          <a:prstGeom prst="straightConnector1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Textfeld 302">
            <a:extLst>
              <a:ext uri="{FF2B5EF4-FFF2-40B4-BE49-F238E27FC236}">
                <a16:creationId xmlns:a16="http://schemas.microsoft.com/office/drawing/2014/main" id="{3EB67FED-F649-420A-8C22-D6F2B8E3D169}"/>
              </a:ext>
            </a:extLst>
          </p:cNvPr>
          <p:cNvSpPr txBox="1"/>
          <p:nvPr/>
        </p:nvSpPr>
        <p:spPr>
          <a:xfrm>
            <a:off x="3343478" y="756267"/>
            <a:ext cx="359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u="none" strike="noStrike">
                <a:effectLst/>
              </a:rPr>
              <a:t>…</a:t>
            </a:r>
            <a:r>
              <a:rPr lang="de-DE" sz="1400"/>
              <a:t> </a:t>
            </a:r>
          </a:p>
        </p:txBody>
      </p:sp>
      <p:sp>
        <p:nvSpPr>
          <p:cNvPr id="306" name="Rechteck 305">
            <a:extLst>
              <a:ext uri="{FF2B5EF4-FFF2-40B4-BE49-F238E27FC236}">
                <a16:creationId xmlns:a16="http://schemas.microsoft.com/office/drawing/2014/main" id="{CEC96970-7FBB-45DB-A907-6B61B4817B5B}"/>
              </a:ext>
            </a:extLst>
          </p:cNvPr>
          <p:cNvSpPr/>
          <p:nvPr/>
        </p:nvSpPr>
        <p:spPr>
          <a:xfrm>
            <a:off x="4030572" y="2747711"/>
            <a:ext cx="679032" cy="277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/>
              <a:t>100 µF</a:t>
            </a:r>
          </a:p>
        </p:txBody>
      </p:sp>
      <p:cxnSp>
        <p:nvCxnSpPr>
          <p:cNvPr id="308" name="Verbinder: gewinkelt 307">
            <a:extLst>
              <a:ext uri="{FF2B5EF4-FFF2-40B4-BE49-F238E27FC236}">
                <a16:creationId xmlns:a16="http://schemas.microsoft.com/office/drawing/2014/main" id="{28D9DDE1-127B-4B2C-B1B1-3E4DA6BBA6C9}"/>
              </a:ext>
            </a:extLst>
          </p:cNvPr>
          <p:cNvCxnSpPr>
            <a:cxnSpLocks/>
            <a:stCxn id="306" idx="0"/>
            <a:endCxn id="93" idx="2"/>
          </p:cNvCxnSpPr>
          <p:nvPr/>
        </p:nvCxnSpPr>
        <p:spPr>
          <a:xfrm rot="5400000" flipH="1" flipV="1">
            <a:off x="4881892" y="2136615"/>
            <a:ext cx="99292" cy="112290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Verbinder: gewinkelt 317">
            <a:extLst>
              <a:ext uri="{FF2B5EF4-FFF2-40B4-BE49-F238E27FC236}">
                <a16:creationId xmlns:a16="http://schemas.microsoft.com/office/drawing/2014/main" id="{BBB7BC05-FE2C-4515-87A6-20EE29BE93B5}"/>
              </a:ext>
            </a:extLst>
          </p:cNvPr>
          <p:cNvCxnSpPr>
            <a:stCxn id="306" idx="2"/>
            <a:endCxn id="94" idx="2"/>
          </p:cNvCxnSpPr>
          <p:nvPr/>
        </p:nvCxnSpPr>
        <p:spPr>
          <a:xfrm rot="16200000" flipH="1">
            <a:off x="4892371" y="2502428"/>
            <a:ext cx="105039" cy="114960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Textfeld 318">
            <a:extLst>
              <a:ext uri="{FF2B5EF4-FFF2-40B4-BE49-F238E27FC236}">
                <a16:creationId xmlns:a16="http://schemas.microsoft.com/office/drawing/2014/main" id="{21AC9F00-15DA-471F-B9B0-6DE4A62270D1}"/>
              </a:ext>
            </a:extLst>
          </p:cNvPr>
          <p:cNvSpPr txBox="1"/>
          <p:nvPr/>
        </p:nvSpPr>
        <p:spPr>
          <a:xfrm>
            <a:off x="4122676" y="2479464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+</a:t>
            </a:r>
          </a:p>
        </p:txBody>
      </p:sp>
      <p:sp>
        <p:nvSpPr>
          <p:cNvPr id="320" name="Textfeld 319">
            <a:extLst>
              <a:ext uri="{FF2B5EF4-FFF2-40B4-BE49-F238E27FC236}">
                <a16:creationId xmlns:a16="http://schemas.microsoft.com/office/drawing/2014/main" id="{FB85880A-A197-4D50-86E5-EA8216D0F194}"/>
              </a:ext>
            </a:extLst>
          </p:cNvPr>
          <p:cNvSpPr txBox="1"/>
          <p:nvPr/>
        </p:nvSpPr>
        <p:spPr>
          <a:xfrm>
            <a:off x="4154085" y="2997412"/>
            <a:ext cx="231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-</a:t>
            </a:r>
          </a:p>
        </p:txBody>
      </p:sp>
      <p:grpSp>
        <p:nvGrpSpPr>
          <p:cNvPr id="336" name="Gruppieren 335">
            <a:extLst>
              <a:ext uri="{FF2B5EF4-FFF2-40B4-BE49-F238E27FC236}">
                <a16:creationId xmlns:a16="http://schemas.microsoft.com/office/drawing/2014/main" id="{47DC7F4B-8396-4AE9-9252-1469847461EC}"/>
              </a:ext>
            </a:extLst>
          </p:cNvPr>
          <p:cNvGrpSpPr/>
          <p:nvPr/>
        </p:nvGrpSpPr>
        <p:grpSpPr>
          <a:xfrm>
            <a:off x="729570" y="2033104"/>
            <a:ext cx="2658219" cy="1775740"/>
            <a:chOff x="729570" y="2033104"/>
            <a:chExt cx="2658219" cy="1775740"/>
          </a:xfrm>
        </p:grpSpPr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6D39508-E297-4C32-BDC0-8AEFC925D03B}"/>
                </a:ext>
              </a:extLst>
            </p:cNvPr>
            <p:cNvSpPr txBox="1"/>
            <p:nvPr/>
          </p:nvSpPr>
          <p:spPr>
            <a:xfrm>
              <a:off x="2628112" y="2745084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u="none" strike="noStrike">
                  <a:effectLst/>
                </a:rPr>
                <a:t>D10 / TX</a:t>
              </a:r>
              <a:r>
                <a:rPr lang="de-DE" sz="1200"/>
                <a:t> </a:t>
              </a: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2851A96E-A37A-4A2B-8FAF-DF453DDA1185}"/>
                </a:ext>
              </a:extLst>
            </p:cNvPr>
            <p:cNvSpPr txBox="1"/>
            <p:nvPr/>
          </p:nvSpPr>
          <p:spPr>
            <a:xfrm>
              <a:off x="2622836" y="2327147"/>
              <a:ext cx="7649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u="none" strike="noStrike">
                  <a:effectLst/>
                </a:rPr>
                <a:t>D11 / RX</a:t>
              </a:r>
              <a:r>
                <a:rPr lang="de-DE" sz="1200"/>
                <a:t> </a:t>
              </a:r>
            </a:p>
          </p:txBody>
        </p: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D4EEA753-AE46-41C1-901A-36F444D0EDBA}"/>
                </a:ext>
              </a:extLst>
            </p:cNvPr>
            <p:cNvSpPr txBox="1"/>
            <p:nvPr/>
          </p:nvSpPr>
          <p:spPr>
            <a:xfrm>
              <a:off x="1984762" y="3519516"/>
              <a:ext cx="393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u="none" strike="noStrike">
                  <a:effectLst/>
                </a:rPr>
                <a:t>D7</a:t>
              </a:r>
              <a:r>
                <a:rPr lang="de-DE" sz="1200"/>
                <a:t> 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E025D944-5600-438D-A94D-343A1B94CBAA}"/>
                </a:ext>
              </a:extLst>
            </p:cNvPr>
            <p:cNvSpPr txBox="1"/>
            <p:nvPr/>
          </p:nvSpPr>
          <p:spPr>
            <a:xfrm>
              <a:off x="1174189" y="3520267"/>
              <a:ext cx="393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u="none" strike="noStrike">
                  <a:effectLst/>
                </a:rPr>
                <a:t>D4</a:t>
              </a:r>
              <a:r>
                <a:rPr lang="de-DE" sz="1200"/>
                <a:t> 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B906129C-A6AC-40CF-835E-3B682A763E64}"/>
                </a:ext>
              </a:extLst>
            </p:cNvPr>
            <p:cNvSpPr/>
            <p:nvPr/>
          </p:nvSpPr>
          <p:spPr>
            <a:xfrm>
              <a:off x="1254073" y="2535003"/>
              <a:ext cx="1346200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600"/>
                <a:t>Arduino</a:t>
              </a:r>
              <a:br>
                <a:rPr lang="de-DE" sz="1600"/>
              </a:br>
              <a:r>
                <a:rPr lang="de-DE" sz="1600"/>
                <a:t>Nano</a:t>
              </a:r>
            </a:p>
          </p:txBody>
        </p: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FE894885-A2BD-4CBB-9D6F-01BB03828C88}"/>
                </a:ext>
              </a:extLst>
            </p:cNvPr>
            <p:cNvCxnSpPr/>
            <p:nvPr/>
          </p:nvCxnSpPr>
          <p:spPr>
            <a:xfrm flipH="1">
              <a:off x="1035480" y="2762833"/>
              <a:ext cx="2185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C5E493A3-9BF5-46A4-9250-A902B1F62F2B}"/>
                </a:ext>
              </a:extLst>
            </p:cNvPr>
            <p:cNvSpPr txBox="1"/>
            <p:nvPr/>
          </p:nvSpPr>
          <p:spPr>
            <a:xfrm>
              <a:off x="777076" y="2352173"/>
              <a:ext cx="4686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u="none" strike="noStrike">
                  <a:effectLst/>
                </a:rPr>
                <a:t>VCC</a:t>
              </a:r>
              <a:r>
                <a:rPr lang="de-DE" sz="1200"/>
                <a:t> </a:t>
              </a:r>
            </a:p>
          </p:txBody>
        </p: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03BB7EED-58E7-422C-9F30-B560A5E657F4}"/>
                </a:ext>
              </a:extLst>
            </p:cNvPr>
            <p:cNvCxnSpPr/>
            <p:nvPr/>
          </p:nvCxnSpPr>
          <p:spPr>
            <a:xfrm flipH="1">
              <a:off x="1035480" y="3233887"/>
              <a:ext cx="2185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050F7774-F9A2-4608-A5F9-14125798BB74}"/>
                </a:ext>
              </a:extLst>
            </p:cNvPr>
            <p:cNvSpPr txBox="1"/>
            <p:nvPr/>
          </p:nvSpPr>
          <p:spPr>
            <a:xfrm>
              <a:off x="729570" y="2864483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/>
                <a:t>GND</a:t>
              </a:r>
            </a:p>
          </p:txBody>
        </p: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087F7BC1-CD64-4517-B5C5-12AD5DF71D89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2600273" y="2992203"/>
              <a:ext cx="341361" cy="15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AF8C1A96-83D5-411E-8AE6-98EA8DDD1EEE}"/>
                </a:ext>
              </a:extLst>
            </p:cNvPr>
            <p:cNvCxnSpPr>
              <a:cxnSpLocks/>
              <a:endCxn id="101" idx="2"/>
            </p:cNvCxnSpPr>
            <p:nvPr/>
          </p:nvCxnSpPr>
          <p:spPr>
            <a:xfrm flipV="1">
              <a:off x="2595067" y="2658104"/>
              <a:ext cx="303967" cy="58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EE16608A-5030-4E4A-BA6B-F881CA6D04B6}"/>
                </a:ext>
              </a:extLst>
            </p:cNvPr>
            <p:cNvCxnSpPr>
              <a:cxnSpLocks/>
              <a:endCxn id="95" idx="0"/>
            </p:cNvCxnSpPr>
            <p:nvPr/>
          </p:nvCxnSpPr>
          <p:spPr>
            <a:xfrm>
              <a:off x="1588664" y="3457287"/>
              <a:ext cx="1453" cy="1749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A8FF85C9-CEE2-476B-A099-B5AB46FB7EE6}"/>
                </a:ext>
              </a:extLst>
            </p:cNvPr>
            <p:cNvCxnSpPr>
              <a:cxnSpLocks/>
              <a:endCxn id="96" idx="0"/>
            </p:cNvCxnSpPr>
            <p:nvPr/>
          </p:nvCxnSpPr>
          <p:spPr>
            <a:xfrm>
              <a:off x="2333660" y="3457287"/>
              <a:ext cx="0" cy="1749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482C2D5F-6B6B-4BBD-9285-E7143BA87DA4}"/>
                </a:ext>
              </a:extLst>
            </p:cNvPr>
            <p:cNvSpPr txBox="1"/>
            <p:nvPr/>
          </p:nvSpPr>
          <p:spPr>
            <a:xfrm>
              <a:off x="1738052" y="3501067"/>
              <a:ext cx="3593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u="none" strike="noStrike">
                  <a:effectLst/>
                </a:rPr>
                <a:t>…</a:t>
              </a:r>
              <a:r>
                <a:rPr lang="de-DE" sz="1400"/>
                <a:t> </a:t>
              </a:r>
            </a:p>
          </p:txBody>
        </p:sp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08074963-E126-42BD-8186-1C76C321D90F}"/>
                </a:ext>
              </a:extLst>
            </p:cNvPr>
            <p:cNvSpPr/>
            <p:nvPr/>
          </p:nvSpPr>
          <p:spPr>
            <a:xfrm>
              <a:off x="1547517" y="3632233"/>
              <a:ext cx="85199" cy="887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7A66574B-C055-48D7-A0BF-1C42C07D6071}"/>
                </a:ext>
              </a:extLst>
            </p:cNvPr>
            <p:cNvSpPr/>
            <p:nvPr/>
          </p:nvSpPr>
          <p:spPr>
            <a:xfrm>
              <a:off x="2291060" y="3632232"/>
              <a:ext cx="85199" cy="887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Ellipse 96">
              <a:extLst>
                <a:ext uri="{FF2B5EF4-FFF2-40B4-BE49-F238E27FC236}">
                  <a16:creationId xmlns:a16="http://schemas.microsoft.com/office/drawing/2014/main" id="{DD28C4E0-27C9-4290-BD2A-6B18B1E12218}"/>
                </a:ext>
              </a:extLst>
            </p:cNvPr>
            <p:cNvSpPr/>
            <p:nvPr/>
          </p:nvSpPr>
          <p:spPr>
            <a:xfrm>
              <a:off x="1015981" y="2716464"/>
              <a:ext cx="85199" cy="7794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Ellipse 99">
              <a:extLst>
                <a:ext uri="{FF2B5EF4-FFF2-40B4-BE49-F238E27FC236}">
                  <a16:creationId xmlns:a16="http://schemas.microsoft.com/office/drawing/2014/main" id="{67566C98-72BD-412F-95BA-C12E835B11B4}"/>
                </a:ext>
              </a:extLst>
            </p:cNvPr>
            <p:cNvSpPr/>
            <p:nvPr/>
          </p:nvSpPr>
          <p:spPr>
            <a:xfrm>
              <a:off x="1002345" y="3189582"/>
              <a:ext cx="85199" cy="9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Ellipse 100">
              <a:extLst>
                <a:ext uri="{FF2B5EF4-FFF2-40B4-BE49-F238E27FC236}">
                  <a16:creationId xmlns:a16="http://schemas.microsoft.com/office/drawing/2014/main" id="{4AD483CC-E77D-484F-91C7-D3B56666D463}"/>
                </a:ext>
              </a:extLst>
            </p:cNvPr>
            <p:cNvSpPr/>
            <p:nvPr/>
          </p:nvSpPr>
          <p:spPr>
            <a:xfrm>
              <a:off x="2899034" y="2617112"/>
              <a:ext cx="85199" cy="819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F96FFF88-BD28-4C50-9411-2E0AE868BE3D}"/>
                </a:ext>
              </a:extLst>
            </p:cNvPr>
            <p:cNvSpPr/>
            <p:nvPr/>
          </p:nvSpPr>
          <p:spPr>
            <a:xfrm>
              <a:off x="2885994" y="2943992"/>
              <a:ext cx="85199" cy="8514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6" name="Textfeld 205">
              <a:extLst>
                <a:ext uri="{FF2B5EF4-FFF2-40B4-BE49-F238E27FC236}">
                  <a16:creationId xmlns:a16="http://schemas.microsoft.com/office/drawing/2014/main" id="{49A3AAE3-B993-4D1B-AFFC-4ABEA9ED7303}"/>
                </a:ext>
              </a:extLst>
            </p:cNvPr>
            <p:cNvSpPr txBox="1"/>
            <p:nvPr/>
          </p:nvSpPr>
          <p:spPr>
            <a:xfrm>
              <a:off x="1900037" y="2051553"/>
              <a:ext cx="4716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u="none" strike="noStrike">
                  <a:effectLst/>
                </a:rPr>
                <a:t>D11</a:t>
              </a:r>
              <a:r>
                <a:rPr lang="de-DE" sz="1200"/>
                <a:t> </a:t>
              </a:r>
            </a:p>
          </p:txBody>
        </p:sp>
        <p:sp>
          <p:nvSpPr>
            <p:cNvPr id="207" name="Textfeld 206">
              <a:extLst>
                <a:ext uri="{FF2B5EF4-FFF2-40B4-BE49-F238E27FC236}">
                  <a16:creationId xmlns:a16="http://schemas.microsoft.com/office/drawing/2014/main" id="{D893886B-D454-47AE-8829-C833FD56F0E0}"/>
                </a:ext>
              </a:extLst>
            </p:cNvPr>
            <p:cNvSpPr txBox="1"/>
            <p:nvPr/>
          </p:nvSpPr>
          <p:spPr>
            <a:xfrm>
              <a:off x="1136277" y="2072824"/>
              <a:ext cx="393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u="none" strike="noStrike">
                  <a:effectLst/>
                </a:rPr>
                <a:t>D8</a:t>
              </a:r>
              <a:r>
                <a:rPr lang="de-DE" sz="1200"/>
                <a:t> </a:t>
              </a:r>
            </a:p>
          </p:txBody>
        </p:sp>
        <p:cxnSp>
          <p:nvCxnSpPr>
            <p:cNvPr id="208" name="Gerader Verbinder 207">
              <a:extLst>
                <a:ext uri="{FF2B5EF4-FFF2-40B4-BE49-F238E27FC236}">
                  <a16:creationId xmlns:a16="http://schemas.microsoft.com/office/drawing/2014/main" id="{662CD42B-8B20-4E84-AC61-C4D55DC88046}"/>
                </a:ext>
              </a:extLst>
            </p:cNvPr>
            <p:cNvCxnSpPr>
              <a:cxnSpLocks/>
              <a:endCxn id="211" idx="4"/>
            </p:cNvCxnSpPr>
            <p:nvPr/>
          </p:nvCxnSpPr>
          <p:spPr>
            <a:xfrm flipV="1">
              <a:off x="1585347" y="2252997"/>
              <a:ext cx="5770" cy="2715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Gerader Verbinder 208">
              <a:extLst>
                <a:ext uri="{FF2B5EF4-FFF2-40B4-BE49-F238E27FC236}">
                  <a16:creationId xmlns:a16="http://schemas.microsoft.com/office/drawing/2014/main" id="{FFC0A241-2F62-4BA9-9840-5B9D6D4A13FA}"/>
                </a:ext>
              </a:extLst>
            </p:cNvPr>
            <p:cNvCxnSpPr>
              <a:cxnSpLocks/>
              <a:endCxn id="212" idx="4"/>
            </p:cNvCxnSpPr>
            <p:nvPr/>
          </p:nvCxnSpPr>
          <p:spPr>
            <a:xfrm flipV="1">
              <a:off x="2341010" y="2252996"/>
              <a:ext cx="0" cy="27155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Textfeld 209">
              <a:extLst>
                <a:ext uri="{FF2B5EF4-FFF2-40B4-BE49-F238E27FC236}">
                  <a16:creationId xmlns:a16="http://schemas.microsoft.com/office/drawing/2014/main" id="{B73E630E-E72C-40FC-9299-E28436AFD6E9}"/>
                </a:ext>
              </a:extLst>
            </p:cNvPr>
            <p:cNvSpPr txBox="1"/>
            <p:nvPr/>
          </p:nvSpPr>
          <p:spPr>
            <a:xfrm>
              <a:off x="1723177" y="2033104"/>
              <a:ext cx="3593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u="none" strike="noStrike">
                  <a:effectLst/>
                </a:rPr>
                <a:t>…</a:t>
              </a:r>
              <a:r>
                <a:rPr lang="de-DE" sz="1400"/>
                <a:t> </a:t>
              </a:r>
            </a:p>
          </p:txBody>
        </p:sp>
        <p:sp>
          <p:nvSpPr>
            <p:cNvPr id="211" name="Ellipse 210">
              <a:extLst>
                <a:ext uri="{FF2B5EF4-FFF2-40B4-BE49-F238E27FC236}">
                  <a16:creationId xmlns:a16="http://schemas.microsoft.com/office/drawing/2014/main" id="{A6CA02AB-1B75-47F4-AD77-157BE9DE952B}"/>
                </a:ext>
              </a:extLst>
            </p:cNvPr>
            <p:cNvSpPr/>
            <p:nvPr/>
          </p:nvSpPr>
          <p:spPr>
            <a:xfrm>
              <a:off x="1548517" y="2164270"/>
              <a:ext cx="85199" cy="887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2" name="Ellipse 211">
              <a:extLst>
                <a:ext uri="{FF2B5EF4-FFF2-40B4-BE49-F238E27FC236}">
                  <a16:creationId xmlns:a16="http://schemas.microsoft.com/office/drawing/2014/main" id="{CE9108AA-25BD-457C-A277-0EE3D1DD8A7A}"/>
                </a:ext>
              </a:extLst>
            </p:cNvPr>
            <p:cNvSpPr/>
            <p:nvPr/>
          </p:nvSpPr>
          <p:spPr>
            <a:xfrm>
              <a:off x="2298410" y="2164269"/>
              <a:ext cx="85199" cy="887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2" name="Textfeld 321">
              <a:extLst>
                <a:ext uri="{FF2B5EF4-FFF2-40B4-BE49-F238E27FC236}">
                  <a16:creationId xmlns:a16="http://schemas.microsoft.com/office/drawing/2014/main" id="{A3A74BC2-0CE3-4B79-B163-B4749BAD708B}"/>
                </a:ext>
              </a:extLst>
            </p:cNvPr>
            <p:cNvSpPr txBox="1"/>
            <p:nvPr/>
          </p:nvSpPr>
          <p:spPr>
            <a:xfrm>
              <a:off x="2628111" y="3101958"/>
              <a:ext cx="3882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u="none" strike="noStrike">
                  <a:effectLst/>
                </a:rPr>
                <a:t>A0</a:t>
              </a:r>
              <a:r>
                <a:rPr lang="de-DE" sz="1200"/>
                <a:t> </a:t>
              </a:r>
            </a:p>
          </p:txBody>
        </p:sp>
        <p:cxnSp>
          <p:nvCxnSpPr>
            <p:cNvPr id="323" name="Gerader Verbinder 322">
              <a:extLst>
                <a:ext uri="{FF2B5EF4-FFF2-40B4-BE49-F238E27FC236}">
                  <a16:creationId xmlns:a16="http://schemas.microsoft.com/office/drawing/2014/main" id="{1BA75F45-BD57-4212-8969-304C91EE45C1}"/>
                </a:ext>
              </a:extLst>
            </p:cNvPr>
            <p:cNvCxnSpPr>
              <a:cxnSpLocks/>
            </p:cNvCxnSpPr>
            <p:nvPr/>
          </p:nvCxnSpPr>
          <p:spPr>
            <a:xfrm>
              <a:off x="2600272" y="3349077"/>
              <a:ext cx="341361" cy="15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4" name="Ellipse 323">
              <a:extLst>
                <a:ext uri="{FF2B5EF4-FFF2-40B4-BE49-F238E27FC236}">
                  <a16:creationId xmlns:a16="http://schemas.microsoft.com/office/drawing/2014/main" id="{B5D1ABBC-BC7B-4E8C-99F7-B4A9D3DC1DD8}"/>
                </a:ext>
              </a:extLst>
            </p:cNvPr>
            <p:cNvSpPr/>
            <p:nvPr/>
          </p:nvSpPr>
          <p:spPr>
            <a:xfrm>
              <a:off x="2885993" y="3300866"/>
              <a:ext cx="85199" cy="8514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47" name="Gruppieren 346">
            <a:extLst>
              <a:ext uri="{FF2B5EF4-FFF2-40B4-BE49-F238E27FC236}">
                <a16:creationId xmlns:a16="http://schemas.microsoft.com/office/drawing/2014/main" id="{4C6AA164-59D1-4F45-8621-C1D8CA2D1A88}"/>
              </a:ext>
            </a:extLst>
          </p:cNvPr>
          <p:cNvGrpSpPr/>
          <p:nvPr/>
        </p:nvGrpSpPr>
        <p:grpSpPr>
          <a:xfrm>
            <a:off x="4172378" y="4709817"/>
            <a:ext cx="1611124" cy="1094811"/>
            <a:chOff x="4172378" y="4709817"/>
            <a:chExt cx="1611124" cy="1094811"/>
          </a:xfrm>
        </p:grpSpPr>
        <p:sp>
          <p:nvSpPr>
            <p:cNvPr id="326" name="Ellipse 325">
              <a:extLst>
                <a:ext uri="{FF2B5EF4-FFF2-40B4-BE49-F238E27FC236}">
                  <a16:creationId xmlns:a16="http://schemas.microsoft.com/office/drawing/2014/main" id="{065E33F6-A88C-4C0A-BF54-1C216B5C9C71}"/>
                </a:ext>
              </a:extLst>
            </p:cNvPr>
            <p:cNvSpPr/>
            <p:nvPr/>
          </p:nvSpPr>
          <p:spPr>
            <a:xfrm>
              <a:off x="4869102" y="4890228"/>
              <a:ext cx="914400" cy="9144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Poti</a:t>
              </a:r>
            </a:p>
          </p:txBody>
        </p:sp>
        <p:cxnSp>
          <p:nvCxnSpPr>
            <p:cNvPr id="327" name="Gerader Verbinder 326">
              <a:extLst>
                <a:ext uri="{FF2B5EF4-FFF2-40B4-BE49-F238E27FC236}">
                  <a16:creationId xmlns:a16="http://schemas.microsoft.com/office/drawing/2014/main" id="{00785E56-19A1-4BE9-AB85-0CE4281096C8}"/>
                </a:ext>
              </a:extLst>
            </p:cNvPr>
            <p:cNvCxnSpPr>
              <a:cxnSpLocks/>
              <a:stCxn id="326" idx="1"/>
              <a:endCxn id="331" idx="6"/>
            </p:cNvCxnSpPr>
            <p:nvPr/>
          </p:nvCxnSpPr>
          <p:spPr>
            <a:xfrm flipH="1">
              <a:off x="4680427" y="5024139"/>
              <a:ext cx="322586" cy="16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Textfeld 327">
              <a:extLst>
                <a:ext uri="{FF2B5EF4-FFF2-40B4-BE49-F238E27FC236}">
                  <a16:creationId xmlns:a16="http://schemas.microsoft.com/office/drawing/2014/main" id="{B7BFAC0D-9B4E-4F83-9BC8-B1FF09ECA83D}"/>
                </a:ext>
              </a:extLst>
            </p:cNvPr>
            <p:cNvSpPr txBox="1"/>
            <p:nvPr/>
          </p:nvSpPr>
          <p:spPr>
            <a:xfrm>
              <a:off x="4172378" y="4709817"/>
              <a:ext cx="8133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u="none" strike="noStrike">
                  <a:effectLst/>
                </a:rPr>
                <a:t>VCC Pin 1</a:t>
              </a:r>
              <a:r>
                <a:rPr lang="de-DE" sz="1200"/>
                <a:t> </a:t>
              </a:r>
            </a:p>
          </p:txBody>
        </p:sp>
        <p:cxnSp>
          <p:nvCxnSpPr>
            <p:cNvPr id="329" name="Gerader Verbinder 328">
              <a:extLst>
                <a:ext uri="{FF2B5EF4-FFF2-40B4-BE49-F238E27FC236}">
                  <a16:creationId xmlns:a16="http://schemas.microsoft.com/office/drawing/2014/main" id="{9ACB7ACA-2389-4DBE-A015-D25E6945BE1D}"/>
                </a:ext>
              </a:extLst>
            </p:cNvPr>
            <p:cNvCxnSpPr>
              <a:cxnSpLocks/>
              <a:stCxn id="326" idx="3"/>
              <a:endCxn id="332" idx="6"/>
            </p:cNvCxnSpPr>
            <p:nvPr/>
          </p:nvCxnSpPr>
          <p:spPr>
            <a:xfrm flipH="1" flipV="1">
              <a:off x="4682341" y="5669845"/>
              <a:ext cx="320672" cy="8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Textfeld 329">
              <a:extLst>
                <a:ext uri="{FF2B5EF4-FFF2-40B4-BE49-F238E27FC236}">
                  <a16:creationId xmlns:a16="http://schemas.microsoft.com/office/drawing/2014/main" id="{F4A4E4D2-BD06-43BF-AF9C-2543CB85A178}"/>
                </a:ext>
              </a:extLst>
            </p:cNvPr>
            <p:cNvSpPr txBox="1"/>
            <p:nvPr/>
          </p:nvSpPr>
          <p:spPr>
            <a:xfrm>
              <a:off x="4172378" y="5382762"/>
              <a:ext cx="8210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/>
                <a:t>GND Pin 3</a:t>
              </a:r>
            </a:p>
          </p:txBody>
        </p:sp>
        <p:sp>
          <p:nvSpPr>
            <p:cNvPr id="331" name="Ellipse 330">
              <a:extLst>
                <a:ext uri="{FF2B5EF4-FFF2-40B4-BE49-F238E27FC236}">
                  <a16:creationId xmlns:a16="http://schemas.microsoft.com/office/drawing/2014/main" id="{295C72DC-08B7-4BA9-B08B-29F31FAE68E3}"/>
                </a:ext>
              </a:extLst>
            </p:cNvPr>
            <p:cNvSpPr/>
            <p:nvPr/>
          </p:nvSpPr>
          <p:spPr>
            <a:xfrm>
              <a:off x="4595228" y="4986816"/>
              <a:ext cx="85199" cy="7794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2" name="Ellipse 331">
              <a:extLst>
                <a:ext uri="{FF2B5EF4-FFF2-40B4-BE49-F238E27FC236}">
                  <a16:creationId xmlns:a16="http://schemas.microsoft.com/office/drawing/2014/main" id="{E648B3A5-3E7D-429B-9474-2FE3EBA1FA84}"/>
                </a:ext>
              </a:extLst>
            </p:cNvPr>
            <p:cNvSpPr/>
            <p:nvPr/>
          </p:nvSpPr>
          <p:spPr>
            <a:xfrm>
              <a:off x="4597142" y="5624724"/>
              <a:ext cx="85199" cy="9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3" name="Textfeld 332">
              <a:extLst>
                <a:ext uri="{FF2B5EF4-FFF2-40B4-BE49-F238E27FC236}">
                  <a16:creationId xmlns:a16="http://schemas.microsoft.com/office/drawing/2014/main" id="{53921D51-8FE7-4BB8-9601-0880487CE194}"/>
                </a:ext>
              </a:extLst>
            </p:cNvPr>
            <p:cNvSpPr txBox="1"/>
            <p:nvPr/>
          </p:nvSpPr>
          <p:spPr>
            <a:xfrm>
              <a:off x="4172378" y="5046289"/>
              <a:ext cx="5293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u="none" strike="noStrike">
                  <a:effectLst/>
                </a:rPr>
                <a:t>Pin 2</a:t>
              </a:r>
              <a:r>
                <a:rPr lang="de-DE" sz="1200"/>
                <a:t> </a:t>
              </a:r>
            </a:p>
          </p:txBody>
        </p:sp>
        <p:cxnSp>
          <p:nvCxnSpPr>
            <p:cNvPr id="334" name="Gerader Verbinder 333">
              <a:extLst>
                <a:ext uri="{FF2B5EF4-FFF2-40B4-BE49-F238E27FC236}">
                  <a16:creationId xmlns:a16="http://schemas.microsoft.com/office/drawing/2014/main" id="{3810B3C6-F4C8-4771-848D-CC2B4F3148F5}"/>
                </a:ext>
              </a:extLst>
            </p:cNvPr>
            <p:cNvCxnSpPr>
              <a:cxnSpLocks/>
              <a:stCxn id="335" idx="6"/>
              <a:endCxn id="326" idx="2"/>
            </p:cNvCxnSpPr>
            <p:nvPr/>
          </p:nvCxnSpPr>
          <p:spPr>
            <a:xfrm>
              <a:off x="4680428" y="5345946"/>
              <a:ext cx="188674" cy="14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5" name="Ellipse 334">
              <a:extLst>
                <a:ext uri="{FF2B5EF4-FFF2-40B4-BE49-F238E27FC236}">
                  <a16:creationId xmlns:a16="http://schemas.microsoft.com/office/drawing/2014/main" id="{F0A16E9B-808D-44A5-9E0E-0A63D34CF206}"/>
                </a:ext>
              </a:extLst>
            </p:cNvPr>
            <p:cNvSpPr/>
            <p:nvPr/>
          </p:nvSpPr>
          <p:spPr>
            <a:xfrm>
              <a:off x="4595229" y="5303371"/>
              <a:ext cx="85199" cy="8514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348" name="Verbinder: gewinkelt 347">
            <a:extLst>
              <a:ext uri="{FF2B5EF4-FFF2-40B4-BE49-F238E27FC236}">
                <a16:creationId xmlns:a16="http://schemas.microsoft.com/office/drawing/2014/main" id="{EF0E6040-2840-4EFA-938A-3D4603FB882B}"/>
              </a:ext>
            </a:extLst>
          </p:cNvPr>
          <p:cNvCxnSpPr>
            <a:cxnSpLocks/>
            <a:stCxn id="324" idx="6"/>
            <a:endCxn id="335" idx="2"/>
          </p:cNvCxnSpPr>
          <p:nvPr/>
        </p:nvCxnSpPr>
        <p:spPr>
          <a:xfrm>
            <a:off x="2971192" y="3343441"/>
            <a:ext cx="1624037" cy="2002505"/>
          </a:xfrm>
          <a:prstGeom prst="bentConnector3">
            <a:avLst>
              <a:gd name="adj1" fmla="val 18329"/>
            </a:avLst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Ellipse 358">
            <a:extLst>
              <a:ext uri="{FF2B5EF4-FFF2-40B4-BE49-F238E27FC236}">
                <a16:creationId xmlns:a16="http://schemas.microsoft.com/office/drawing/2014/main" id="{703E9BD2-2A04-4590-A200-E9F45ED8EDFF}"/>
              </a:ext>
            </a:extLst>
          </p:cNvPr>
          <p:cNvSpPr/>
          <p:nvPr/>
        </p:nvSpPr>
        <p:spPr>
          <a:xfrm>
            <a:off x="7447513" y="5139995"/>
            <a:ext cx="85199" cy="880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0" name="Ellipse 359">
            <a:extLst>
              <a:ext uri="{FF2B5EF4-FFF2-40B4-BE49-F238E27FC236}">
                <a16:creationId xmlns:a16="http://schemas.microsoft.com/office/drawing/2014/main" id="{8D1C5D33-F12C-4A56-9449-B1DED8CA86C4}"/>
              </a:ext>
            </a:extLst>
          </p:cNvPr>
          <p:cNvSpPr/>
          <p:nvPr/>
        </p:nvSpPr>
        <p:spPr>
          <a:xfrm>
            <a:off x="7447513" y="5588762"/>
            <a:ext cx="85199" cy="880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63" name="Verbinder: gewinkelt 294">
            <a:extLst>
              <a:ext uri="{FF2B5EF4-FFF2-40B4-BE49-F238E27FC236}">
                <a16:creationId xmlns:a16="http://schemas.microsoft.com/office/drawing/2014/main" id="{FD990FEE-FBFA-49F4-A28C-F08116880F56}"/>
              </a:ext>
            </a:extLst>
          </p:cNvPr>
          <p:cNvCxnSpPr>
            <a:cxnSpLocks/>
            <a:stCxn id="150" idx="2"/>
            <a:endCxn id="362" idx="6"/>
          </p:cNvCxnSpPr>
          <p:nvPr/>
        </p:nvCxnSpPr>
        <p:spPr>
          <a:xfrm flipH="1" flipV="1">
            <a:off x="8092796" y="5184000"/>
            <a:ext cx="374437" cy="2967"/>
          </a:xfrm>
          <a:prstGeom prst="straightConnector1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Verbinder: gewinkelt 294">
            <a:extLst>
              <a:ext uri="{FF2B5EF4-FFF2-40B4-BE49-F238E27FC236}">
                <a16:creationId xmlns:a16="http://schemas.microsoft.com/office/drawing/2014/main" id="{3FDBB713-6CC0-4476-8FC2-1D83E9AB4099}"/>
              </a:ext>
            </a:extLst>
          </p:cNvPr>
          <p:cNvCxnSpPr>
            <a:cxnSpLocks/>
            <a:stCxn id="151" idx="2"/>
            <a:endCxn id="360" idx="6"/>
          </p:cNvCxnSpPr>
          <p:nvPr/>
        </p:nvCxnSpPr>
        <p:spPr>
          <a:xfrm flipH="1">
            <a:off x="7532712" y="5632767"/>
            <a:ext cx="931159" cy="0"/>
          </a:xfrm>
          <a:prstGeom prst="straightConnector1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Verbinder: gewinkelt 294">
            <a:extLst>
              <a:ext uri="{FF2B5EF4-FFF2-40B4-BE49-F238E27FC236}">
                <a16:creationId xmlns:a16="http://schemas.microsoft.com/office/drawing/2014/main" id="{0CCAC25F-FC2C-4D9D-AAAA-4A772E8A589C}"/>
              </a:ext>
            </a:extLst>
          </p:cNvPr>
          <p:cNvCxnSpPr>
            <a:cxnSpLocks/>
            <a:stCxn id="358" idx="2"/>
            <a:endCxn id="359" idx="6"/>
          </p:cNvCxnSpPr>
          <p:nvPr/>
        </p:nvCxnSpPr>
        <p:spPr>
          <a:xfrm flipH="1">
            <a:off x="7532712" y="5184000"/>
            <a:ext cx="219886" cy="0"/>
          </a:xfrm>
          <a:prstGeom prst="straightConnector1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0" name="Gruppieren 379">
            <a:extLst>
              <a:ext uri="{FF2B5EF4-FFF2-40B4-BE49-F238E27FC236}">
                <a16:creationId xmlns:a16="http://schemas.microsoft.com/office/drawing/2014/main" id="{CB27B1ED-6FE1-44AA-8B9C-F2ACCADF34D8}"/>
              </a:ext>
            </a:extLst>
          </p:cNvPr>
          <p:cNvGrpSpPr/>
          <p:nvPr/>
        </p:nvGrpSpPr>
        <p:grpSpPr>
          <a:xfrm>
            <a:off x="7549971" y="4626042"/>
            <a:ext cx="763104" cy="601962"/>
            <a:chOff x="7549971" y="4626042"/>
            <a:chExt cx="763104" cy="601962"/>
          </a:xfrm>
        </p:grpSpPr>
        <p:sp>
          <p:nvSpPr>
            <p:cNvPr id="358" name="Ellipse 357">
              <a:extLst>
                <a:ext uri="{FF2B5EF4-FFF2-40B4-BE49-F238E27FC236}">
                  <a16:creationId xmlns:a16="http://schemas.microsoft.com/office/drawing/2014/main" id="{387CF006-6B21-4E4D-A0FC-3C33DCB1E6E7}"/>
                </a:ext>
              </a:extLst>
            </p:cNvPr>
            <p:cNvSpPr/>
            <p:nvPr/>
          </p:nvSpPr>
          <p:spPr>
            <a:xfrm>
              <a:off x="7752598" y="5139995"/>
              <a:ext cx="85199" cy="880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2" name="Ellipse 361">
              <a:extLst>
                <a:ext uri="{FF2B5EF4-FFF2-40B4-BE49-F238E27FC236}">
                  <a16:creationId xmlns:a16="http://schemas.microsoft.com/office/drawing/2014/main" id="{DC0BF55A-2EC3-4E68-A56E-FC9B07F383AE}"/>
                </a:ext>
              </a:extLst>
            </p:cNvPr>
            <p:cNvSpPr/>
            <p:nvPr/>
          </p:nvSpPr>
          <p:spPr>
            <a:xfrm>
              <a:off x="8007597" y="5139995"/>
              <a:ext cx="85199" cy="880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75" name="Gerader Verbinder 374">
              <a:extLst>
                <a:ext uri="{FF2B5EF4-FFF2-40B4-BE49-F238E27FC236}">
                  <a16:creationId xmlns:a16="http://schemas.microsoft.com/office/drawing/2014/main" id="{D623168F-A839-4070-8CA2-D53AD40258BC}"/>
                </a:ext>
              </a:extLst>
            </p:cNvPr>
            <p:cNvCxnSpPr>
              <a:cxnSpLocks/>
              <a:stCxn id="358" idx="0"/>
            </p:cNvCxnSpPr>
            <p:nvPr/>
          </p:nvCxnSpPr>
          <p:spPr>
            <a:xfrm flipV="1">
              <a:off x="7795198" y="5012093"/>
              <a:ext cx="0" cy="1279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Gerader Verbinder 376">
              <a:extLst>
                <a:ext uri="{FF2B5EF4-FFF2-40B4-BE49-F238E27FC236}">
                  <a16:creationId xmlns:a16="http://schemas.microsoft.com/office/drawing/2014/main" id="{EC44BB48-2BF4-434B-8424-65A6D3DBCB82}"/>
                </a:ext>
              </a:extLst>
            </p:cNvPr>
            <p:cNvCxnSpPr>
              <a:cxnSpLocks/>
              <a:stCxn id="362" idx="0"/>
            </p:cNvCxnSpPr>
            <p:nvPr/>
          </p:nvCxnSpPr>
          <p:spPr>
            <a:xfrm flipH="1" flipV="1">
              <a:off x="8049181" y="5020837"/>
              <a:ext cx="1016" cy="1191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9" name="Rechteck 378">
              <a:extLst>
                <a:ext uri="{FF2B5EF4-FFF2-40B4-BE49-F238E27FC236}">
                  <a16:creationId xmlns:a16="http://schemas.microsoft.com/office/drawing/2014/main" id="{F6243A8B-7E8A-43FC-B096-4B27F201CEF3}"/>
                </a:ext>
              </a:extLst>
            </p:cNvPr>
            <p:cNvSpPr/>
            <p:nvPr/>
          </p:nvSpPr>
          <p:spPr>
            <a:xfrm>
              <a:off x="7549971" y="4626042"/>
              <a:ext cx="763104" cy="41498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Master</a:t>
              </a:r>
              <a:br>
                <a:rPr lang="de-DE" sz="1200"/>
              </a:br>
              <a:r>
                <a:rPr lang="de-DE" sz="1200"/>
                <a:t>Switch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75695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962034-4B99-4FAA-9082-76DDC4D69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CDB6185-5C8D-4C25-B749-1BFE3E8F7523}"/>
              </a:ext>
            </a:extLst>
          </p:cNvPr>
          <p:cNvSpPr txBox="1"/>
          <p:nvPr/>
        </p:nvSpPr>
        <p:spPr>
          <a:xfrm>
            <a:off x="781049" y="1806059"/>
            <a:ext cx="85238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>
                <a:hlinkClick r:id="rId2"/>
              </a:rPr>
              <a:t>https://wokwi.com/projects/474422651455561729</a:t>
            </a:r>
            <a:endParaRPr lang="de-DE"/>
          </a:p>
          <a:p>
            <a:endParaRPr lang="de-DE"/>
          </a:p>
          <a:p>
            <a:r>
              <a:rPr lang="de-DE"/>
              <a:t>https://wolles-elektronikkiste.de/dfplayer-mini-ansteuerung-mit-dem-arduino</a:t>
            </a:r>
          </a:p>
        </p:txBody>
      </p:sp>
    </p:spTree>
    <p:extLst>
      <p:ext uri="{BB962C8B-B14F-4D97-AF65-F5344CB8AC3E}">
        <p14:creationId xmlns:p14="http://schemas.microsoft.com/office/powerpoint/2010/main" val="14941664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E03989-CB40-455A-B40F-7FBACF9D2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PCF8574 Masterselect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9877783-4EBD-45C2-BD65-E7A81A09C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01" y="743934"/>
            <a:ext cx="1952898" cy="547763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4E93DEE1-EE17-4A6B-87D3-E6BC5E8604A8}"/>
              </a:ext>
            </a:extLst>
          </p:cNvPr>
          <p:cNvSpPr txBox="1"/>
          <p:nvPr/>
        </p:nvSpPr>
        <p:spPr>
          <a:xfrm>
            <a:off x="1023801" y="5929400"/>
            <a:ext cx="21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Activity Bus Connect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E675DF0-61F5-4995-B574-D4179B127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601" y="195947"/>
            <a:ext cx="3421217" cy="2090053"/>
          </a:xfrm>
          <a:prstGeom prst="rect">
            <a:avLst/>
          </a:prstGeom>
        </p:spPr>
      </p:pic>
      <p:graphicFrame>
        <p:nvGraphicFramePr>
          <p:cNvPr id="8" name="Tabelle 3">
            <a:extLst>
              <a:ext uri="{FF2B5EF4-FFF2-40B4-BE49-F238E27FC236}">
                <a16:creationId xmlns:a16="http://schemas.microsoft.com/office/drawing/2014/main" id="{E8FBCE3B-7BB8-40AE-9498-84522F8DEDD8}"/>
              </a:ext>
            </a:extLst>
          </p:cNvPr>
          <p:cNvGraphicFramePr>
            <a:graphicFrameLocks noGrp="1"/>
          </p:cNvGraphicFramePr>
          <p:nvPr/>
        </p:nvGraphicFramePr>
        <p:xfrm>
          <a:off x="2624092" y="2075554"/>
          <a:ext cx="4043409" cy="26002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33745">
                  <a:extLst>
                    <a:ext uri="{9D8B030D-6E8A-4147-A177-3AD203B41FA5}">
                      <a16:colId xmlns:a16="http://schemas.microsoft.com/office/drawing/2014/main" val="883978954"/>
                    </a:ext>
                  </a:extLst>
                </a:gridCol>
                <a:gridCol w="1204832">
                  <a:extLst>
                    <a:ext uri="{9D8B030D-6E8A-4147-A177-3AD203B41FA5}">
                      <a16:colId xmlns:a16="http://schemas.microsoft.com/office/drawing/2014/main" val="435412168"/>
                    </a:ext>
                  </a:extLst>
                </a:gridCol>
                <a:gridCol w="1204832">
                  <a:extLst>
                    <a:ext uri="{9D8B030D-6E8A-4147-A177-3AD203B41FA5}">
                      <a16:colId xmlns:a16="http://schemas.microsoft.com/office/drawing/2014/main" val="3171568005"/>
                    </a:ext>
                  </a:extLst>
                </a:gridCol>
              </a:tblGrid>
              <a:tr h="405712">
                <a:tc>
                  <a:txBody>
                    <a:bodyPr/>
                    <a:lstStyle/>
                    <a:p>
                      <a:r>
                        <a:rPr lang="de-DE" sz="1200"/>
                        <a:t>ESP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/>
                        <a:t>Rotary Encoder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200"/>
                        <a:t>Relais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982814"/>
                  </a:ext>
                </a:extLst>
              </a:tr>
              <a:tr h="238654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/>
                        <a:t>CLK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913058"/>
                  </a:ext>
                </a:extLst>
              </a:tr>
              <a:tr h="238654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/>
                        <a:t>DT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659889"/>
                  </a:ext>
                </a:extLst>
              </a:tr>
              <a:tr h="238654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/>
                        <a:t>SW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7912469"/>
                  </a:ext>
                </a:extLst>
              </a:tr>
              <a:tr h="238654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89404"/>
                  </a:ext>
                </a:extLst>
              </a:tr>
              <a:tr h="238654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/>
                        <a:t>IN1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449120"/>
                  </a:ext>
                </a:extLst>
              </a:tr>
              <a:tr h="238654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/>
                        <a:t>IN2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809008"/>
                  </a:ext>
                </a:extLst>
              </a:tr>
              <a:tr h="238654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/>
                        <a:t>IN3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662353"/>
                  </a:ext>
                </a:extLst>
              </a:tr>
              <a:tr h="238654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/>
                        <a:t>IN4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558436"/>
                  </a:ext>
                </a:extLst>
              </a:tr>
              <a:tr h="238654">
                <a:tc>
                  <a:txBody>
                    <a:bodyPr/>
                    <a:lstStyle/>
                    <a:p>
                      <a:r>
                        <a:rPr lang="de-DE" sz="100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de-DE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243585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81E9CF4E-98B7-48F9-B717-738686436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327" y="2499825"/>
            <a:ext cx="4729162" cy="342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D66BB9B4-FCAA-4AE0-BDE8-9CB5ACB8DE6E}"/>
              </a:ext>
            </a:extLst>
          </p:cNvPr>
          <p:cNvCxnSpPr>
            <a:cxnSpLocks/>
          </p:cNvCxnSpPr>
          <p:nvPr/>
        </p:nvCxnSpPr>
        <p:spPr>
          <a:xfrm flipV="1">
            <a:off x="8553450" y="5965075"/>
            <a:ext cx="0" cy="297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4EA4748-5D39-4AAE-99B7-C1B848D101D5}"/>
              </a:ext>
            </a:extLst>
          </p:cNvPr>
          <p:cNvCxnSpPr>
            <a:cxnSpLocks/>
          </p:cNvCxnSpPr>
          <p:nvPr/>
        </p:nvCxnSpPr>
        <p:spPr>
          <a:xfrm flipV="1">
            <a:off x="9017000" y="5965075"/>
            <a:ext cx="0" cy="297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B1193FE8-0BBA-4F73-AE05-EB33936C414B}"/>
              </a:ext>
            </a:extLst>
          </p:cNvPr>
          <p:cNvCxnSpPr>
            <a:cxnSpLocks/>
          </p:cNvCxnSpPr>
          <p:nvPr/>
        </p:nvCxnSpPr>
        <p:spPr>
          <a:xfrm flipV="1">
            <a:off x="9480550" y="5965075"/>
            <a:ext cx="0" cy="297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32025D9F-E2F5-4A88-B858-3593362F732E}"/>
              </a:ext>
            </a:extLst>
          </p:cNvPr>
          <p:cNvCxnSpPr>
            <a:cxnSpLocks/>
          </p:cNvCxnSpPr>
          <p:nvPr/>
        </p:nvCxnSpPr>
        <p:spPr>
          <a:xfrm flipV="1">
            <a:off x="9944100" y="5965075"/>
            <a:ext cx="0" cy="297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436F5923-36B9-4BD7-BCAC-DDEF2F9B3917}"/>
              </a:ext>
            </a:extLst>
          </p:cNvPr>
          <p:cNvSpPr txBox="1"/>
          <p:nvPr/>
        </p:nvSpPr>
        <p:spPr>
          <a:xfrm>
            <a:off x="4400550" y="5295900"/>
            <a:ext cx="1790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2 x Relay Module</a:t>
            </a:r>
            <a:br>
              <a:rPr lang="de-DE"/>
            </a:br>
            <a:r>
              <a:rPr lang="de-DE"/>
              <a:t>für VCC und SCL</a:t>
            </a:r>
          </a:p>
        </p:txBody>
      </p:sp>
    </p:spTree>
    <p:extLst>
      <p:ext uri="{BB962C8B-B14F-4D97-AF65-F5344CB8AC3E}">
        <p14:creationId xmlns:p14="http://schemas.microsoft.com/office/powerpoint/2010/main" val="19543875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80FA28-BAE6-4310-B71D-2A4A518EE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04BE294-D68C-4EB3-A08D-4CB9E67838FD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/>
              <a:t>https://sonniss.com/category/sound-libraries/bundles/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B493343-5C6C-4E8A-BB1A-543A3D8AD3EA}"/>
              </a:ext>
            </a:extLst>
          </p:cNvPr>
          <p:cNvSpPr txBox="1"/>
          <p:nvPr/>
        </p:nvSpPr>
        <p:spPr>
          <a:xfrm>
            <a:off x="3208867" y="1517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/>
              <a:t>https://sfxr.me/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AF9DB3F-BF2A-475E-8432-1FB2D8E9EE9A}"/>
              </a:ext>
            </a:extLst>
          </p:cNvPr>
          <p:cNvSpPr txBox="1"/>
          <p:nvPr/>
        </p:nvSpPr>
        <p:spPr>
          <a:xfrm>
            <a:off x="2937933" y="19187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/>
              <a:t>https://www.myinstants.com/en/search/?name=pacman</a:t>
            </a:r>
          </a:p>
        </p:txBody>
      </p:sp>
    </p:spTree>
    <p:extLst>
      <p:ext uri="{BB962C8B-B14F-4D97-AF65-F5344CB8AC3E}">
        <p14:creationId xmlns:p14="http://schemas.microsoft.com/office/powerpoint/2010/main" val="383846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3489</Words>
  <Application>Microsoft Office PowerPoint</Application>
  <PresentationFormat>Breitbild</PresentationFormat>
  <Paragraphs>1286</Paragraphs>
  <Slides>53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53</vt:i4>
      </vt:variant>
    </vt:vector>
  </HeadingPairs>
  <TitlesOfParts>
    <vt:vector size="62" baseType="lpstr">
      <vt:lpstr>Amazon Ember</vt:lpstr>
      <vt:lpstr>Arial</vt:lpstr>
      <vt:lpstr>Calibri</vt:lpstr>
      <vt:lpstr>Consolas</vt:lpstr>
      <vt:lpstr>Google Sans</vt:lpstr>
      <vt:lpstr>Henny Penny</vt:lpstr>
      <vt:lpstr>Milkyway DEMO</vt:lpstr>
      <vt:lpstr>Symbol</vt:lpstr>
      <vt:lpstr>Office</vt:lpstr>
      <vt:lpstr>Activity Board</vt:lpstr>
      <vt:lpstr>Activity Board Übersicht</vt:lpstr>
      <vt:lpstr>Standard Specifications</vt:lpstr>
      <vt:lpstr>Standard Layout Gadget</vt:lpstr>
      <vt:lpstr>Activity Bus Board</vt:lpstr>
      <vt:lpstr>Activity Bus Board</vt:lpstr>
      <vt:lpstr>Connecting Periphericals and Gadgets via Activity Bus Board</vt:lpstr>
      <vt:lpstr>CD4066 Specification</vt:lpstr>
      <vt:lpstr>CD4066 Gadget Dispatch Block</vt:lpstr>
      <vt:lpstr>PowerPoint-Präsentation</vt:lpstr>
      <vt:lpstr>Power Supply Board</vt:lpstr>
      <vt:lpstr>Power Supply Board</vt:lpstr>
      <vt:lpstr>Power Board Panel Laser Template Controls</vt:lpstr>
      <vt:lpstr>Power Board Panel Laser Template Labels</vt:lpstr>
      <vt:lpstr>Power Board Panel Laser Template Frame</vt:lpstr>
      <vt:lpstr>Sound Module</vt:lpstr>
      <vt:lpstr>Sound Module</vt:lpstr>
      <vt:lpstr>PowerPoint-Präsentation</vt:lpstr>
      <vt:lpstr>Numpad Module</vt:lpstr>
      <vt:lpstr>Numpad Module</vt:lpstr>
      <vt:lpstr>Display Module</vt:lpstr>
      <vt:lpstr>PowerPoint-Präsentation</vt:lpstr>
      <vt:lpstr>PowerPoint-Präsentation</vt:lpstr>
      <vt:lpstr>SD Modul</vt:lpstr>
      <vt:lpstr>Pegel Wandler</vt:lpstr>
      <vt:lpstr>Rotary Encoder</vt:lpstr>
      <vt:lpstr>PowerPoint-Präsentation</vt:lpstr>
      <vt:lpstr>Backlight Pin (BL)</vt:lpstr>
      <vt:lpstr>Datenleitungen schützen</vt:lpstr>
      <vt:lpstr>Datenleitungen schützen</vt:lpstr>
      <vt:lpstr>Lingo Bingo</vt:lpstr>
      <vt:lpstr>Lingo Bingo Gadget</vt:lpstr>
      <vt:lpstr>PowerPoint-Präsentation</vt:lpstr>
      <vt:lpstr>Lingo Bingo Controls</vt:lpstr>
      <vt:lpstr>Lingo Bingo Frame</vt:lpstr>
      <vt:lpstr>PowerPoint-Präsentation</vt:lpstr>
      <vt:lpstr>Storybook</vt:lpstr>
      <vt:lpstr>Storybook Gadget</vt:lpstr>
      <vt:lpstr>PowerPoint-Präsentation</vt:lpstr>
      <vt:lpstr>SD Modul</vt:lpstr>
      <vt:lpstr>Pegel Wandler</vt:lpstr>
      <vt:lpstr>PowerPoint-Präsentation</vt:lpstr>
      <vt:lpstr>Settings</vt:lpstr>
      <vt:lpstr>Portsettings</vt:lpstr>
      <vt:lpstr>extras</vt:lpstr>
      <vt:lpstr>PowerPoint-Präsentation</vt:lpstr>
      <vt:lpstr>SD Modul</vt:lpstr>
      <vt:lpstr>PowerPoint-Präsentation</vt:lpstr>
      <vt:lpstr>PowerPoint-Präsentation</vt:lpstr>
      <vt:lpstr>PowerPoint-Präsentation</vt:lpstr>
      <vt:lpstr>PowerPoint-Präsentation</vt:lpstr>
      <vt:lpstr>PCF8574 Masterselect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Soundboard</dc:title>
  <dc:creator>sigi jeske</dc:creator>
  <cp:lastModifiedBy>sigi jeske</cp:lastModifiedBy>
  <cp:revision>494</cp:revision>
  <cp:lastPrinted>2026-10-01T17:34:18Z</cp:lastPrinted>
  <dcterms:created xsi:type="dcterms:W3CDTF">2026-09-05T16:43:31Z</dcterms:created>
  <dcterms:modified xsi:type="dcterms:W3CDTF">2026-10-17T10:35:11Z</dcterms:modified>
</cp:coreProperties>
</file>