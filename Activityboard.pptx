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8"/>
  </p:notesMasterIdLst>
  <p:sldIdLst>
    <p:sldId id="256" r:id="rId2"/>
    <p:sldId id="260" r:id="rId3"/>
    <p:sldId id="285" r:id="rId4"/>
    <p:sldId id="264" r:id="rId5"/>
    <p:sldId id="280" r:id="rId6"/>
    <p:sldId id="279" r:id="rId7"/>
    <p:sldId id="262" r:id="rId8"/>
    <p:sldId id="282" r:id="rId9"/>
    <p:sldId id="263" r:id="rId10"/>
    <p:sldId id="267" r:id="rId11"/>
    <p:sldId id="268" r:id="rId12"/>
    <p:sldId id="269" r:id="rId13"/>
    <p:sldId id="284" r:id="rId14"/>
    <p:sldId id="283" r:id="rId15"/>
    <p:sldId id="259" r:id="rId16"/>
    <p:sldId id="287" r:id="rId17"/>
    <p:sldId id="286" r:id="rId18"/>
    <p:sldId id="276" r:id="rId19"/>
    <p:sldId id="288" r:id="rId20"/>
    <p:sldId id="295" r:id="rId21"/>
    <p:sldId id="307" r:id="rId22"/>
    <p:sldId id="308" r:id="rId23"/>
    <p:sldId id="309" r:id="rId24"/>
    <p:sldId id="296" r:id="rId25"/>
    <p:sldId id="291" r:id="rId26"/>
    <p:sldId id="290" r:id="rId27"/>
    <p:sldId id="292" r:id="rId28"/>
    <p:sldId id="274" r:id="rId29"/>
    <p:sldId id="293" r:id="rId30"/>
    <p:sldId id="272" r:id="rId31"/>
    <p:sldId id="271" r:id="rId32"/>
    <p:sldId id="275" r:id="rId33"/>
    <p:sldId id="299" r:id="rId34"/>
    <p:sldId id="300" r:id="rId35"/>
    <p:sldId id="303" r:id="rId36"/>
    <p:sldId id="304" r:id="rId37"/>
    <p:sldId id="305" r:id="rId38"/>
    <p:sldId id="306" r:id="rId39"/>
    <p:sldId id="294" r:id="rId40"/>
    <p:sldId id="301" r:id="rId41"/>
    <p:sldId id="302" r:id="rId42"/>
    <p:sldId id="265" r:id="rId43"/>
    <p:sldId id="266" r:id="rId44"/>
    <p:sldId id="257" r:id="rId45"/>
    <p:sldId id="258" r:id="rId46"/>
    <p:sldId id="270" r:id="rId47"/>
  </p:sldIdLst>
  <p:sldSz cx="12192000" cy="6858000"/>
  <p:notesSz cx="6797675" cy="9928225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03" autoAdjust="0"/>
    <p:restoredTop sz="92764" autoAdjust="0"/>
  </p:normalViewPr>
  <p:slideViewPr>
    <p:cSldViewPr snapToGrid="0">
      <p:cViewPr>
        <p:scale>
          <a:sx n="100" d="100"/>
          <a:sy n="100" d="100"/>
        </p:scale>
        <p:origin x="1032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AC4423-DF28-4DB7-801A-CFFD9AB199E6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4CAAA5-4837-41F4-9386-6E1FFE2A33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4807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51585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6621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35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21840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93AAAB-998D-4197-B731-3ED8C50C3E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0EC23BA-766B-4295-BD3A-C755FD23A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58357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7FC96E-F736-46CF-8EF7-53BEA2FBD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600" y="194400"/>
            <a:ext cx="11115413" cy="43182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de-DE" b="1"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23AFAB-D930-4CCB-B9D8-5446CF42A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600" y="773360"/>
            <a:ext cx="11118908" cy="581357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5596091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FE3D2D-7D0A-470D-9245-2002B9257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992" y="195947"/>
            <a:ext cx="11144250" cy="431829"/>
          </a:xfrm>
        </p:spPr>
        <p:txBody>
          <a:bodyPr/>
          <a:lstStyle>
            <a:lvl1pPr>
              <a:defRPr b="1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171047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9319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6AAF404B-AEB7-406A-880A-5FB0962F0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0364" y="2646506"/>
            <a:ext cx="4405746" cy="431829"/>
          </a:xfrm>
        </p:spPr>
        <p:txBody>
          <a:bodyPr>
            <a:noAutofit/>
          </a:bodyPr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135353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D0406AB-42CF-477C-A1E4-FD9E69F08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338" y="365125"/>
            <a:ext cx="11001462" cy="4318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C57E279-A7BE-4CC2-AA72-666087B161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2338" y="939567"/>
            <a:ext cx="11001462" cy="5237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14953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5" r:id="rId4"/>
    <p:sldLayoutId id="2147483656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jpe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s://wokwi.com/projects/474422651455561729" TargetMode="Externa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0117E9-E001-4C32-B1BF-6CE44816C3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Activity Board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59E77AD-301B-4E04-BCEF-AE440AC1C3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9953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feld 21">
            <a:extLst>
              <a:ext uri="{FF2B5EF4-FFF2-40B4-BE49-F238E27FC236}">
                <a16:creationId xmlns:a16="http://schemas.microsoft.com/office/drawing/2014/main" id="{2EBD009A-81AB-4F5F-BF7E-1663CDD3784F}"/>
              </a:ext>
            </a:extLst>
          </p:cNvPr>
          <p:cNvSpPr txBox="1"/>
          <p:nvPr/>
        </p:nvSpPr>
        <p:spPr>
          <a:xfrm>
            <a:off x="4624202" y="959899"/>
            <a:ext cx="7147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charging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0E8698D-2D3B-4B8C-8163-F654CD93D6EB}"/>
              </a:ext>
            </a:extLst>
          </p:cNvPr>
          <p:cNvSpPr/>
          <p:nvPr/>
        </p:nvSpPr>
        <p:spPr>
          <a:xfrm>
            <a:off x="4326709" y="1566863"/>
            <a:ext cx="3331391" cy="154781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Master Module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C938D65-1BE4-4179-80EA-FC8DC5C59148}"/>
              </a:ext>
            </a:extLst>
          </p:cNvPr>
          <p:cNvSpPr/>
          <p:nvPr/>
        </p:nvSpPr>
        <p:spPr>
          <a:xfrm>
            <a:off x="4524375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Battery</a:t>
            </a:r>
            <a:br>
              <a:rPr lang="de-DE" sz="1200"/>
            </a:br>
            <a:r>
              <a:rPr lang="de-DE" sz="1200"/>
              <a:t>Pack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D979668-5F56-4C75-9AB5-80B691B002C4}"/>
              </a:ext>
            </a:extLst>
          </p:cNvPr>
          <p:cNvSpPr/>
          <p:nvPr/>
        </p:nvSpPr>
        <p:spPr>
          <a:xfrm>
            <a:off x="5550716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Master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C628C03-B614-417B-B728-A64183C20FE9}"/>
              </a:ext>
            </a:extLst>
          </p:cNvPr>
          <p:cNvSpPr/>
          <p:nvPr/>
        </p:nvSpPr>
        <p:spPr>
          <a:xfrm>
            <a:off x="6577057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Sound</a:t>
            </a:r>
            <a:br>
              <a:rPr lang="de-DE" sz="1200"/>
            </a:br>
            <a:r>
              <a:rPr lang="de-DE" sz="1200"/>
              <a:t>System</a:t>
            </a: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FA81AF0-1752-4212-9AF0-E74E627C0A1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5992404" y="3114675"/>
            <a:ext cx="1" cy="469871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632F2D68-0C70-44AE-9CA2-9DDD136399AF}"/>
              </a:ext>
            </a:extLst>
          </p:cNvPr>
          <p:cNvCxnSpPr>
            <a:cxnSpLocks/>
          </p:cNvCxnSpPr>
          <p:nvPr/>
        </p:nvCxnSpPr>
        <p:spPr>
          <a:xfrm>
            <a:off x="1862727" y="3603596"/>
            <a:ext cx="8741490" cy="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6FB1F866-4D36-4484-B1CB-D035001B65AB}"/>
              </a:ext>
            </a:extLst>
          </p:cNvPr>
          <p:cNvSpPr txBox="1"/>
          <p:nvPr/>
        </p:nvSpPr>
        <p:spPr>
          <a:xfrm>
            <a:off x="8294333" y="3189859"/>
            <a:ext cx="19736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Activity Bus (I2C BUS)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8FD3D4F-299B-4504-A239-2A44EDC79E1C}"/>
              </a:ext>
            </a:extLst>
          </p:cNvPr>
          <p:cNvSpPr/>
          <p:nvPr/>
        </p:nvSpPr>
        <p:spPr>
          <a:xfrm>
            <a:off x="744129" y="4054417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Music Gadget</a:t>
            </a: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7EA12B4E-E029-472B-B592-80DB66D6F614}"/>
              </a:ext>
            </a:extLst>
          </p:cNvPr>
          <p:cNvCxnSpPr>
            <a:cxnSpLocks/>
            <a:endCxn id="18" idx="0"/>
          </p:cNvCxnSpPr>
          <p:nvPr/>
        </p:nvCxnSpPr>
        <p:spPr>
          <a:xfrm>
            <a:off x="2491376" y="3584546"/>
            <a:ext cx="1" cy="469871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2A7F75B0-28C5-4E3E-A232-4535DA55229A}"/>
              </a:ext>
            </a:extLst>
          </p:cNvPr>
          <p:cNvSpPr txBox="1"/>
          <p:nvPr/>
        </p:nvSpPr>
        <p:spPr>
          <a:xfrm>
            <a:off x="6515110" y="959899"/>
            <a:ext cx="10382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Sound Library</a:t>
            </a:r>
            <a:br>
              <a:rPr lang="de-DE" sz="1200"/>
            </a:br>
            <a:r>
              <a:rPr lang="de-DE" sz="1200"/>
              <a:t>microSD Card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F46BB24-BAAA-469E-8A02-6F9C70AE051D}"/>
              </a:ext>
            </a:extLst>
          </p:cNvPr>
          <p:cNvSpPr txBox="1"/>
          <p:nvPr/>
        </p:nvSpPr>
        <p:spPr>
          <a:xfrm>
            <a:off x="5684467" y="959899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DEF8A7A-D886-49FE-A0BA-D736DD48B5DC}"/>
              </a:ext>
            </a:extLst>
          </p:cNvPr>
          <p:cNvSpPr txBox="1"/>
          <p:nvPr/>
        </p:nvSpPr>
        <p:spPr>
          <a:xfrm>
            <a:off x="751553" y="3439631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614B622-EDE4-4969-AB10-85151D4C55C0}"/>
              </a:ext>
            </a:extLst>
          </p:cNvPr>
          <p:cNvSpPr/>
          <p:nvPr/>
        </p:nvSpPr>
        <p:spPr>
          <a:xfrm>
            <a:off x="948327" y="422829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Buttons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73F16B7-29F4-40F2-A401-6F5DF523B204}"/>
              </a:ext>
            </a:extLst>
          </p:cNvPr>
          <p:cNvSpPr txBox="1"/>
          <p:nvPr/>
        </p:nvSpPr>
        <p:spPr>
          <a:xfrm>
            <a:off x="7929120" y="1746247"/>
            <a:ext cx="6814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Speaker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374D6ECF-2E2C-444B-A3B7-FFA49C7723C0}"/>
              </a:ext>
            </a:extLst>
          </p:cNvPr>
          <p:cNvSpPr txBox="1"/>
          <p:nvPr/>
        </p:nvSpPr>
        <p:spPr>
          <a:xfrm>
            <a:off x="7929698" y="2240369"/>
            <a:ext cx="6808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Volume</a:t>
            </a:r>
            <a:br>
              <a:rPr lang="de-DE" sz="1200"/>
            </a:br>
            <a:r>
              <a:rPr lang="de-DE" sz="1200"/>
              <a:t>Control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A7D5469-AA34-4980-8319-37191EF72E7F}"/>
              </a:ext>
            </a:extLst>
          </p:cNvPr>
          <p:cNvCxnSpPr>
            <a:stCxn id="31" idx="1"/>
          </p:cNvCxnSpPr>
          <p:nvPr/>
        </p:nvCxnSpPr>
        <p:spPr>
          <a:xfrm flipH="1" flipV="1">
            <a:off x="7658100" y="1884746"/>
            <a:ext cx="271020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586750F9-05A5-41BC-BBFD-BADB9FF7CEA2}"/>
              </a:ext>
            </a:extLst>
          </p:cNvPr>
          <p:cNvCxnSpPr>
            <a:cxnSpLocks/>
            <a:stCxn id="32" idx="1"/>
          </p:cNvCxnSpPr>
          <p:nvPr/>
        </p:nvCxnSpPr>
        <p:spPr>
          <a:xfrm flipH="1">
            <a:off x="7658100" y="2471202"/>
            <a:ext cx="27159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00ECDAAC-81F0-4C7A-9DB9-4D97B640338D}"/>
              </a:ext>
            </a:extLst>
          </p:cNvPr>
          <p:cNvCxnSpPr>
            <a:stCxn id="22" idx="2"/>
          </p:cNvCxnSpPr>
          <p:nvPr/>
        </p:nvCxnSpPr>
        <p:spPr>
          <a:xfrm>
            <a:off x="4981575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860868C2-8A5D-455C-8EE3-8ACFC08BBFBC}"/>
              </a:ext>
            </a:extLst>
          </p:cNvPr>
          <p:cNvCxnSpPr>
            <a:cxnSpLocks/>
            <a:stCxn id="24" idx="2"/>
            <a:endCxn id="5" idx="0"/>
          </p:cNvCxnSpPr>
          <p:nvPr/>
        </p:nvCxnSpPr>
        <p:spPr>
          <a:xfrm>
            <a:off x="5992404" y="1421564"/>
            <a:ext cx="1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5748AAB4-CF8F-43A6-8DCB-A3168CC8065B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7034259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E88B4E2E-AA84-4E5F-B9D9-468E3059BC23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1059490" y="3901296"/>
            <a:ext cx="0" cy="1531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A7F8B6FC-0DE5-4A39-B190-48CA1C97DE38}"/>
              </a:ext>
            </a:extLst>
          </p:cNvPr>
          <p:cNvSpPr/>
          <p:nvPr/>
        </p:nvSpPr>
        <p:spPr>
          <a:xfrm>
            <a:off x="2076075" y="420955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 err="1"/>
              <a:t>Indicators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1FCA2DEE-06EF-47BD-A879-00EC571B5FB2}"/>
              </a:ext>
            </a:extLst>
          </p:cNvPr>
          <p:cNvSpPr/>
          <p:nvPr/>
        </p:nvSpPr>
        <p:spPr>
          <a:xfrm>
            <a:off x="3203823" y="422829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Music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785F897F-2976-4328-8E2B-68BE455C570E}"/>
              </a:ext>
            </a:extLst>
          </p:cNvPr>
          <p:cNvSpPr txBox="1"/>
          <p:nvPr/>
        </p:nvSpPr>
        <p:spPr>
          <a:xfrm>
            <a:off x="684195" y="5456918"/>
            <a:ext cx="3554429" cy="102816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Music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4 buttons and 4 LED indicators.</a:t>
            </a:r>
            <a:br>
              <a:rPr lang="de-DE" sz="1100"/>
            </a:br>
            <a:r>
              <a:rPr lang="de-DE" sz="1100"/>
              <a:t>Every button is accompanied by a picture and corresponds to an individualsound in the master sound library. If a button is pressed the corresponding sound is played and the LED indicator lights up.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B9706B0-D390-4A16-9A6C-D9E05E6BC9FC}"/>
              </a:ext>
            </a:extLst>
          </p:cNvPr>
          <p:cNvSpPr/>
          <p:nvPr/>
        </p:nvSpPr>
        <p:spPr>
          <a:xfrm>
            <a:off x="4632416" y="4051553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Sun Gadget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64A53DD9-8921-4FAC-9FA6-B486D134BE3A}"/>
              </a:ext>
            </a:extLst>
          </p:cNvPr>
          <p:cNvSpPr txBox="1"/>
          <p:nvPr/>
        </p:nvSpPr>
        <p:spPr>
          <a:xfrm>
            <a:off x="547069" y="856581"/>
            <a:ext cx="3098172" cy="13837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Low"/>
            <a:r>
              <a:rPr lang="de-DE" sz="1100" b="1"/>
              <a:t>Gadgets</a:t>
            </a:r>
            <a:r>
              <a:rPr lang="de-DE" sz="1100"/>
              <a:t> are activity modules with electronic or mechanical parts to play with. Gadgets will be placed independently on a wooden board with a central master module providing power supply and other common features. Gadgets range from simple mechanical knobs to electronic games with OLED display (e.g. tretris, snake, pong).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EDF76EA-E952-40F1-ACDD-411A3131133C}"/>
              </a:ext>
            </a:extLst>
          </p:cNvPr>
          <p:cNvSpPr/>
          <p:nvPr/>
        </p:nvSpPr>
        <p:spPr>
          <a:xfrm>
            <a:off x="4840712" y="4250804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Time of Day Panel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FD5552D-4C62-4AE8-859E-78D0E2A357B9}"/>
              </a:ext>
            </a:extLst>
          </p:cNvPr>
          <p:cNvSpPr/>
          <p:nvPr/>
        </p:nvSpPr>
        <p:spPr>
          <a:xfrm>
            <a:off x="5968460" y="4232071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Sunlight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C5C27EE-ED25-4492-A0BC-7D617AC66A77}"/>
              </a:ext>
            </a:extLst>
          </p:cNvPr>
          <p:cNvSpPr/>
          <p:nvPr/>
        </p:nvSpPr>
        <p:spPr>
          <a:xfrm>
            <a:off x="7096208" y="4250802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Sun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B05B823A-F5FA-4F0E-9E56-6D8F58E9506C}"/>
              </a:ext>
            </a:extLst>
          </p:cNvPr>
          <p:cNvSpPr txBox="1"/>
          <p:nvPr/>
        </p:nvSpPr>
        <p:spPr>
          <a:xfrm>
            <a:off x="4624202" y="5378408"/>
            <a:ext cx="3554429" cy="15038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Sun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a "Time of Day" knob to turn and control the "Sunlight". The knob is round and points to phases during a normal day (early morning, late morning, midday, afternoon, evening, night) identified by symbols. Turning this knob controls the brightness of the "Sunlight" represented by a round convex lid illuminated by a white LED. If exact positions are hit a song correspondingt to the phase is played (e.g. at "night" a lullaby).</a:t>
            </a: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F72136DB-8B26-4612-B095-CD5F3186124E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6379664" y="3584546"/>
            <a:ext cx="0" cy="4670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D6038EA8-6B7B-457E-B39C-A57000107B35}"/>
              </a:ext>
            </a:extLst>
          </p:cNvPr>
          <p:cNvSpPr/>
          <p:nvPr/>
        </p:nvSpPr>
        <p:spPr>
          <a:xfrm>
            <a:off x="8353773" y="4043351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Pong Gadget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D497109B-FD14-4CD9-8376-4F24AFEBDEB1}"/>
              </a:ext>
            </a:extLst>
          </p:cNvPr>
          <p:cNvSpPr/>
          <p:nvPr/>
        </p:nvSpPr>
        <p:spPr>
          <a:xfrm>
            <a:off x="8562069" y="424260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OLED</a:t>
            </a:r>
            <a:br>
              <a:rPr lang="de-DE" sz="1200"/>
            </a:br>
            <a:r>
              <a:rPr lang="de-DE" sz="1200"/>
              <a:t>Display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24CF40FE-C4F8-4BBD-AE1B-6B5FAB8446D5}"/>
              </a:ext>
            </a:extLst>
          </p:cNvPr>
          <p:cNvSpPr/>
          <p:nvPr/>
        </p:nvSpPr>
        <p:spPr>
          <a:xfrm>
            <a:off x="9689817" y="422386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Controller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D7E46CC-0247-4BE6-A1BC-584706DA0E43}"/>
              </a:ext>
            </a:extLst>
          </p:cNvPr>
          <p:cNvSpPr/>
          <p:nvPr/>
        </p:nvSpPr>
        <p:spPr>
          <a:xfrm>
            <a:off x="10817565" y="424260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PingPong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E96974BE-7918-46EA-A797-663601FDF2FC}"/>
              </a:ext>
            </a:extLst>
          </p:cNvPr>
          <p:cNvSpPr txBox="1"/>
          <p:nvPr/>
        </p:nvSpPr>
        <p:spPr>
          <a:xfrm>
            <a:off x="8345559" y="5370207"/>
            <a:ext cx="3554429" cy="9763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Pong Gadget</a:t>
            </a:r>
            <a:r>
              <a:rPr lang="de-DE" sz="1100"/>
              <a:t> is a simple implementation of the ping pong game. It consists of a small OLED display (1 or 2 inch) and a Controller Panel with "start / stop" buttons and a potentiometer to control the racket. It also plays "ping / pong" sounds when rackets hit the "ball".</a:t>
            </a:r>
          </a:p>
        </p:txBody>
      </p: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52025CF-7768-4FC5-A10B-CF1CAA7A78A0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10101021" y="3562631"/>
            <a:ext cx="0" cy="48072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el 3">
            <a:extLst>
              <a:ext uri="{FF2B5EF4-FFF2-40B4-BE49-F238E27FC236}">
                <a16:creationId xmlns:a16="http://schemas.microsoft.com/office/drawing/2014/main" id="{3049A2CD-CE7C-4791-B6A3-93B25BCF8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Board Übersicht</a:t>
            </a:r>
          </a:p>
        </p:txBody>
      </p:sp>
    </p:spTree>
    <p:extLst>
      <p:ext uri="{BB962C8B-B14F-4D97-AF65-F5344CB8AC3E}">
        <p14:creationId xmlns:p14="http://schemas.microsoft.com/office/powerpoint/2010/main" val="437290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CA6072-4872-4B3A-BA17-FB19FAF43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Standard Specifications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0C6AB80-C2C7-4E3F-9507-36D8D5003E20}"/>
              </a:ext>
            </a:extLst>
          </p:cNvPr>
          <p:cNvSpPr txBox="1"/>
          <p:nvPr/>
        </p:nvSpPr>
        <p:spPr>
          <a:xfrm>
            <a:off x="3057009" y="1817149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(2 poles)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7A436A26-F411-491C-8BD2-6A6CE260A9DF}"/>
              </a:ext>
            </a:extLst>
          </p:cNvPr>
          <p:cNvCxnSpPr>
            <a:cxnSpLocks/>
          </p:cNvCxnSpPr>
          <p:nvPr/>
        </p:nvCxnSpPr>
        <p:spPr>
          <a:xfrm flipH="1">
            <a:off x="2680053" y="1909482"/>
            <a:ext cx="303468" cy="1"/>
          </a:xfrm>
          <a:prstGeom prst="line">
            <a:avLst/>
          </a:prstGeom>
          <a:ln w="4445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6AFBEA28-FC6A-437B-BA98-179580C5E718}"/>
              </a:ext>
            </a:extLst>
          </p:cNvPr>
          <p:cNvSpPr txBox="1"/>
          <p:nvPr/>
        </p:nvSpPr>
        <p:spPr>
          <a:xfrm>
            <a:off x="3057009" y="2052791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(4 poles)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97262CBE-6E81-46BC-905F-72BBC30631FC}"/>
              </a:ext>
            </a:extLst>
          </p:cNvPr>
          <p:cNvCxnSpPr>
            <a:cxnSpLocks/>
          </p:cNvCxnSpPr>
          <p:nvPr/>
        </p:nvCxnSpPr>
        <p:spPr>
          <a:xfrm flipH="1">
            <a:off x="2680053" y="2145124"/>
            <a:ext cx="303468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feld 6">
            <a:extLst>
              <a:ext uri="{FF2B5EF4-FFF2-40B4-BE49-F238E27FC236}">
                <a16:creationId xmlns:a16="http://schemas.microsoft.com/office/drawing/2014/main" id="{514ED0DE-A021-43B6-8E3C-33C7234F7D21}"/>
              </a:ext>
            </a:extLst>
          </p:cNvPr>
          <p:cNvSpPr txBox="1"/>
          <p:nvPr/>
        </p:nvSpPr>
        <p:spPr>
          <a:xfrm>
            <a:off x="3057009" y="2278846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USB (4 poles)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3637712-69FC-49E7-995D-A75CAC0F33BB}"/>
              </a:ext>
            </a:extLst>
          </p:cNvPr>
          <p:cNvCxnSpPr>
            <a:cxnSpLocks/>
          </p:cNvCxnSpPr>
          <p:nvPr/>
        </p:nvCxnSpPr>
        <p:spPr>
          <a:xfrm flipH="1">
            <a:off x="2680053" y="2371179"/>
            <a:ext cx="303468" cy="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Verbinder: gewinkelt 294">
            <a:extLst>
              <a:ext uri="{FF2B5EF4-FFF2-40B4-BE49-F238E27FC236}">
                <a16:creationId xmlns:a16="http://schemas.microsoft.com/office/drawing/2014/main" id="{52BF0F51-6AD7-442E-BBA2-5FA77F501D1F}"/>
              </a:ext>
            </a:extLst>
          </p:cNvPr>
          <p:cNvCxnSpPr>
            <a:cxnSpLocks/>
          </p:cNvCxnSpPr>
          <p:nvPr/>
        </p:nvCxnSpPr>
        <p:spPr>
          <a:xfrm flipH="1">
            <a:off x="2680053" y="1644256"/>
            <a:ext cx="303468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5D0BB375-92C7-45D9-B9E8-3C41BE27D940}"/>
              </a:ext>
            </a:extLst>
          </p:cNvPr>
          <p:cNvSpPr txBox="1"/>
          <p:nvPr/>
        </p:nvSpPr>
        <p:spPr>
          <a:xfrm>
            <a:off x="3057009" y="1551923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Soldered Connection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70692E8D-E348-4219-BEA8-94AFFEB201D5}"/>
              </a:ext>
            </a:extLst>
          </p:cNvPr>
          <p:cNvSpPr/>
          <p:nvPr/>
        </p:nvSpPr>
        <p:spPr>
          <a:xfrm>
            <a:off x="2635140" y="2471701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5FFEE35-669B-4161-A321-9F57E67E0E9F}"/>
              </a:ext>
            </a:extLst>
          </p:cNvPr>
          <p:cNvSpPr txBox="1"/>
          <p:nvPr/>
        </p:nvSpPr>
        <p:spPr>
          <a:xfrm>
            <a:off x="3057009" y="2504900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Resistor</a:t>
            </a: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E092B43A-C94D-4F41-BE19-F1D193B9A028}"/>
              </a:ext>
            </a:extLst>
          </p:cNvPr>
          <p:cNvSpPr/>
          <p:nvPr/>
        </p:nvSpPr>
        <p:spPr>
          <a:xfrm>
            <a:off x="2635140" y="2758721"/>
            <a:ext cx="393294" cy="260182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 µF 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550422C3-3DEB-4EE0-A0C3-3E7D6196C16A}"/>
              </a:ext>
            </a:extLst>
          </p:cNvPr>
          <p:cNvSpPr txBox="1"/>
          <p:nvPr/>
        </p:nvSpPr>
        <p:spPr>
          <a:xfrm>
            <a:off x="3057009" y="2796479"/>
            <a:ext cx="1145494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Capacitor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6017F6E4-7DF0-4A00-AAA7-A280C4BF9FC0}"/>
              </a:ext>
            </a:extLst>
          </p:cNvPr>
          <p:cNvSpPr/>
          <p:nvPr/>
        </p:nvSpPr>
        <p:spPr>
          <a:xfrm>
            <a:off x="2434920" y="1827647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C651FA6-9769-4321-8049-C8B704A17B9C}"/>
              </a:ext>
            </a:extLst>
          </p:cNvPr>
          <p:cNvSpPr/>
          <p:nvPr/>
        </p:nvSpPr>
        <p:spPr>
          <a:xfrm>
            <a:off x="2443388" y="2053705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C094FD1D-4A3F-4449-A4D6-B45618614EFF}"/>
              </a:ext>
            </a:extLst>
          </p:cNvPr>
          <p:cNvSpPr/>
          <p:nvPr/>
        </p:nvSpPr>
        <p:spPr>
          <a:xfrm>
            <a:off x="2443387" y="2303599"/>
            <a:ext cx="149251" cy="1385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graphicFrame>
        <p:nvGraphicFramePr>
          <p:cNvPr id="18" name="Tabelle 6">
            <a:extLst>
              <a:ext uri="{FF2B5EF4-FFF2-40B4-BE49-F238E27FC236}">
                <a16:creationId xmlns:a16="http://schemas.microsoft.com/office/drawing/2014/main" id="{91F9933C-400C-4E20-ABEE-5C99AF7400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9986659"/>
              </p:ext>
            </p:extLst>
          </p:nvPr>
        </p:nvGraphicFramePr>
        <p:xfrm>
          <a:off x="1428860" y="380245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86026263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7584585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2729474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444156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USB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Ardino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Kabelfarbe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45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schwarz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094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VBUS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418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weiß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4888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gelb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832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50913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feld 10">
            <a:extLst>
              <a:ext uri="{FF2B5EF4-FFF2-40B4-BE49-F238E27FC236}">
                <a16:creationId xmlns:a16="http://schemas.microsoft.com/office/drawing/2014/main" id="{56DC88D4-CE4D-45AF-8C76-D38E7B37FDC4}"/>
              </a:ext>
            </a:extLst>
          </p:cNvPr>
          <p:cNvSpPr txBox="1"/>
          <p:nvPr/>
        </p:nvSpPr>
        <p:spPr>
          <a:xfrm>
            <a:off x="1906845" y="1548846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A5DFFB1-12E2-40C7-BCB4-E7E8E3CC8C65}"/>
              </a:ext>
            </a:extLst>
          </p:cNvPr>
          <p:cNvSpPr/>
          <p:nvPr/>
        </p:nvSpPr>
        <p:spPr>
          <a:xfrm>
            <a:off x="3686322" y="1524215"/>
            <a:ext cx="6400362" cy="4756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I2C Sockets Board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DA618160-B645-4880-8C62-124AE0484CD2}"/>
              </a:ext>
            </a:extLst>
          </p:cNvPr>
          <p:cNvSpPr/>
          <p:nvPr/>
        </p:nvSpPr>
        <p:spPr>
          <a:xfrm>
            <a:off x="3822720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F456F1E-9DB0-4032-AE29-389468E87743}"/>
              </a:ext>
            </a:extLst>
          </p:cNvPr>
          <p:cNvSpPr/>
          <p:nvPr/>
        </p:nvSpPr>
        <p:spPr>
          <a:xfrm>
            <a:off x="4988723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B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4EF28E1-E101-417E-9F93-1C3763EE9F1E}"/>
              </a:ext>
            </a:extLst>
          </p:cNvPr>
          <p:cNvSpPr/>
          <p:nvPr/>
        </p:nvSpPr>
        <p:spPr>
          <a:xfrm>
            <a:off x="7666555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C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040896B2-28E3-4E51-BC38-4B82A4E22D10}"/>
              </a:ext>
            </a:extLst>
          </p:cNvPr>
          <p:cNvSpPr/>
          <p:nvPr/>
        </p:nvSpPr>
        <p:spPr>
          <a:xfrm>
            <a:off x="8836382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D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15541076-C957-4821-A4AA-5329A39729AA}"/>
              </a:ext>
            </a:extLst>
          </p:cNvPr>
          <p:cNvSpPr/>
          <p:nvPr/>
        </p:nvSpPr>
        <p:spPr>
          <a:xfrm>
            <a:off x="1714770" y="3707824"/>
            <a:ext cx="8371914" cy="223577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40BF01E-2DCA-4E73-A232-D120912B12CF}"/>
              </a:ext>
            </a:extLst>
          </p:cNvPr>
          <p:cNvSpPr/>
          <p:nvPr/>
        </p:nvSpPr>
        <p:spPr>
          <a:xfrm>
            <a:off x="6881438" y="4398673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0174C8A6-F452-45A0-922C-D2322AA080F4}"/>
              </a:ext>
            </a:extLst>
          </p:cNvPr>
          <p:cNvSpPr txBox="1"/>
          <p:nvPr/>
        </p:nvSpPr>
        <p:spPr>
          <a:xfrm>
            <a:off x="1826223" y="3866219"/>
            <a:ext cx="1629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General Gadget Board</a:t>
            </a: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58C83A44-09D3-415C-86FB-BBDA5121B123}"/>
              </a:ext>
            </a:extLst>
          </p:cNvPr>
          <p:cNvSpPr/>
          <p:nvPr/>
        </p:nvSpPr>
        <p:spPr>
          <a:xfrm>
            <a:off x="8681491" y="4245586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ECC7F473-BB48-4E87-81C9-89B8357E0734}"/>
              </a:ext>
            </a:extLst>
          </p:cNvPr>
          <p:cNvSpPr/>
          <p:nvPr/>
        </p:nvSpPr>
        <p:spPr>
          <a:xfrm>
            <a:off x="8195665" y="275171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07C487F2-F593-46C4-B533-F9B43CDC73B8}"/>
              </a:ext>
            </a:extLst>
          </p:cNvPr>
          <p:cNvCxnSpPr>
            <a:cxnSpLocks/>
            <a:stCxn id="53" idx="2"/>
            <a:endCxn id="50" idx="0"/>
          </p:cNvCxnSpPr>
          <p:nvPr/>
        </p:nvCxnSpPr>
        <p:spPr>
          <a:xfrm>
            <a:off x="8807807" y="3348345"/>
            <a:ext cx="9255" cy="89724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hteck 56">
            <a:extLst>
              <a:ext uri="{FF2B5EF4-FFF2-40B4-BE49-F238E27FC236}">
                <a16:creationId xmlns:a16="http://schemas.microsoft.com/office/drawing/2014/main" id="{22549A2D-87A2-4E92-9A9A-FC9B5FBEE3A6}"/>
              </a:ext>
            </a:extLst>
          </p:cNvPr>
          <p:cNvSpPr/>
          <p:nvPr/>
        </p:nvSpPr>
        <p:spPr>
          <a:xfrm>
            <a:off x="3755990" y="275171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7496F8F8-C29E-4701-9FF4-70C0B8AFCAD7}"/>
              </a:ext>
            </a:extLst>
          </p:cNvPr>
          <p:cNvCxnSpPr>
            <a:cxnSpLocks/>
            <a:stCxn id="37" idx="2"/>
            <a:endCxn id="57" idx="0"/>
          </p:cNvCxnSpPr>
          <p:nvPr/>
        </p:nvCxnSpPr>
        <p:spPr>
          <a:xfrm>
            <a:off x="4368132" y="2243416"/>
            <a:ext cx="0" cy="50829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25">
            <a:extLst>
              <a:ext uri="{FF2B5EF4-FFF2-40B4-BE49-F238E27FC236}">
                <a16:creationId xmlns:a16="http://schemas.microsoft.com/office/drawing/2014/main" id="{4BD1B8E9-F92D-4CA1-95BD-D3FDDCA6737E}"/>
              </a:ext>
            </a:extLst>
          </p:cNvPr>
          <p:cNvCxnSpPr>
            <a:cxnSpLocks/>
            <a:stCxn id="64" idx="2"/>
            <a:endCxn id="62" idx="0"/>
          </p:cNvCxnSpPr>
          <p:nvPr/>
        </p:nvCxnSpPr>
        <p:spPr>
          <a:xfrm rot="16200000" flipH="1">
            <a:off x="6001924" y="2362229"/>
            <a:ext cx="699345" cy="3067368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144">
            <a:extLst>
              <a:ext uri="{FF2B5EF4-FFF2-40B4-BE49-F238E27FC236}">
                <a16:creationId xmlns:a16="http://schemas.microsoft.com/office/drawing/2014/main" id="{EE51453A-DFEA-4EB9-87F2-B4E26FAA40DC}"/>
              </a:ext>
            </a:extLst>
          </p:cNvPr>
          <p:cNvCxnSpPr>
            <a:cxnSpLocks/>
            <a:stCxn id="61" idx="0"/>
            <a:endCxn id="63" idx="2"/>
          </p:cNvCxnSpPr>
          <p:nvPr/>
        </p:nvCxnSpPr>
        <p:spPr>
          <a:xfrm rot="16200000" flipV="1">
            <a:off x="5645106" y="2423483"/>
            <a:ext cx="690849" cy="2936366"/>
          </a:xfrm>
          <a:prstGeom prst="bentConnector3">
            <a:avLst>
              <a:gd name="adj1" fmla="val 21046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2F5168E0-AB4F-4916-A84E-851F1FE537D2}"/>
              </a:ext>
            </a:extLst>
          </p:cNvPr>
          <p:cNvSpPr txBox="1"/>
          <p:nvPr/>
        </p:nvSpPr>
        <p:spPr>
          <a:xfrm>
            <a:off x="7384975" y="423709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EE2449FA-AF1F-4A81-BC06-8CA2B156DDC8}"/>
              </a:ext>
            </a:extLst>
          </p:cNvPr>
          <p:cNvSpPr txBox="1"/>
          <p:nvPr/>
        </p:nvSpPr>
        <p:spPr>
          <a:xfrm>
            <a:off x="7811542" y="4245586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FA1E916C-83F4-4294-82C9-19AB781C3A7B}"/>
              </a:ext>
            </a:extLst>
          </p:cNvPr>
          <p:cNvSpPr txBox="1"/>
          <p:nvPr/>
        </p:nvSpPr>
        <p:spPr>
          <a:xfrm>
            <a:off x="4447005" y="3384658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9664CBA6-EE12-467C-BBAF-83C33CD5BC48}"/>
              </a:ext>
            </a:extLst>
          </p:cNvPr>
          <p:cNvSpPr txBox="1"/>
          <p:nvPr/>
        </p:nvSpPr>
        <p:spPr>
          <a:xfrm>
            <a:off x="4755394" y="3384658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6AE57407-BB77-4F82-BB74-051727B81BB6}"/>
              </a:ext>
            </a:extLst>
          </p:cNvPr>
          <p:cNvSpPr txBox="1"/>
          <p:nvPr/>
        </p:nvSpPr>
        <p:spPr>
          <a:xfrm>
            <a:off x="4034421" y="338465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9E22AFBC-053F-4454-9533-8080405529D3}"/>
              </a:ext>
            </a:extLst>
          </p:cNvPr>
          <p:cNvSpPr txBox="1"/>
          <p:nvPr/>
        </p:nvSpPr>
        <p:spPr>
          <a:xfrm>
            <a:off x="3799771" y="3384658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8E4803F8-8375-41E8-9F26-3C269B2658EB}"/>
              </a:ext>
            </a:extLst>
          </p:cNvPr>
          <p:cNvSpPr txBox="1"/>
          <p:nvPr/>
        </p:nvSpPr>
        <p:spPr>
          <a:xfrm>
            <a:off x="6649194" y="465940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ED310A7-CC75-43D4-8697-2E524F283436}"/>
              </a:ext>
            </a:extLst>
          </p:cNvPr>
          <p:cNvSpPr txBox="1"/>
          <p:nvPr/>
        </p:nvSpPr>
        <p:spPr>
          <a:xfrm>
            <a:off x="6594691" y="443498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69" name="Gerader Verbinder 144">
            <a:extLst>
              <a:ext uri="{FF2B5EF4-FFF2-40B4-BE49-F238E27FC236}">
                <a16:creationId xmlns:a16="http://schemas.microsoft.com/office/drawing/2014/main" id="{A2FCE0FD-763F-48B9-A30D-C8C576ACFA05}"/>
              </a:ext>
            </a:extLst>
          </p:cNvPr>
          <p:cNvCxnSpPr>
            <a:cxnSpLocks/>
            <a:stCxn id="67" idx="1"/>
            <a:endCxn id="66" idx="2"/>
          </p:cNvCxnSpPr>
          <p:nvPr/>
        </p:nvCxnSpPr>
        <p:spPr>
          <a:xfrm rot="10800000">
            <a:off x="3838244" y="3546242"/>
            <a:ext cx="2810951" cy="119395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144">
            <a:extLst>
              <a:ext uri="{FF2B5EF4-FFF2-40B4-BE49-F238E27FC236}">
                <a16:creationId xmlns:a16="http://schemas.microsoft.com/office/drawing/2014/main" id="{5CFD8E38-D655-4F0B-8C80-B16737427665}"/>
              </a:ext>
            </a:extLst>
          </p:cNvPr>
          <p:cNvCxnSpPr>
            <a:cxnSpLocks/>
            <a:stCxn id="68" idx="1"/>
            <a:endCxn id="65" idx="2"/>
          </p:cNvCxnSpPr>
          <p:nvPr/>
        </p:nvCxnSpPr>
        <p:spPr>
          <a:xfrm rot="10800000">
            <a:off x="4161861" y="3546241"/>
            <a:ext cx="2432831" cy="96953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hteck 70">
            <a:extLst>
              <a:ext uri="{FF2B5EF4-FFF2-40B4-BE49-F238E27FC236}">
                <a16:creationId xmlns:a16="http://schemas.microsoft.com/office/drawing/2014/main" id="{C85F59A0-9865-46A3-A3D7-2CC035447306}"/>
              </a:ext>
            </a:extLst>
          </p:cNvPr>
          <p:cNvSpPr/>
          <p:nvPr/>
        </p:nvSpPr>
        <p:spPr>
          <a:xfrm>
            <a:off x="3301022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48A0DF21-A8D5-4153-A5A7-FEB9C5D358B3}"/>
              </a:ext>
            </a:extLst>
          </p:cNvPr>
          <p:cNvSpPr/>
          <p:nvPr/>
        </p:nvSpPr>
        <p:spPr>
          <a:xfrm>
            <a:off x="4804529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1A5DCC2-244B-41DD-B002-2E7FB2D50244}"/>
              </a:ext>
            </a:extLst>
          </p:cNvPr>
          <p:cNvSpPr/>
          <p:nvPr/>
        </p:nvSpPr>
        <p:spPr>
          <a:xfrm>
            <a:off x="6308036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15E3F546-3073-4295-ACA2-F6944308CAD1}"/>
              </a:ext>
            </a:extLst>
          </p:cNvPr>
          <p:cNvSpPr/>
          <p:nvPr/>
        </p:nvSpPr>
        <p:spPr>
          <a:xfrm>
            <a:off x="7811542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9FA0F46-CE89-441C-AC20-A5BCDEBF6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Standard Layout Gadget</a:t>
            </a:r>
          </a:p>
        </p:txBody>
      </p:sp>
    </p:spTree>
    <p:extLst>
      <p:ext uri="{BB962C8B-B14F-4D97-AF65-F5344CB8AC3E}">
        <p14:creationId xmlns:p14="http://schemas.microsoft.com/office/powerpoint/2010/main" val="23333066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2AFF1D4-12E6-4FD3-B25F-7F37A39C2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</p:spTree>
    <p:extLst>
      <p:ext uri="{BB962C8B-B14F-4D97-AF65-F5344CB8AC3E}">
        <p14:creationId xmlns:p14="http://schemas.microsoft.com/office/powerpoint/2010/main" val="41321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8CA5A1-FDEC-4AA5-A915-5C084FFB3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4C4D07E-1E33-418F-880A-0561F0138921}"/>
              </a:ext>
            </a:extLst>
          </p:cNvPr>
          <p:cNvSpPr/>
          <p:nvPr/>
        </p:nvSpPr>
        <p:spPr>
          <a:xfrm>
            <a:off x="2457597" y="1076069"/>
            <a:ext cx="6400362" cy="159349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>
                <a:solidFill>
                  <a:schemeClr val="tx1"/>
                </a:solidFill>
              </a:rPr>
              <a:t>Activity Bus Board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5FA3861-80B6-4E72-9508-E7E99E07D2FB}"/>
              </a:ext>
            </a:extLst>
          </p:cNvPr>
          <p:cNvSpPr/>
          <p:nvPr/>
        </p:nvSpPr>
        <p:spPr>
          <a:xfrm>
            <a:off x="2593995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01C75CC-67F1-446F-8A7E-774F4A908BCC}"/>
              </a:ext>
            </a:extLst>
          </p:cNvPr>
          <p:cNvSpPr/>
          <p:nvPr/>
        </p:nvSpPr>
        <p:spPr>
          <a:xfrm>
            <a:off x="3759998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n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D1A788B-C2C7-4199-A6F0-DF4601FA77A6}"/>
              </a:ext>
            </a:extLst>
          </p:cNvPr>
          <p:cNvSpPr/>
          <p:nvPr/>
        </p:nvSpPr>
        <p:spPr>
          <a:xfrm>
            <a:off x="6437830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84B6995-BA36-4B40-9F2C-4D219C497BCB}"/>
              </a:ext>
            </a:extLst>
          </p:cNvPr>
          <p:cNvSpPr/>
          <p:nvPr/>
        </p:nvSpPr>
        <p:spPr>
          <a:xfrm>
            <a:off x="7607657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n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A1A33BA3-FA79-437E-8128-A977F658D65A}"/>
              </a:ext>
            </a:extLst>
          </p:cNvPr>
          <p:cNvCxnSpPr>
            <a:cxnSpLocks/>
            <a:stCxn id="7" idx="1"/>
            <a:endCxn id="7" idx="3"/>
          </p:cNvCxnSpPr>
          <p:nvPr/>
        </p:nvCxnSpPr>
        <p:spPr>
          <a:xfrm>
            <a:off x="2457597" y="1872818"/>
            <a:ext cx="6400362" cy="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011D16FD-32DA-40AC-AFDA-F82CA2513116}"/>
              </a:ext>
            </a:extLst>
          </p:cNvPr>
          <p:cNvSpPr/>
          <p:nvPr/>
        </p:nvSpPr>
        <p:spPr>
          <a:xfrm>
            <a:off x="2593995" y="83254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941DB21-742E-4FB6-8056-B4F9FE60A455}"/>
              </a:ext>
            </a:extLst>
          </p:cNvPr>
          <p:cNvSpPr/>
          <p:nvPr/>
        </p:nvSpPr>
        <p:spPr>
          <a:xfrm>
            <a:off x="7110955" y="603934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Gadget</a:t>
            </a:r>
            <a:br>
              <a:rPr lang="de-DE" sz="1050"/>
            </a:br>
            <a:r>
              <a:rPr lang="de-DE" sz="1050"/>
              <a:t>Selector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15859AF6-1AB6-475A-92EC-2B180162A53B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3139407" y="1321434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5BC6371A-36CA-4DB7-ACC0-FEFDE0CB04A4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3139407" y="1872818"/>
            <a:ext cx="0" cy="551385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1C1802A4-667C-4C52-A8B1-9A1B6A0DDB9D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4305410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B58F0E2-3314-417D-AC47-F975254E09AB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6983242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488D5FD-EBAF-46FE-BAF1-496EF7A0F3C0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153069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369D7C0-E8FC-4150-8BE8-E95626008F72}"/>
              </a:ext>
            </a:extLst>
          </p:cNvPr>
          <p:cNvCxnSpPr>
            <a:cxnSpLocks/>
            <a:stCxn id="19" idx="5"/>
          </p:cNvCxnSpPr>
          <p:nvPr/>
        </p:nvCxnSpPr>
        <p:spPr>
          <a:xfrm>
            <a:off x="7891444" y="1384423"/>
            <a:ext cx="0" cy="10397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3BCA9EB5-073D-4C00-A3D3-58200244119E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7244866" y="1384423"/>
            <a:ext cx="0" cy="10397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0EAF6442-338F-452C-97CD-3EB9D56541BA}"/>
              </a:ext>
            </a:extLst>
          </p:cNvPr>
          <p:cNvCxnSpPr>
            <a:cxnSpLocks/>
            <a:stCxn id="19" idx="4"/>
          </p:cNvCxnSpPr>
          <p:nvPr/>
        </p:nvCxnSpPr>
        <p:spPr>
          <a:xfrm>
            <a:off x="7568155" y="1518334"/>
            <a:ext cx="0" cy="3544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E23C0B0F-ECEA-4BB4-9CC1-3C6B8AB90B2B}"/>
              </a:ext>
            </a:extLst>
          </p:cNvPr>
          <p:cNvSpPr txBox="1"/>
          <p:nvPr/>
        </p:nvSpPr>
        <p:spPr>
          <a:xfrm>
            <a:off x="4214649" y="3410403"/>
            <a:ext cx="28963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1200" b="1"/>
            </a:lvl1pPr>
          </a:lstStyle>
          <a:p>
            <a:r>
              <a:rPr lang="de-DE"/>
              <a:t>2 Pull-Up-Widerstände am Master Module</a:t>
            </a:r>
            <a:br>
              <a:rPr lang="de-DE" b="0"/>
            </a:br>
            <a:endParaRPr lang="de-DE" b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5 kΩ (normalerweise 2,2 - 4,7 kΩ)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SDA nach VCC und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SCL nach VCC</a:t>
            </a:r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C91ED80C-6E05-40E4-BE64-7BE4F17157F5}"/>
              </a:ext>
            </a:extLst>
          </p:cNvPr>
          <p:cNvSpPr/>
          <p:nvPr/>
        </p:nvSpPr>
        <p:spPr>
          <a:xfrm>
            <a:off x="5561636" y="2040098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0" name="Gerader Verbinder 161">
            <a:extLst>
              <a:ext uri="{FF2B5EF4-FFF2-40B4-BE49-F238E27FC236}">
                <a16:creationId xmlns:a16="http://schemas.microsoft.com/office/drawing/2014/main" id="{AF9B32C6-9131-460B-BE32-D1CF4E204833}"/>
              </a:ext>
            </a:extLst>
          </p:cNvPr>
          <p:cNvCxnSpPr>
            <a:cxnSpLocks/>
            <a:endCxn id="49" idx="6"/>
          </p:cNvCxnSpPr>
          <p:nvPr/>
        </p:nvCxnSpPr>
        <p:spPr>
          <a:xfrm rot="5400000">
            <a:off x="5801549" y="1986978"/>
            <a:ext cx="226492" cy="13081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161">
            <a:extLst>
              <a:ext uri="{FF2B5EF4-FFF2-40B4-BE49-F238E27FC236}">
                <a16:creationId xmlns:a16="http://schemas.microsoft.com/office/drawing/2014/main" id="{829BF0B9-10AF-430C-BEEB-865E5EFAD9BA}"/>
              </a:ext>
            </a:extLst>
          </p:cNvPr>
          <p:cNvCxnSpPr>
            <a:cxnSpLocks/>
            <a:endCxn id="49" idx="2"/>
          </p:cNvCxnSpPr>
          <p:nvPr/>
        </p:nvCxnSpPr>
        <p:spPr>
          <a:xfrm rot="16200000" flipH="1">
            <a:off x="5374064" y="1978058"/>
            <a:ext cx="226492" cy="14865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Ellipse 55">
            <a:extLst>
              <a:ext uri="{FF2B5EF4-FFF2-40B4-BE49-F238E27FC236}">
                <a16:creationId xmlns:a16="http://schemas.microsoft.com/office/drawing/2014/main" id="{C8A708BD-4F03-4830-9A9F-63F9701B791E}"/>
              </a:ext>
            </a:extLst>
          </p:cNvPr>
          <p:cNvSpPr/>
          <p:nvPr/>
        </p:nvSpPr>
        <p:spPr>
          <a:xfrm>
            <a:off x="5554192" y="2374514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7" name="Gerader Verbinder 161">
            <a:extLst>
              <a:ext uri="{FF2B5EF4-FFF2-40B4-BE49-F238E27FC236}">
                <a16:creationId xmlns:a16="http://schemas.microsoft.com/office/drawing/2014/main" id="{6D98E9CF-C62C-4DD3-B6AE-2D942DA77FFD}"/>
              </a:ext>
            </a:extLst>
          </p:cNvPr>
          <p:cNvCxnSpPr>
            <a:cxnSpLocks/>
            <a:endCxn id="56" idx="6"/>
          </p:cNvCxnSpPr>
          <p:nvPr/>
        </p:nvCxnSpPr>
        <p:spPr>
          <a:xfrm rot="5400000">
            <a:off x="5740587" y="1962280"/>
            <a:ext cx="639125" cy="43640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161">
            <a:extLst>
              <a:ext uri="{FF2B5EF4-FFF2-40B4-BE49-F238E27FC236}">
                <a16:creationId xmlns:a16="http://schemas.microsoft.com/office/drawing/2014/main" id="{9635CB95-D4CD-4D81-8680-3BF25DEB7B48}"/>
              </a:ext>
            </a:extLst>
          </p:cNvPr>
          <p:cNvCxnSpPr>
            <a:cxnSpLocks/>
            <a:endCxn id="56" idx="2"/>
          </p:cNvCxnSpPr>
          <p:nvPr/>
        </p:nvCxnSpPr>
        <p:spPr>
          <a:xfrm rot="16200000" flipH="1">
            <a:off x="5051636" y="1997490"/>
            <a:ext cx="630298" cy="37481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4721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D6A14C-B222-4818-A503-8BEE7F143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Connecting Periphericals and Gadgets via Activity Bus Board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2BC2D04-609E-451E-9385-5DC494AFC873}"/>
              </a:ext>
            </a:extLst>
          </p:cNvPr>
          <p:cNvGrpSpPr/>
          <p:nvPr/>
        </p:nvGrpSpPr>
        <p:grpSpPr>
          <a:xfrm>
            <a:off x="4621167" y="905934"/>
            <a:ext cx="3125832" cy="1116512"/>
            <a:chOff x="4680436" y="905934"/>
            <a:chExt cx="3125832" cy="1116512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A893E31B-2581-462F-9507-9763FDFBBF39}"/>
                </a:ext>
              </a:extLst>
            </p:cNvPr>
            <p:cNvSpPr/>
            <p:nvPr/>
          </p:nvSpPr>
          <p:spPr>
            <a:xfrm>
              <a:off x="4680436" y="905934"/>
              <a:ext cx="3125832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de-DE" sz="1600"/>
                <a:t>Activity Bus Board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EF1D7014-F52D-4447-B71B-704EFF56B3FB}"/>
                </a:ext>
              </a:extLst>
            </p:cNvPr>
            <p:cNvSpPr/>
            <p:nvPr/>
          </p:nvSpPr>
          <p:spPr>
            <a:xfrm>
              <a:off x="4876800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C61CFCC6-EE5B-4132-BE64-6A7D2DE55996}"/>
                </a:ext>
              </a:extLst>
            </p:cNvPr>
            <p:cNvSpPr/>
            <p:nvPr/>
          </p:nvSpPr>
          <p:spPr>
            <a:xfrm>
              <a:off x="5435599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2A4CB386-A532-4E33-BA60-AF19F5D6640F}"/>
                </a:ext>
              </a:extLst>
            </p:cNvPr>
            <p:cNvSpPr/>
            <p:nvPr/>
          </p:nvSpPr>
          <p:spPr>
            <a:xfrm>
              <a:off x="5994398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6C595145-DD5C-4AA2-BD31-953CE2D30301}"/>
                </a:ext>
              </a:extLst>
            </p:cNvPr>
            <p:cNvSpPr/>
            <p:nvPr/>
          </p:nvSpPr>
          <p:spPr>
            <a:xfrm>
              <a:off x="6559546" y="1605407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98AD7E23-9E98-43DF-B25A-24FD2796FB91}"/>
                </a:ext>
              </a:extLst>
            </p:cNvPr>
            <p:cNvSpPr/>
            <p:nvPr/>
          </p:nvSpPr>
          <p:spPr>
            <a:xfrm>
              <a:off x="7118345" y="1603235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D7FA56D4-AC53-4E43-9BB5-CD7E1532ABC2}"/>
              </a:ext>
            </a:extLst>
          </p:cNvPr>
          <p:cNvGrpSpPr/>
          <p:nvPr/>
        </p:nvGrpSpPr>
        <p:grpSpPr>
          <a:xfrm>
            <a:off x="2563769" y="3225800"/>
            <a:ext cx="1110765" cy="1117600"/>
            <a:chOff x="2563769" y="2768600"/>
            <a:chExt cx="1110765" cy="1117600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F1090F83-E92C-4F8B-8C1D-ACC4CC0D4452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1</a:t>
              </a: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3AFC654-D1A0-4B4F-8363-741F50B131BC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13" name="Verbinder: gewinkelt 12">
            <a:extLst>
              <a:ext uri="{FF2B5EF4-FFF2-40B4-BE49-F238E27FC236}">
                <a16:creationId xmlns:a16="http://schemas.microsoft.com/office/drawing/2014/main" id="{2E552BDB-EFBE-4A7C-ACE9-AF28B01BCB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 rot="5400000">
            <a:off x="3487314" y="1654283"/>
            <a:ext cx="1203354" cy="1939680"/>
          </a:xfrm>
          <a:prstGeom prst="bentConnector3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346EBC43-B912-4C48-9763-7CECF214FA30}"/>
              </a:ext>
            </a:extLst>
          </p:cNvPr>
          <p:cNvGrpSpPr/>
          <p:nvPr/>
        </p:nvGrpSpPr>
        <p:grpSpPr>
          <a:xfrm>
            <a:off x="4092615" y="3225800"/>
            <a:ext cx="1110765" cy="1117600"/>
            <a:chOff x="2563769" y="2768600"/>
            <a:chExt cx="1110765" cy="1117600"/>
          </a:xfrm>
        </p:grpSpPr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87321528-AFD4-4F5C-B73B-390D8B42615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…</a:t>
              </a:r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15C3ACA8-D6CD-445F-934A-C34A5CC118F9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4FA151D-5C2D-4DA7-978F-BB695ADBD3F8}"/>
              </a:ext>
            </a:extLst>
          </p:cNvPr>
          <p:cNvGrpSpPr/>
          <p:nvPr/>
        </p:nvGrpSpPr>
        <p:grpSpPr>
          <a:xfrm>
            <a:off x="5621461" y="3225800"/>
            <a:ext cx="1110765" cy="1117600"/>
            <a:chOff x="2563769" y="2768600"/>
            <a:chExt cx="1110765" cy="1117600"/>
          </a:xfrm>
        </p:grpSpPr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EFC6A8EC-7A82-4A27-884F-906330410599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…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27AD8E3E-CC5A-455A-A102-EA7FB7E783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759F7920-453D-4A30-903D-5B47610F5DEA}"/>
              </a:ext>
            </a:extLst>
          </p:cNvPr>
          <p:cNvGrpSpPr/>
          <p:nvPr/>
        </p:nvGrpSpPr>
        <p:grpSpPr>
          <a:xfrm>
            <a:off x="7150307" y="3225800"/>
            <a:ext cx="1110765" cy="1117600"/>
            <a:chOff x="2563769" y="2768600"/>
            <a:chExt cx="1110765" cy="1117600"/>
          </a:xfrm>
        </p:grpSpPr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194CBD79-7646-4921-BDE0-4C2136F822AD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1</a:t>
              </a: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FB8E5F0C-2F40-4A1A-BF20-078EBB12C440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7F6C3214-DF8C-4984-B704-36159DE76B83}"/>
              </a:ext>
            </a:extLst>
          </p:cNvPr>
          <p:cNvGrpSpPr/>
          <p:nvPr/>
        </p:nvGrpSpPr>
        <p:grpSpPr>
          <a:xfrm>
            <a:off x="8679151" y="3225800"/>
            <a:ext cx="1110765" cy="1117600"/>
            <a:chOff x="2563769" y="2768600"/>
            <a:chExt cx="1110765" cy="1117600"/>
          </a:xfrm>
        </p:grpSpPr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62F2E997-DB0B-4527-BD0F-AA1F61DCE8B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…</a:t>
              </a:r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7FC7F559-B750-4253-A876-301E4388AA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EBD53AC9-5568-4967-B7BD-1A477558A7D1}"/>
              </a:ext>
            </a:extLst>
          </p:cNvPr>
          <p:cNvCxnSpPr>
            <a:cxnSpLocks/>
            <a:stCxn id="6" idx="2"/>
            <a:endCxn id="18" idx="0"/>
          </p:cNvCxnSpPr>
          <p:nvPr/>
        </p:nvCxnSpPr>
        <p:spPr>
          <a:xfrm rot="5400000">
            <a:off x="4531137" y="2139307"/>
            <a:ext cx="1203354" cy="969633"/>
          </a:xfrm>
          <a:prstGeom prst="bentConnector3">
            <a:avLst>
              <a:gd name="adj1" fmla="val 75329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3A4473B9-3DDD-4E3F-906D-0DDE99A17845}"/>
              </a:ext>
            </a:extLst>
          </p:cNvPr>
          <p:cNvCxnSpPr>
            <a:cxnSpLocks/>
            <a:stCxn id="7" idx="2"/>
            <a:endCxn id="21" idx="0"/>
          </p:cNvCxnSpPr>
          <p:nvPr/>
        </p:nvCxnSpPr>
        <p:spPr>
          <a:xfrm rot="16200000" flipH="1">
            <a:off x="5574959" y="2623916"/>
            <a:ext cx="1203354" cy="414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Verbinder: gewinkelt 32">
            <a:extLst>
              <a:ext uri="{FF2B5EF4-FFF2-40B4-BE49-F238E27FC236}">
                <a16:creationId xmlns:a16="http://schemas.microsoft.com/office/drawing/2014/main" id="{8C8AE359-0C4B-4400-9D43-1E477EB65048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 rot="16200000" flipH="1">
            <a:off x="6616637" y="2136747"/>
            <a:ext cx="1213993" cy="964112"/>
          </a:xfrm>
          <a:prstGeom prst="bentConnector3">
            <a:avLst>
              <a:gd name="adj1" fmla="val 76502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0B2B0859-0F09-49D8-A189-8F15EBD944A5}"/>
              </a:ext>
            </a:extLst>
          </p:cNvPr>
          <p:cNvCxnSpPr>
            <a:cxnSpLocks/>
            <a:stCxn id="9" idx="2"/>
            <a:endCxn id="27" idx="0"/>
          </p:cNvCxnSpPr>
          <p:nvPr/>
        </p:nvCxnSpPr>
        <p:spPr>
          <a:xfrm rot="16200000" flipH="1">
            <a:off x="7659372" y="1650638"/>
            <a:ext cx="1216165" cy="1934157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BCD8B910-404C-4088-86E0-7BD39B008DCA}"/>
              </a:ext>
            </a:extLst>
          </p:cNvPr>
          <p:cNvSpPr txBox="1"/>
          <p:nvPr/>
        </p:nvSpPr>
        <p:spPr>
          <a:xfrm>
            <a:off x="652018" y="1372659"/>
            <a:ext cx="16133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</p:spTree>
    <p:extLst>
      <p:ext uri="{BB962C8B-B14F-4D97-AF65-F5344CB8AC3E}">
        <p14:creationId xmlns:p14="http://schemas.microsoft.com/office/powerpoint/2010/main" val="3295244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A2FB788-04CB-4FCB-8DD6-D7FA734CF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</p:spTree>
    <p:extLst>
      <p:ext uri="{BB962C8B-B14F-4D97-AF65-F5344CB8AC3E}">
        <p14:creationId xmlns:p14="http://schemas.microsoft.com/office/powerpoint/2010/main" val="3779349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Rechteck 206">
            <a:extLst>
              <a:ext uri="{FF2B5EF4-FFF2-40B4-BE49-F238E27FC236}">
                <a16:creationId xmlns:a16="http://schemas.microsoft.com/office/drawing/2014/main" id="{5A86CB1C-6A1D-4B16-8523-DFF366D356DE}"/>
              </a:ext>
            </a:extLst>
          </p:cNvPr>
          <p:cNvSpPr/>
          <p:nvPr/>
        </p:nvSpPr>
        <p:spPr>
          <a:xfrm>
            <a:off x="2633908" y="2269821"/>
            <a:ext cx="6333964" cy="18183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700B96D-6796-4707-AC8A-625251ABD0E3}"/>
              </a:ext>
            </a:extLst>
          </p:cNvPr>
          <p:cNvSpPr/>
          <p:nvPr/>
        </p:nvSpPr>
        <p:spPr>
          <a:xfrm>
            <a:off x="3695700" y="2756722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TP4056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Charging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6D6CD16-1D3A-4E00-BC98-61C8A2B03627}"/>
              </a:ext>
            </a:extLst>
          </p:cNvPr>
          <p:cNvSpPr txBox="1"/>
          <p:nvPr/>
        </p:nvSpPr>
        <p:spPr>
          <a:xfrm>
            <a:off x="4949980" y="2809913"/>
            <a:ext cx="506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3CB30E9-0069-4ABA-ACFE-5A8B9B29379A}"/>
              </a:ext>
            </a:extLst>
          </p:cNvPr>
          <p:cNvSpPr txBox="1"/>
          <p:nvPr/>
        </p:nvSpPr>
        <p:spPr>
          <a:xfrm>
            <a:off x="4963606" y="3086310"/>
            <a:ext cx="47961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1D93A1A9-C472-441E-A14A-46BAF65605ED}"/>
              </a:ext>
            </a:extLst>
          </p:cNvPr>
          <p:cNvSpPr txBox="1"/>
          <p:nvPr/>
        </p:nvSpPr>
        <p:spPr>
          <a:xfrm>
            <a:off x="4126498" y="3344641"/>
            <a:ext cx="14106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B+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F6176B5B-1F40-41FA-8300-3DD350D88359}"/>
              </a:ext>
            </a:extLst>
          </p:cNvPr>
          <p:cNvSpPr txBox="1"/>
          <p:nvPr/>
        </p:nvSpPr>
        <p:spPr>
          <a:xfrm>
            <a:off x="4315224" y="3344641"/>
            <a:ext cx="11541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B-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B8E86E4-5C5C-4038-8BB1-A691F34AAEA3}"/>
              </a:ext>
            </a:extLst>
          </p:cNvPr>
          <p:cNvSpPr/>
          <p:nvPr/>
        </p:nvSpPr>
        <p:spPr>
          <a:xfrm>
            <a:off x="1132677" y="4168757"/>
            <a:ext cx="1353347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Battery Pack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3,7 V – 5200 mAh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277E3205-AB71-4BBF-A0CD-0D434071755D}"/>
              </a:ext>
            </a:extLst>
          </p:cNvPr>
          <p:cNvSpPr txBox="1"/>
          <p:nvPr/>
        </p:nvSpPr>
        <p:spPr>
          <a:xfrm>
            <a:off x="2454937" y="4164092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95DB3F22-5FEE-4C65-9A9D-F352E43AB019}"/>
              </a:ext>
            </a:extLst>
          </p:cNvPr>
          <p:cNvSpPr txBox="1"/>
          <p:nvPr/>
        </p:nvSpPr>
        <p:spPr>
          <a:xfrm>
            <a:off x="2428369" y="4508602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cxnSp>
        <p:nvCxnSpPr>
          <p:cNvPr id="39" name="Verbinder: gewinkelt 294">
            <a:extLst>
              <a:ext uri="{FF2B5EF4-FFF2-40B4-BE49-F238E27FC236}">
                <a16:creationId xmlns:a16="http://schemas.microsoft.com/office/drawing/2014/main" id="{0E4F8F5A-6751-4712-8245-15111CBCD360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4197030" y="3506224"/>
            <a:ext cx="0" cy="423966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Verbinder: gewinkelt 294">
            <a:extLst>
              <a:ext uri="{FF2B5EF4-FFF2-40B4-BE49-F238E27FC236}">
                <a16:creationId xmlns:a16="http://schemas.microsoft.com/office/drawing/2014/main" id="{CA4D2FDF-F2C4-409F-B684-D374C231B93C}"/>
              </a:ext>
            </a:extLst>
          </p:cNvPr>
          <p:cNvCxnSpPr>
            <a:cxnSpLocks/>
            <a:endCxn id="29" idx="2"/>
          </p:cNvCxnSpPr>
          <p:nvPr/>
        </p:nvCxnSpPr>
        <p:spPr>
          <a:xfrm flipH="1" flipV="1">
            <a:off x="4372932" y="3506224"/>
            <a:ext cx="1" cy="434738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159FC8F6-7798-4830-8A73-F26E5546B4F8}"/>
              </a:ext>
            </a:extLst>
          </p:cNvPr>
          <p:cNvSpPr/>
          <p:nvPr/>
        </p:nvSpPr>
        <p:spPr>
          <a:xfrm>
            <a:off x="9021677" y="2960614"/>
            <a:ext cx="1232308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Switch</a:t>
            </a:r>
            <a:br>
              <a:rPr lang="de-DE" sz="1050"/>
            </a:br>
            <a:r>
              <a:rPr lang="de-DE" sz="1050"/>
              <a:t>on / off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43FCFF8C-D0A8-4703-B5F0-B1098396B973}"/>
              </a:ext>
            </a:extLst>
          </p:cNvPr>
          <p:cNvSpPr/>
          <p:nvPr/>
        </p:nvSpPr>
        <p:spPr>
          <a:xfrm>
            <a:off x="7497036" y="2775662"/>
            <a:ext cx="91440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MT3608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Step Up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4AF5C448-EED2-459F-A180-411DCE9285CE}"/>
              </a:ext>
            </a:extLst>
          </p:cNvPr>
          <p:cNvSpPr txBox="1"/>
          <p:nvPr/>
        </p:nvSpPr>
        <p:spPr>
          <a:xfrm>
            <a:off x="7122396" y="3086310"/>
            <a:ext cx="43473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VIN-</a:t>
            </a:r>
          </a:p>
        </p:txBody>
      </p:sp>
      <p:cxnSp>
        <p:nvCxnSpPr>
          <p:cNvPr id="68" name="Verbinder: gewinkelt 294">
            <a:extLst>
              <a:ext uri="{FF2B5EF4-FFF2-40B4-BE49-F238E27FC236}">
                <a16:creationId xmlns:a16="http://schemas.microsoft.com/office/drawing/2014/main" id="{BE086428-B6B3-4BC2-AA20-76874C5DDD54}"/>
              </a:ext>
            </a:extLst>
          </p:cNvPr>
          <p:cNvCxnSpPr>
            <a:cxnSpLocks/>
            <a:stCxn id="63" idx="1"/>
            <a:endCxn id="21" idx="3"/>
          </p:cNvCxnSpPr>
          <p:nvPr/>
        </p:nvCxnSpPr>
        <p:spPr>
          <a:xfrm flipH="1">
            <a:off x="5443224" y="3217115"/>
            <a:ext cx="1679172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90BC1359-DA39-455A-830C-2052465231DB}"/>
              </a:ext>
            </a:extLst>
          </p:cNvPr>
          <p:cNvSpPr txBox="1"/>
          <p:nvPr/>
        </p:nvSpPr>
        <p:spPr>
          <a:xfrm>
            <a:off x="8371697" y="3048361"/>
            <a:ext cx="4619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VIN+</a:t>
            </a:r>
          </a:p>
        </p:txBody>
      </p: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FA0E1C41-AF53-4D7C-8008-674295B65F9B}"/>
              </a:ext>
            </a:extLst>
          </p:cNvPr>
          <p:cNvCxnSpPr>
            <a:cxnSpLocks/>
            <a:endCxn id="87" idx="2"/>
          </p:cNvCxnSpPr>
          <p:nvPr/>
        </p:nvCxnSpPr>
        <p:spPr>
          <a:xfrm flipH="1" flipV="1">
            <a:off x="7879253" y="3544702"/>
            <a:ext cx="1" cy="37920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feld 86">
            <a:extLst>
              <a:ext uri="{FF2B5EF4-FFF2-40B4-BE49-F238E27FC236}">
                <a16:creationId xmlns:a16="http://schemas.microsoft.com/office/drawing/2014/main" id="{1843CE4C-5E99-4059-9F62-0F38BE90A0E4}"/>
              </a:ext>
            </a:extLst>
          </p:cNvPr>
          <p:cNvSpPr txBox="1"/>
          <p:nvPr/>
        </p:nvSpPr>
        <p:spPr>
          <a:xfrm>
            <a:off x="7724563" y="3383119"/>
            <a:ext cx="3093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DFB7C54A-F719-43D1-8B01-40516E8C3584}"/>
              </a:ext>
            </a:extLst>
          </p:cNvPr>
          <p:cNvSpPr txBox="1"/>
          <p:nvPr/>
        </p:nvSpPr>
        <p:spPr>
          <a:xfrm>
            <a:off x="8025441" y="3376491"/>
            <a:ext cx="28373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cxnSp>
        <p:nvCxnSpPr>
          <p:cNvPr id="98" name="Verbinder: gewinkelt 294">
            <a:extLst>
              <a:ext uri="{FF2B5EF4-FFF2-40B4-BE49-F238E27FC236}">
                <a16:creationId xmlns:a16="http://schemas.microsoft.com/office/drawing/2014/main" id="{767E1E8E-E626-4461-BF2E-3F92CE3154A9}"/>
              </a:ext>
            </a:extLst>
          </p:cNvPr>
          <p:cNvCxnSpPr>
            <a:cxnSpLocks/>
            <a:stCxn id="163" idx="1"/>
            <a:endCxn id="208" idx="2"/>
          </p:cNvCxnSpPr>
          <p:nvPr/>
        </p:nvCxnSpPr>
        <p:spPr>
          <a:xfrm rot="10800000">
            <a:off x="7997147" y="4200905"/>
            <a:ext cx="1246269" cy="146721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Rechteck 190">
            <a:extLst>
              <a:ext uri="{FF2B5EF4-FFF2-40B4-BE49-F238E27FC236}">
                <a16:creationId xmlns:a16="http://schemas.microsoft.com/office/drawing/2014/main" id="{E00775A1-31F3-4DD5-B560-7E05E5F4C36B}"/>
              </a:ext>
            </a:extLst>
          </p:cNvPr>
          <p:cNvSpPr/>
          <p:nvPr/>
        </p:nvSpPr>
        <p:spPr>
          <a:xfrm rot="16200000">
            <a:off x="797800" y="2793259"/>
            <a:ext cx="1266390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Charging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99" name="Gerader Verbinder 198">
            <a:extLst>
              <a:ext uri="{FF2B5EF4-FFF2-40B4-BE49-F238E27FC236}">
                <a16:creationId xmlns:a16="http://schemas.microsoft.com/office/drawing/2014/main" id="{15D8B97B-3FC8-44C1-A3A1-653970187007}"/>
              </a:ext>
            </a:extLst>
          </p:cNvPr>
          <p:cNvCxnSpPr>
            <a:cxnSpLocks/>
            <a:stCxn id="191" idx="2"/>
            <a:endCxn id="248" idx="1"/>
          </p:cNvCxnSpPr>
          <p:nvPr/>
        </p:nvCxnSpPr>
        <p:spPr>
          <a:xfrm flipV="1">
            <a:off x="1729311" y="3079390"/>
            <a:ext cx="1832305" cy="1218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Rechteck 235">
            <a:extLst>
              <a:ext uri="{FF2B5EF4-FFF2-40B4-BE49-F238E27FC236}">
                <a16:creationId xmlns:a16="http://schemas.microsoft.com/office/drawing/2014/main" id="{6BA9EB47-7F69-4BA6-9A92-446B3BE21808}"/>
              </a:ext>
            </a:extLst>
          </p:cNvPr>
          <p:cNvSpPr/>
          <p:nvPr/>
        </p:nvSpPr>
        <p:spPr>
          <a:xfrm>
            <a:off x="5675925" y="3905385"/>
            <a:ext cx="443521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28" name="Gerader Verbinder 327">
            <a:extLst>
              <a:ext uri="{FF2B5EF4-FFF2-40B4-BE49-F238E27FC236}">
                <a16:creationId xmlns:a16="http://schemas.microsoft.com/office/drawing/2014/main" id="{5EC2CB09-D32D-4E33-9C7D-18FEA63E2BDA}"/>
              </a:ext>
            </a:extLst>
          </p:cNvPr>
          <p:cNvCxnSpPr>
            <a:cxnSpLocks/>
            <a:stCxn id="7" idx="0"/>
            <a:endCxn id="236" idx="2"/>
          </p:cNvCxnSpPr>
          <p:nvPr/>
        </p:nvCxnSpPr>
        <p:spPr>
          <a:xfrm flipV="1">
            <a:off x="5894289" y="4182384"/>
            <a:ext cx="3397" cy="206633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4" name="Ellipse 333">
            <a:extLst>
              <a:ext uri="{FF2B5EF4-FFF2-40B4-BE49-F238E27FC236}">
                <a16:creationId xmlns:a16="http://schemas.microsoft.com/office/drawing/2014/main" id="{AED45E8C-D363-415D-9205-D95C84FB4602}"/>
              </a:ext>
            </a:extLst>
          </p:cNvPr>
          <p:cNvSpPr/>
          <p:nvPr/>
        </p:nvSpPr>
        <p:spPr>
          <a:xfrm>
            <a:off x="6360062" y="3436762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336" name="Gerader Verbinder 335">
            <a:extLst>
              <a:ext uri="{FF2B5EF4-FFF2-40B4-BE49-F238E27FC236}">
                <a16:creationId xmlns:a16="http://schemas.microsoft.com/office/drawing/2014/main" id="{0BD3A275-720B-4D08-8FB9-5B74FB039919}"/>
              </a:ext>
            </a:extLst>
          </p:cNvPr>
          <p:cNvCxnSpPr>
            <a:cxnSpLocks/>
            <a:stCxn id="236" idx="0"/>
            <a:endCxn id="334" idx="2"/>
          </p:cNvCxnSpPr>
          <p:nvPr/>
        </p:nvCxnSpPr>
        <p:spPr>
          <a:xfrm rot="5400000" flipH="1" flipV="1">
            <a:off x="5957329" y="3502652"/>
            <a:ext cx="343091" cy="46237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BCB77DB9-E4B4-4D51-8BC0-D8DE525F7200}"/>
              </a:ext>
            </a:extLst>
          </p:cNvPr>
          <p:cNvSpPr/>
          <p:nvPr/>
        </p:nvSpPr>
        <p:spPr>
          <a:xfrm>
            <a:off x="5437089" y="4389017"/>
            <a:ext cx="914400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Power LED</a:t>
            </a:r>
          </a:p>
        </p:txBody>
      </p:sp>
      <p:sp>
        <p:nvSpPr>
          <p:cNvPr id="208" name="Rechteck 207">
            <a:extLst>
              <a:ext uri="{FF2B5EF4-FFF2-40B4-BE49-F238E27FC236}">
                <a16:creationId xmlns:a16="http://schemas.microsoft.com/office/drawing/2014/main" id="{6A1C0678-4244-48A2-A436-0289FAC6548E}"/>
              </a:ext>
            </a:extLst>
          </p:cNvPr>
          <p:cNvSpPr/>
          <p:nvPr/>
        </p:nvSpPr>
        <p:spPr>
          <a:xfrm>
            <a:off x="7749674" y="3923905"/>
            <a:ext cx="494943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5" name="Rechteck 214">
            <a:extLst>
              <a:ext uri="{FF2B5EF4-FFF2-40B4-BE49-F238E27FC236}">
                <a16:creationId xmlns:a16="http://schemas.microsoft.com/office/drawing/2014/main" id="{EA064811-8BBA-4419-BE89-35A052A4C918}"/>
              </a:ext>
            </a:extLst>
          </p:cNvPr>
          <p:cNvSpPr/>
          <p:nvPr/>
        </p:nvSpPr>
        <p:spPr>
          <a:xfrm>
            <a:off x="4032831" y="3933325"/>
            <a:ext cx="46246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248" name="Rechteck 247">
            <a:extLst>
              <a:ext uri="{FF2B5EF4-FFF2-40B4-BE49-F238E27FC236}">
                <a16:creationId xmlns:a16="http://schemas.microsoft.com/office/drawing/2014/main" id="{9AB04F8C-6B12-4664-8E7C-94E9E93B2C68}"/>
              </a:ext>
            </a:extLst>
          </p:cNvPr>
          <p:cNvSpPr/>
          <p:nvPr/>
        </p:nvSpPr>
        <p:spPr>
          <a:xfrm>
            <a:off x="3561616" y="294089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76" name="Verbinder: gewinkelt 208">
            <a:extLst>
              <a:ext uri="{FF2B5EF4-FFF2-40B4-BE49-F238E27FC236}">
                <a16:creationId xmlns:a16="http://schemas.microsoft.com/office/drawing/2014/main" id="{D1DDF369-6B48-45BE-88C4-30B26EE6D36B}"/>
              </a:ext>
            </a:extLst>
          </p:cNvPr>
          <p:cNvCxnSpPr>
            <a:cxnSpLocks/>
            <a:stCxn id="51" idx="0"/>
            <a:endCxn id="275" idx="3"/>
          </p:cNvCxnSpPr>
          <p:nvPr/>
        </p:nvCxnSpPr>
        <p:spPr>
          <a:xfrm rot="16200000" flipV="1">
            <a:off x="9187395" y="2510178"/>
            <a:ext cx="363734" cy="537138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Verbinder: gewinkelt 294">
            <a:extLst>
              <a:ext uri="{FF2B5EF4-FFF2-40B4-BE49-F238E27FC236}">
                <a16:creationId xmlns:a16="http://schemas.microsoft.com/office/drawing/2014/main" id="{80126379-88C1-4DC8-9465-4DFA7C7063A1}"/>
              </a:ext>
            </a:extLst>
          </p:cNvPr>
          <p:cNvCxnSpPr>
            <a:cxnSpLocks/>
            <a:endCxn id="8" idx="3"/>
          </p:cNvCxnSpPr>
          <p:nvPr/>
        </p:nvCxnSpPr>
        <p:spPr>
          <a:xfrm rot="10800000" flipV="1">
            <a:off x="5456850" y="2525788"/>
            <a:ext cx="3363303" cy="414929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Verbinder: gewinkelt 294">
            <a:extLst>
              <a:ext uri="{FF2B5EF4-FFF2-40B4-BE49-F238E27FC236}">
                <a16:creationId xmlns:a16="http://schemas.microsoft.com/office/drawing/2014/main" id="{1EDB896E-94C8-4D67-819D-14519123BCD6}"/>
              </a:ext>
            </a:extLst>
          </p:cNvPr>
          <p:cNvCxnSpPr>
            <a:cxnSpLocks/>
            <a:stCxn id="275" idx="1"/>
            <a:endCxn id="73" idx="0"/>
          </p:cNvCxnSpPr>
          <p:nvPr/>
        </p:nvCxnSpPr>
        <p:spPr>
          <a:xfrm rot="10800000" flipV="1">
            <a:off x="8602691" y="2596879"/>
            <a:ext cx="226861" cy="45148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Gerader Verbinder 299">
            <a:extLst>
              <a:ext uri="{FF2B5EF4-FFF2-40B4-BE49-F238E27FC236}">
                <a16:creationId xmlns:a16="http://schemas.microsoft.com/office/drawing/2014/main" id="{6AB5D3D1-ED57-4FA3-AF3E-B04B96309989}"/>
              </a:ext>
            </a:extLst>
          </p:cNvPr>
          <p:cNvCxnSpPr>
            <a:cxnSpLocks/>
            <a:endCxn id="88" idx="2"/>
          </p:cNvCxnSpPr>
          <p:nvPr/>
        </p:nvCxnSpPr>
        <p:spPr>
          <a:xfrm flipV="1">
            <a:off x="8165749" y="3538074"/>
            <a:ext cx="1558" cy="398356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Gerader Verbinder 305">
            <a:extLst>
              <a:ext uri="{FF2B5EF4-FFF2-40B4-BE49-F238E27FC236}">
                <a16:creationId xmlns:a16="http://schemas.microsoft.com/office/drawing/2014/main" id="{96792978-CBE0-4FEE-A22F-8096BF308069}"/>
              </a:ext>
            </a:extLst>
          </p:cNvPr>
          <p:cNvCxnSpPr>
            <a:cxnSpLocks/>
            <a:endCxn id="334" idx="6"/>
          </p:cNvCxnSpPr>
          <p:nvPr/>
        </p:nvCxnSpPr>
        <p:spPr>
          <a:xfrm flipH="1">
            <a:off x="6753356" y="3544702"/>
            <a:ext cx="1116000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Verbinder: gewinkelt 208">
            <a:extLst>
              <a:ext uri="{FF2B5EF4-FFF2-40B4-BE49-F238E27FC236}">
                <a16:creationId xmlns:a16="http://schemas.microsoft.com/office/drawing/2014/main" id="{7B7FC965-FC56-4AF4-B9A9-30355A877DFB}"/>
              </a:ext>
            </a:extLst>
          </p:cNvPr>
          <p:cNvCxnSpPr>
            <a:cxnSpLocks/>
            <a:stCxn id="30" idx="3"/>
            <a:endCxn id="215" idx="2"/>
          </p:cNvCxnSpPr>
          <p:nvPr/>
        </p:nvCxnSpPr>
        <p:spPr>
          <a:xfrm flipV="1">
            <a:off x="2486024" y="4210324"/>
            <a:ext cx="1778038" cy="262162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4C659698-1AF8-45B2-9E90-9F794F361A55}"/>
              </a:ext>
            </a:extLst>
          </p:cNvPr>
          <p:cNvSpPr txBox="1"/>
          <p:nvPr/>
        </p:nvSpPr>
        <p:spPr>
          <a:xfrm>
            <a:off x="2719831" y="2392884"/>
            <a:ext cx="14771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Power Supply Board</a:t>
            </a:r>
          </a:p>
        </p:txBody>
      </p:sp>
      <p:sp>
        <p:nvSpPr>
          <p:cNvPr id="275" name="Rechteck 274">
            <a:extLst>
              <a:ext uri="{FF2B5EF4-FFF2-40B4-BE49-F238E27FC236}">
                <a16:creationId xmlns:a16="http://schemas.microsoft.com/office/drawing/2014/main" id="{404CC8DF-4B19-4DFF-82FB-3C8638EF0588}"/>
              </a:ext>
            </a:extLst>
          </p:cNvPr>
          <p:cNvSpPr/>
          <p:nvPr/>
        </p:nvSpPr>
        <p:spPr>
          <a:xfrm>
            <a:off x="8829551" y="2458380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87" name="Gerader Verbinder 335">
            <a:extLst>
              <a:ext uri="{FF2B5EF4-FFF2-40B4-BE49-F238E27FC236}">
                <a16:creationId xmlns:a16="http://schemas.microsoft.com/office/drawing/2014/main" id="{6B17035E-1BF3-4B40-BE1F-900A577051FF}"/>
              </a:ext>
            </a:extLst>
          </p:cNvPr>
          <p:cNvCxnSpPr>
            <a:cxnSpLocks/>
            <a:endCxn id="21" idx="3"/>
          </p:cNvCxnSpPr>
          <p:nvPr/>
        </p:nvCxnSpPr>
        <p:spPr>
          <a:xfrm rot="16200000" flipV="1">
            <a:off x="5258283" y="3402057"/>
            <a:ext cx="704281" cy="33439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9243415" y="4049309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Output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178" name="Textfeld 177">
            <a:extLst>
              <a:ext uri="{FF2B5EF4-FFF2-40B4-BE49-F238E27FC236}">
                <a16:creationId xmlns:a16="http://schemas.microsoft.com/office/drawing/2014/main" id="{119A93CC-1E94-4684-9286-5A110A8B6740}"/>
              </a:ext>
            </a:extLst>
          </p:cNvPr>
          <p:cNvSpPr txBox="1"/>
          <p:nvPr/>
        </p:nvSpPr>
        <p:spPr>
          <a:xfrm>
            <a:off x="1104469" y="3709017"/>
            <a:ext cx="13756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Charging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any USB chager</a:t>
            </a:r>
          </a:p>
        </p:txBody>
      </p:sp>
      <p:sp>
        <p:nvSpPr>
          <p:cNvPr id="179" name="Textfeld 178">
            <a:extLst>
              <a:ext uri="{FF2B5EF4-FFF2-40B4-BE49-F238E27FC236}">
                <a16:creationId xmlns:a16="http://schemas.microsoft.com/office/drawing/2014/main" id="{FD0DC971-62E4-4432-A575-91BD3FDE9118}"/>
              </a:ext>
            </a:extLst>
          </p:cNvPr>
          <p:cNvSpPr txBox="1"/>
          <p:nvPr/>
        </p:nvSpPr>
        <p:spPr>
          <a:xfrm>
            <a:off x="6849070" y="4219211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9F21C4E-E33A-4F1C-9DE3-07A3E614E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  <p:sp>
        <p:nvSpPr>
          <p:cNvPr id="154" name="Textfeld 153">
            <a:extLst>
              <a:ext uri="{FF2B5EF4-FFF2-40B4-BE49-F238E27FC236}">
                <a16:creationId xmlns:a16="http://schemas.microsoft.com/office/drawing/2014/main" id="{453E40EE-528F-4AEF-9555-492B21695736}"/>
              </a:ext>
            </a:extLst>
          </p:cNvPr>
          <p:cNvSpPr txBox="1"/>
          <p:nvPr/>
        </p:nvSpPr>
        <p:spPr>
          <a:xfrm>
            <a:off x="8142460" y="5220676"/>
            <a:ext cx="131157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</p:spTree>
    <p:extLst>
      <p:ext uri="{BB962C8B-B14F-4D97-AF65-F5344CB8AC3E}">
        <p14:creationId xmlns:p14="http://schemas.microsoft.com/office/powerpoint/2010/main" val="30207222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3240000" cy="3384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E478058-908A-4A2D-9C62-2623755B1F7F}"/>
              </a:ext>
            </a:extLst>
          </p:cNvPr>
          <p:cNvSpPr/>
          <p:nvPr/>
        </p:nvSpPr>
        <p:spPr>
          <a:xfrm>
            <a:off x="4024180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CE471DB-91D1-40D4-8D06-1D65D66F4510}"/>
              </a:ext>
            </a:extLst>
          </p:cNvPr>
          <p:cNvSpPr/>
          <p:nvPr/>
        </p:nvSpPr>
        <p:spPr>
          <a:xfrm>
            <a:off x="6081868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3A8D630-2529-4B51-8DE9-F97821A4A414}"/>
              </a:ext>
            </a:extLst>
          </p:cNvPr>
          <p:cNvSpPr/>
          <p:nvPr/>
        </p:nvSpPr>
        <p:spPr>
          <a:xfrm>
            <a:off x="4671393" y="2375800"/>
            <a:ext cx="684000" cy="46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07606" y="2474800"/>
            <a:ext cx="270000" cy="270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</p:spTree>
    <p:extLst>
      <p:ext uri="{BB962C8B-B14F-4D97-AF65-F5344CB8AC3E}">
        <p14:creationId xmlns:p14="http://schemas.microsoft.com/office/powerpoint/2010/main" val="1992562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Labels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302751F-6859-4E08-9DED-5FE54C9D12CE}"/>
              </a:ext>
            </a:extLst>
          </p:cNvPr>
          <p:cNvSpPr txBox="1"/>
          <p:nvPr/>
        </p:nvSpPr>
        <p:spPr>
          <a:xfrm>
            <a:off x="5067888" y="1514287"/>
            <a:ext cx="14414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Milkyway DEMO" pitchFamily="2" charset="0"/>
              </a:rPr>
              <a:t>Fizz Bizz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8589BE7-CF80-4684-9F56-1E6C33DE7F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115" y="1231800"/>
            <a:ext cx="990977" cy="1020052"/>
          </a:xfrm>
          <a:prstGeom prst="rect">
            <a:avLst/>
          </a:prstGeom>
        </p:spPr>
      </p:pic>
      <p:sp>
        <p:nvSpPr>
          <p:cNvPr id="22" name="Textfeld 21">
            <a:extLst>
              <a:ext uri="{FF2B5EF4-FFF2-40B4-BE49-F238E27FC236}">
                <a16:creationId xmlns:a16="http://schemas.microsoft.com/office/drawing/2014/main" id="{5BECCF3D-32C1-4BA3-9B02-C17E0CFA8720}"/>
              </a:ext>
            </a:extLst>
          </p:cNvPr>
          <p:cNvSpPr txBox="1"/>
          <p:nvPr/>
        </p:nvSpPr>
        <p:spPr>
          <a:xfrm>
            <a:off x="3982115" y="2920697"/>
            <a:ext cx="434221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Charge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2C25ED4F-00C5-4839-99AD-FAEBC045F34D}"/>
              </a:ext>
            </a:extLst>
          </p:cNvPr>
          <p:cNvSpPr txBox="1"/>
          <p:nvPr/>
        </p:nvSpPr>
        <p:spPr>
          <a:xfrm>
            <a:off x="6035506" y="2920697"/>
            <a:ext cx="445635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200"/>
              <a:t>Output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AA0DEED-015B-4979-B5AA-2E72A93DDC15}"/>
              </a:ext>
            </a:extLst>
          </p:cNvPr>
          <p:cNvSpPr txBox="1"/>
          <p:nvPr/>
        </p:nvSpPr>
        <p:spPr>
          <a:xfrm>
            <a:off x="4579230" y="2920697"/>
            <a:ext cx="889539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Master Switch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124C6E3-1E81-440B-AC49-37D9D702CB58}"/>
              </a:ext>
            </a:extLst>
          </p:cNvPr>
          <p:cNvCxnSpPr>
            <a:stCxn id="14" idx="2"/>
          </p:cNvCxnSpPr>
          <p:nvPr/>
        </p:nvCxnSpPr>
        <p:spPr>
          <a:xfrm>
            <a:off x="5013393" y="5094000"/>
            <a:ext cx="0" cy="13252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4A5E8504-C3A7-4354-AF91-DD9C120D87F8}"/>
              </a:ext>
            </a:extLst>
          </p:cNvPr>
          <p:cNvSpPr txBox="1"/>
          <p:nvPr/>
        </p:nvSpPr>
        <p:spPr>
          <a:xfrm>
            <a:off x="4799994" y="3684504"/>
            <a:ext cx="1709314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400"/>
              <a:t>[Power Supply Module]</a:t>
            </a:r>
          </a:p>
        </p:txBody>
      </p:sp>
    </p:spTree>
    <p:extLst>
      <p:ext uri="{BB962C8B-B14F-4D97-AF65-F5344CB8AC3E}">
        <p14:creationId xmlns:p14="http://schemas.microsoft.com/office/powerpoint/2010/main" val="1657628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Frame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115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79 x 84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E7979BF-32E9-498A-9E85-2DC5E9CC91AC}"/>
              </a:ext>
            </a:extLst>
          </p:cNvPr>
          <p:cNvSpPr/>
          <p:nvPr/>
        </p:nvSpPr>
        <p:spPr>
          <a:xfrm>
            <a:off x="3600000" y="1080000"/>
            <a:ext cx="414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1F3B6CE-2FE8-4784-8157-46A446CBE155}"/>
              </a:ext>
            </a:extLst>
          </p:cNvPr>
          <p:cNvSpPr/>
          <p:nvPr/>
        </p:nvSpPr>
        <p:spPr>
          <a:xfrm>
            <a:off x="4248000" y="1728000"/>
            <a:ext cx="2844000" cy="3024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95D773B-9993-46BB-BBF5-52E12D959019}"/>
              </a:ext>
            </a:extLst>
          </p:cNvPr>
          <p:cNvSpPr txBox="1"/>
          <p:nvPr/>
        </p:nvSpPr>
        <p:spPr>
          <a:xfrm>
            <a:off x="4897665" y="1234312"/>
            <a:ext cx="17988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603BA08-B135-4F9F-89B4-07F8E2B1B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5989" y="1858620"/>
            <a:ext cx="360000" cy="82865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612329D-99F7-44BF-857B-021129535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60000" cy="82865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4314ADB0-6711-4275-941C-AB271D80B0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611824" y="4822546"/>
            <a:ext cx="454660" cy="4680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D6C6DA60-373D-4B53-A18F-02B7E37DD7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67336" y="3202985"/>
            <a:ext cx="360000" cy="695676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0310D0D7-B8F6-425B-8730-5A68E484D4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7195988" y="2708861"/>
            <a:ext cx="360000" cy="695676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55873220-F3AE-4F53-82C8-BC1660D0E769}"/>
              </a:ext>
            </a:extLst>
          </p:cNvPr>
          <p:cNvSpPr txBox="1"/>
          <p:nvPr/>
        </p:nvSpPr>
        <p:spPr>
          <a:xfrm>
            <a:off x="4888800" y="4887269"/>
            <a:ext cx="16792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power supply 5V=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644D659D-333E-47F5-89F4-C8CAB36A07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1370" y="4822546"/>
            <a:ext cx="523648" cy="468000"/>
          </a:xfrm>
          <a:prstGeom prst="rect">
            <a:avLst/>
          </a:prstGeom>
        </p:spPr>
      </p:pic>
      <p:sp>
        <p:nvSpPr>
          <p:cNvPr id="24" name="Rechteck 23">
            <a:extLst>
              <a:ext uri="{FF2B5EF4-FFF2-40B4-BE49-F238E27FC236}">
                <a16:creationId xmlns:a16="http://schemas.microsoft.com/office/drawing/2014/main" id="{5938BC38-D75C-48F0-8929-AA525D584AC2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D1F6D01C-3D07-406B-9A39-BBC891121386}"/>
              </a:ext>
            </a:extLst>
          </p:cNvPr>
          <p:cNvSpPr/>
          <p:nvPr/>
        </p:nvSpPr>
        <p:spPr>
          <a:xfrm>
            <a:off x="7740000" y="1079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7A39B0A-2D54-4BE1-A601-8BF2421CB5DE}"/>
              </a:ext>
            </a:extLst>
          </p:cNvPr>
          <p:cNvSpPr/>
          <p:nvPr/>
        </p:nvSpPr>
        <p:spPr>
          <a:xfrm>
            <a:off x="3600236" y="538625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414200A-9328-41DF-8466-31BEE6A06265}"/>
              </a:ext>
            </a:extLst>
          </p:cNvPr>
          <p:cNvSpPr/>
          <p:nvPr/>
        </p:nvSpPr>
        <p:spPr>
          <a:xfrm>
            <a:off x="7730764" y="5390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56521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</p:spTree>
    <p:extLst>
      <p:ext uri="{BB962C8B-B14F-4D97-AF65-F5344CB8AC3E}">
        <p14:creationId xmlns:p14="http://schemas.microsoft.com/office/powerpoint/2010/main" val="36363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hteck 88">
            <a:extLst>
              <a:ext uri="{FF2B5EF4-FFF2-40B4-BE49-F238E27FC236}">
                <a16:creationId xmlns:a16="http://schemas.microsoft.com/office/drawing/2014/main" id="{67336FBD-A536-4A33-9C71-AB7A2FE7083A}"/>
              </a:ext>
            </a:extLst>
          </p:cNvPr>
          <p:cNvSpPr/>
          <p:nvPr/>
        </p:nvSpPr>
        <p:spPr>
          <a:xfrm>
            <a:off x="2506375" y="1379879"/>
            <a:ext cx="7757726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cxnSp>
        <p:nvCxnSpPr>
          <p:cNvPr id="172" name="Gerader Verbinder 171">
            <a:extLst>
              <a:ext uri="{FF2B5EF4-FFF2-40B4-BE49-F238E27FC236}">
                <a16:creationId xmlns:a16="http://schemas.microsoft.com/office/drawing/2014/main" id="{41E71FE6-6375-4681-9273-FB500C8EB1E3}"/>
              </a:ext>
            </a:extLst>
          </p:cNvPr>
          <p:cNvCxnSpPr>
            <a:cxnSpLocks/>
            <a:endCxn id="174" idx="2"/>
          </p:cNvCxnSpPr>
          <p:nvPr/>
        </p:nvCxnSpPr>
        <p:spPr>
          <a:xfrm flipH="1" flipV="1">
            <a:off x="7797392" y="2812718"/>
            <a:ext cx="8274" cy="116963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hteck 89">
            <a:extLst>
              <a:ext uri="{FF2B5EF4-FFF2-40B4-BE49-F238E27FC236}">
                <a16:creationId xmlns:a16="http://schemas.microsoft.com/office/drawing/2014/main" id="{9D467D04-E886-4023-84FB-A16A0D53571E}"/>
              </a:ext>
            </a:extLst>
          </p:cNvPr>
          <p:cNvSpPr/>
          <p:nvPr/>
        </p:nvSpPr>
        <p:spPr>
          <a:xfrm>
            <a:off x="7062413" y="2160298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3" name="Rechteck 122">
            <a:extLst>
              <a:ext uri="{FF2B5EF4-FFF2-40B4-BE49-F238E27FC236}">
                <a16:creationId xmlns:a16="http://schemas.microsoft.com/office/drawing/2014/main" id="{4C014239-BDE4-41D0-AFA8-36BC284E29AE}"/>
              </a:ext>
            </a:extLst>
          </p:cNvPr>
          <p:cNvSpPr/>
          <p:nvPr/>
        </p:nvSpPr>
        <p:spPr>
          <a:xfrm>
            <a:off x="7723654" y="3982346"/>
            <a:ext cx="475946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9FA228E7-5D61-42B0-A168-DE2F4E1CA615}"/>
              </a:ext>
            </a:extLst>
          </p:cNvPr>
          <p:cNvSpPr txBox="1"/>
          <p:nvPr/>
        </p:nvSpPr>
        <p:spPr>
          <a:xfrm>
            <a:off x="2560412" y="1477430"/>
            <a:ext cx="15421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Sound Module Board</a:t>
            </a:r>
          </a:p>
        </p:txBody>
      </p:sp>
      <p:sp>
        <p:nvSpPr>
          <p:cNvPr id="140" name="Ellipse 139">
            <a:extLst>
              <a:ext uri="{FF2B5EF4-FFF2-40B4-BE49-F238E27FC236}">
                <a16:creationId xmlns:a16="http://schemas.microsoft.com/office/drawing/2014/main" id="{E26FDBB4-88AA-471E-898A-9E497082372C}"/>
              </a:ext>
            </a:extLst>
          </p:cNvPr>
          <p:cNvSpPr/>
          <p:nvPr/>
        </p:nvSpPr>
        <p:spPr>
          <a:xfrm>
            <a:off x="7364903" y="3532871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142" name="Gerader Verbinder 141">
            <a:extLst>
              <a:ext uri="{FF2B5EF4-FFF2-40B4-BE49-F238E27FC236}">
                <a16:creationId xmlns:a16="http://schemas.microsoft.com/office/drawing/2014/main" id="{EA604A2B-2E31-4D01-BA10-ACBA897060F0}"/>
              </a:ext>
            </a:extLst>
          </p:cNvPr>
          <p:cNvCxnSpPr>
            <a:cxnSpLocks/>
            <a:stCxn id="140" idx="6"/>
          </p:cNvCxnSpPr>
          <p:nvPr/>
        </p:nvCxnSpPr>
        <p:spPr>
          <a:xfrm>
            <a:off x="7652656" y="3658403"/>
            <a:ext cx="153010" cy="3239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Gerader Verbinder 144">
            <a:extLst>
              <a:ext uri="{FF2B5EF4-FFF2-40B4-BE49-F238E27FC236}">
                <a16:creationId xmlns:a16="http://schemas.microsoft.com/office/drawing/2014/main" id="{F4511CB7-EF66-495A-BCEA-0874825221E6}"/>
              </a:ext>
            </a:extLst>
          </p:cNvPr>
          <p:cNvCxnSpPr>
            <a:cxnSpLocks/>
          </p:cNvCxnSpPr>
          <p:nvPr/>
        </p:nvCxnSpPr>
        <p:spPr>
          <a:xfrm>
            <a:off x="8092404" y="2812718"/>
            <a:ext cx="10148" cy="1169628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F2EFEC8B-D998-4BB2-9772-3EE5188DE519}"/>
              </a:ext>
            </a:extLst>
          </p:cNvPr>
          <p:cNvCxnSpPr>
            <a:cxnSpLocks/>
            <a:stCxn id="140" idx="2"/>
            <a:endCxn id="357" idx="3"/>
          </p:cNvCxnSpPr>
          <p:nvPr/>
        </p:nvCxnSpPr>
        <p:spPr>
          <a:xfrm flipH="1" flipV="1">
            <a:off x="7083595" y="3648839"/>
            <a:ext cx="281308" cy="956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Textfeld 166">
            <a:extLst>
              <a:ext uri="{FF2B5EF4-FFF2-40B4-BE49-F238E27FC236}">
                <a16:creationId xmlns:a16="http://schemas.microsoft.com/office/drawing/2014/main" id="{0FFBE0AD-24B5-44C1-A01F-F6DFBAC38FF5}"/>
              </a:ext>
            </a:extLst>
          </p:cNvPr>
          <p:cNvSpPr txBox="1"/>
          <p:nvPr/>
        </p:nvSpPr>
        <p:spPr>
          <a:xfrm>
            <a:off x="8028423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174" name="Textfeld 173">
            <a:extLst>
              <a:ext uri="{FF2B5EF4-FFF2-40B4-BE49-F238E27FC236}">
                <a16:creationId xmlns:a16="http://schemas.microsoft.com/office/drawing/2014/main" id="{180416A4-B5FB-46A4-8397-1F1ACEEE9B39}"/>
              </a:ext>
            </a:extLst>
          </p:cNvPr>
          <p:cNvSpPr txBox="1"/>
          <p:nvPr/>
        </p:nvSpPr>
        <p:spPr>
          <a:xfrm>
            <a:off x="7723654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14E12E35-C99B-4DCA-B33E-47A5CB6F9910}"/>
              </a:ext>
            </a:extLst>
          </p:cNvPr>
          <p:cNvSpPr/>
          <p:nvPr/>
        </p:nvSpPr>
        <p:spPr>
          <a:xfrm>
            <a:off x="5116268" y="2608088"/>
            <a:ext cx="1463070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DFPlayer Mini</a:t>
            </a:r>
          </a:p>
        </p:txBody>
      </p:sp>
      <p:sp>
        <p:nvSpPr>
          <p:cNvPr id="210" name="Textfeld 209">
            <a:extLst>
              <a:ext uri="{FF2B5EF4-FFF2-40B4-BE49-F238E27FC236}">
                <a16:creationId xmlns:a16="http://schemas.microsoft.com/office/drawing/2014/main" id="{15E56F38-2954-4F02-8C47-4F4104C7A6E7}"/>
              </a:ext>
            </a:extLst>
          </p:cNvPr>
          <p:cNvSpPr txBox="1"/>
          <p:nvPr/>
        </p:nvSpPr>
        <p:spPr>
          <a:xfrm>
            <a:off x="4633438" y="2505424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Pin 6</a:t>
            </a:r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1D0B6898-7D25-4334-8A60-6AAB38AC0AD3}"/>
              </a:ext>
            </a:extLst>
          </p:cNvPr>
          <p:cNvSpPr txBox="1"/>
          <p:nvPr/>
        </p:nvSpPr>
        <p:spPr>
          <a:xfrm>
            <a:off x="4604846" y="2891115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Pin 8</a:t>
            </a:r>
          </a:p>
        </p:txBody>
      </p:sp>
      <p:cxnSp>
        <p:nvCxnSpPr>
          <p:cNvPr id="216" name="Gerader Verbinder 215">
            <a:extLst>
              <a:ext uri="{FF2B5EF4-FFF2-40B4-BE49-F238E27FC236}">
                <a16:creationId xmlns:a16="http://schemas.microsoft.com/office/drawing/2014/main" id="{D1BF3E73-4AEB-4197-8944-042287116D20}"/>
              </a:ext>
            </a:extLst>
          </p:cNvPr>
          <p:cNvCxnSpPr>
            <a:cxnSpLocks/>
            <a:endCxn id="217" idx="0"/>
          </p:cNvCxnSpPr>
          <p:nvPr/>
        </p:nvCxnSpPr>
        <p:spPr>
          <a:xfrm>
            <a:off x="5551946" y="2085909"/>
            <a:ext cx="233" cy="29715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feld 216">
            <a:extLst>
              <a:ext uri="{FF2B5EF4-FFF2-40B4-BE49-F238E27FC236}">
                <a16:creationId xmlns:a16="http://schemas.microsoft.com/office/drawing/2014/main" id="{BC354AA3-A7BD-45EA-81DA-4167F3BCA577}"/>
              </a:ext>
            </a:extLst>
          </p:cNvPr>
          <p:cNvSpPr txBox="1"/>
          <p:nvPr/>
        </p:nvSpPr>
        <p:spPr>
          <a:xfrm>
            <a:off x="5517714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218" name="Textfeld 217">
            <a:extLst>
              <a:ext uri="{FF2B5EF4-FFF2-40B4-BE49-F238E27FC236}">
                <a16:creationId xmlns:a16="http://schemas.microsoft.com/office/drawing/2014/main" id="{92E457C6-2A3A-4EA8-A523-DF6B36237A77}"/>
              </a:ext>
            </a:extLst>
          </p:cNvPr>
          <p:cNvSpPr txBox="1"/>
          <p:nvPr/>
        </p:nvSpPr>
        <p:spPr>
          <a:xfrm>
            <a:off x="6080125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</a:t>
            </a:r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4B001F22-FA11-491F-9B3E-183A3A633C95}"/>
              </a:ext>
            </a:extLst>
          </p:cNvPr>
          <p:cNvSpPr txBox="1"/>
          <p:nvPr/>
        </p:nvSpPr>
        <p:spPr>
          <a:xfrm>
            <a:off x="7440702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D11</a:t>
            </a:r>
          </a:p>
        </p:txBody>
      </p:sp>
      <p:sp>
        <p:nvSpPr>
          <p:cNvPr id="231" name="Textfeld 230">
            <a:extLst>
              <a:ext uri="{FF2B5EF4-FFF2-40B4-BE49-F238E27FC236}">
                <a16:creationId xmlns:a16="http://schemas.microsoft.com/office/drawing/2014/main" id="{BBD4C68B-282F-40B6-9B90-BE38A2B4C638}"/>
              </a:ext>
            </a:extLst>
          </p:cNvPr>
          <p:cNvSpPr txBox="1"/>
          <p:nvPr/>
        </p:nvSpPr>
        <p:spPr>
          <a:xfrm>
            <a:off x="7752963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D10</a:t>
            </a:r>
          </a:p>
        </p:txBody>
      </p:sp>
      <p:sp>
        <p:nvSpPr>
          <p:cNvPr id="232" name="Textfeld 231">
            <a:extLst>
              <a:ext uri="{FF2B5EF4-FFF2-40B4-BE49-F238E27FC236}">
                <a16:creationId xmlns:a16="http://schemas.microsoft.com/office/drawing/2014/main" id="{C030D176-FE95-4800-856B-0CAFE9A5840F}"/>
              </a:ext>
            </a:extLst>
          </p:cNvPr>
          <p:cNvSpPr txBox="1"/>
          <p:nvPr/>
        </p:nvSpPr>
        <p:spPr>
          <a:xfrm>
            <a:off x="2860125" y="1909449"/>
            <a:ext cx="19351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Player Pin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2 (RX) : D10 (TX) (1 k Ohm)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3 (TX) : D11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16 (busy) : D12</a:t>
            </a:r>
          </a:p>
        </p:txBody>
      </p:sp>
      <p:sp>
        <p:nvSpPr>
          <p:cNvPr id="233" name="Rechteck 232">
            <a:extLst>
              <a:ext uri="{FF2B5EF4-FFF2-40B4-BE49-F238E27FC236}">
                <a16:creationId xmlns:a16="http://schemas.microsoft.com/office/drawing/2014/main" id="{A4E33D0B-6202-4920-ADDA-8E50DD9CA717}"/>
              </a:ext>
            </a:extLst>
          </p:cNvPr>
          <p:cNvSpPr/>
          <p:nvPr/>
        </p:nvSpPr>
        <p:spPr>
          <a:xfrm rot="5400000">
            <a:off x="6751847" y="1877475"/>
            <a:ext cx="318062" cy="1335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20" name="Verbinder: gewinkelt 219">
            <a:extLst>
              <a:ext uri="{FF2B5EF4-FFF2-40B4-BE49-F238E27FC236}">
                <a16:creationId xmlns:a16="http://schemas.microsoft.com/office/drawing/2014/main" id="{363365AA-D539-44FC-8D39-2A0B641DABB9}"/>
              </a:ext>
            </a:extLst>
          </p:cNvPr>
          <p:cNvCxnSpPr>
            <a:cxnSpLocks/>
            <a:stCxn id="218" idx="0"/>
            <a:endCxn id="224" idx="0"/>
          </p:cNvCxnSpPr>
          <p:nvPr/>
        </p:nvCxnSpPr>
        <p:spPr>
          <a:xfrm rot="5400000" flipH="1" flipV="1">
            <a:off x="6614327" y="1446083"/>
            <a:ext cx="437245" cy="1436719"/>
          </a:xfrm>
          <a:prstGeom prst="bentConnector3">
            <a:avLst>
              <a:gd name="adj1" fmla="val 1213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Verbinder: gewinkelt 227">
            <a:extLst>
              <a:ext uri="{FF2B5EF4-FFF2-40B4-BE49-F238E27FC236}">
                <a16:creationId xmlns:a16="http://schemas.microsoft.com/office/drawing/2014/main" id="{0617C71A-4D13-4E1D-AB55-8EB0CC4F45A1}"/>
              </a:ext>
            </a:extLst>
          </p:cNvPr>
          <p:cNvCxnSpPr>
            <a:cxnSpLocks/>
            <a:stCxn id="214" idx="0"/>
            <a:endCxn id="231" idx="0"/>
          </p:cNvCxnSpPr>
          <p:nvPr/>
        </p:nvCxnSpPr>
        <p:spPr>
          <a:xfrm rot="5400000" flipH="1" flipV="1">
            <a:off x="6696570" y="801195"/>
            <a:ext cx="22376" cy="2311624"/>
          </a:xfrm>
          <a:prstGeom prst="bentConnector3">
            <a:avLst>
              <a:gd name="adj1" fmla="val 112163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Rechteck 236">
            <a:extLst>
              <a:ext uri="{FF2B5EF4-FFF2-40B4-BE49-F238E27FC236}">
                <a16:creationId xmlns:a16="http://schemas.microsoft.com/office/drawing/2014/main" id="{2158EAAD-B0B1-4BE3-99A3-A65826249689}"/>
              </a:ext>
            </a:extLst>
          </p:cNvPr>
          <p:cNvSpPr/>
          <p:nvPr/>
        </p:nvSpPr>
        <p:spPr>
          <a:xfrm rot="16200000">
            <a:off x="-41122" y="4043793"/>
            <a:ext cx="1267833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Sound Upload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256" name="Textfeld 255">
            <a:extLst>
              <a:ext uri="{FF2B5EF4-FFF2-40B4-BE49-F238E27FC236}">
                <a16:creationId xmlns:a16="http://schemas.microsoft.com/office/drawing/2014/main" id="{B514F9FA-8901-4690-9A84-AADE571F2AC7}"/>
              </a:ext>
            </a:extLst>
          </p:cNvPr>
          <p:cNvSpPr txBox="1"/>
          <p:nvPr/>
        </p:nvSpPr>
        <p:spPr>
          <a:xfrm>
            <a:off x="5377685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14</a:t>
            </a:r>
          </a:p>
        </p:txBody>
      </p:sp>
      <p:sp>
        <p:nvSpPr>
          <p:cNvPr id="257" name="Textfeld 256">
            <a:extLst>
              <a:ext uri="{FF2B5EF4-FFF2-40B4-BE49-F238E27FC236}">
                <a16:creationId xmlns:a16="http://schemas.microsoft.com/office/drawing/2014/main" id="{52BD9B14-896E-4E82-88EF-B00BCFC530A4}"/>
              </a:ext>
            </a:extLst>
          </p:cNvPr>
          <p:cNvSpPr txBox="1"/>
          <p:nvPr/>
        </p:nvSpPr>
        <p:spPr>
          <a:xfrm>
            <a:off x="5682726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cxnSp>
        <p:nvCxnSpPr>
          <p:cNvPr id="278" name="Verbinder: gewinkelt 277">
            <a:extLst>
              <a:ext uri="{FF2B5EF4-FFF2-40B4-BE49-F238E27FC236}">
                <a16:creationId xmlns:a16="http://schemas.microsoft.com/office/drawing/2014/main" id="{9F08172A-EEE1-451C-8272-C081CE1B7777}"/>
              </a:ext>
            </a:extLst>
          </p:cNvPr>
          <p:cNvCxnSpPr>
            <a:cxnSpLocks/>
            <a:stCxn id="279" idx="0"/>
            <a:endCxn id="283" idx="1"/>
          </p:cNvCxnSpPr>
          <p:nvPr/>
        </p:nvCxnSpPr>
        <p:spPr>
          <a:xfrm rot="5400000" flipH="1" flipV="1">
            <a:off x="6625523" y="1876314"/>
            <a:ext cx="352621" cy="65321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feld 278">
            <a:extLst>
              <a:ext uri="{FF2B5EF4-FFF2-40B4-BE49-F238E27FC236}">
                <a16:creationId xmlns:a16="http://schemas.microsoft.com/office/drawing/2014/main" id="{0B42947F-3DBD-4F02-AE19-605FC9D4B467}"/>
              </a:ext>
            </a:extLst>
          </p:cNvPr>
          <p:cNvSpPr txBox="1"/>
          <p:nvPr/>
        </p:nvSpPr>
        <p:spPr>
          <a:xfrm>
            <a:off x="6406296" y="2379232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16</a:t>
            </a:r>
          </a:p>
        </p:txBody>
      </p:sp>
      <p:sp>
        <p:nvSpPr>
          <p:cNvPr id="283" name="Textfeld 282">
            <a:extLst>
              <a:ext uri="{FF2B5EF4-FFF2-40B4-BE49-F238E27FC236}">
                <a16:creationId xmlns:a16="http://schemas.microsoft.com/office/drawing/2014/main" id="{EDB063B0-3A05-49A5-9235-5450EEFB079E}"/>
              </a:ext>
            </a:extLst>
          </p:cNvPr>
          <p:cNvSpPr txBox="1"/>
          <p:nvPr/>
        </p:nvSpPr>
        <p:spPr>
          <a:xfrm>
            <a:off x="7128441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D12</a:t>
            </a:r>
          </a:p>
        </p:txBody>
      </p:sp>
      <p:sp>
        <p:nvSpPr>
          <p:cNvPr id="288" name="Textfeld 287">
            <a:extLst>
              <a:ext uri="{FF2B5EF4-FFF2-40B4-BE49-F238E27FC236}">
                <a16:creationId xmlns:a16="http://schemas.microsoft.com/office/drawing/2014/main" id="{9A2E01C4-6264-4992-8319-936B41C82B24}"/>
              </a:ext>
            </a:extLst>
          </p:cNvPr>
          <p:cNvSpPr txBox="1"/>
          <p:nvPr/>
        </p:nvSpPr>
        <p:spPr>
          <a:xfrm>
            <a:off x="4211751" y="3499034"/>
            <a:ext cx="1506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89" name="Textfeld 288">
            <a:extLst>
              <a:ext uri="{FF2B5EF4-FFF2-40B4-BE49-F238E27FC236}">
                <a16:creationId xmlns:a16="http://schemas.microsoft.com/office/drawing/2014/main" id="{509ABFF2-FD7A-4A59-83DB-A0BF209C59CE}"/>
              </a:ext>
            </a:extLst>
          </p:cNvPr>
          <p:cNvSpPr txBox="1"/>
          <p:nvPr/>
        </p:nvSpPr>
        <p:spPr>
          <a:xfrm>
            <a:off x="4209345" y="3708193"/>
            <a:ext cx="12503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90" name="Textfeld 289">
            <a:extLst>
              <a:ext uri="{FF2B5EF4-FFF2-40B4-BE49-F238E27FC236}">
                <a16:creationId xmlns:a16="http://schemas.microsoft.com/office/drawing/2014/main" id="{FB4FEE0E-8F76-4342-A759-EF8C04797898}"/>
              </a:ext>
            </a:extLst>
          </p:cNvPr>
          <p:cNvSpPr txBox="1"/>
          <p:nvPr/>
        </p:nvSpPr>
        <p:spPr>
          <a:xfrm>
            <a:off x="3194630" y="313196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92" name="Verbinder: gewinkelt 291">
            <a:extLst>
              <a:ext uri="{FF2B5EF4-FFF2-40B4-BE49-F238E27FC236}">
                <a16:creationId xmlns:a16="http://schemas.microsoft.com/office/drawing/2014/main" id="{02AFA98E-7DAF-457D-9E1E-9700947816C7}"/>
              </a:ext>
            </a:extLst>
          </p:cNvPr>
          <p:cNvCxnSpPr>
            <a:cxnSpLocks/>
            <a:stCxn id="288" idx="3"/>
            <a:endCxn id="256" idx="2"/>
          </p:cNvCxnSpPr>
          <p:nvPr/>
        </p:nvCxnSpPr>
        <p:spPr>
          <a:xfrm flipV="1">
            <a:off x="4362433" y="3268642"/>
            <a:ext cx="1084181" cy="31118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winkelt 293">
            <a:extLst>
              <a:ext uri="{FF2B5EF4-FFF2-40B4-BE49-F238E27FC236}">
                <a16:creationId xmlns:a16="http://schemas.microsoft.com/office/drawing/2014/main" id="{52455471-C592-4715-B5F3-E9BB61C75262}"/>
              </a:ext>
            </a:extLst>
          </p:cNvPr>
          <p:cNvCxnSpPr>
            <a:cxnSpLocks/>
            <a:stCxn id="289" idx="3"/>
            <a:endCxn id="257" idx="2"/>
          </p:cNvCxnSpPr>
          <p:nvPr/>
        </p:nvCxnSpPr>
        <p:spPr>
          <a:xfrm flipV="1">
            <a:off x="4334379" y="3268642"/>
            <a:ext cx="1417276" cy="5203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Rechteck 296">
            <a:extLst>
              <a:ext uri="{FF2B5EF4-FFF2-40B4-BE49-F238E27FC236}">
                <a16:creationId xmlns:a16="http://schemas.microsoft.com/office/drawing/2014/main" id="{BF071DB8-B47C-48D8-B131-81E028642DA3}"/>
              </a:ext>
            </a:extLst>
          </p:cNvPr>
          <p:cNvSpPr/>
          <p:nvPr/>
        </p:nvSpPr>
        <p:spPr>
          <a:xfrm>
            <a:off x="2946816" y="3358146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USB C Breakout Board</a:t>
            </a:r>
          </a:p>
        </p:txBody>
      </p:sp>
      <p:cxnSp>
        <p:nvCxnSpPr>
          <p:cNvPr id="298" name="Gerader Verbinder 297">
            <a:extLst>
              <a:ext uri="{FF2B5EF4-FFF2-40B4-BE49-F238E27FC236}">
                <a16:creationId xmlns:a16="http://schemas.microsoft.com/office/drawing/2014/main" id="{C45CE2F2-324B-44F2-9230-AB9C04032E5E}"/>
              </a:ext>
            </a:extLst>
          </p:cNvPr>
          <p:cNvCxnSpPr>
            <a:cxnSpLocks/>
            <a:stCxn id="237" idx="2"/>
            <a:endCxn id="297" idx="1"/>
          </p:cNvCxnSpPr>
          <p:nvPr/>
        </p:nvCxnSpPr>
        <p:spPr>
          <a:xfrm flipV="1">
            <a:off x="891111" y="3661875"/>
            <a:ext cx="2055705" cy="680234"/>
          </a:xfrm>
          <a:prstGeom prst="bentConnector3">
            <a:avLst>
              <a:gd name="adj1" fmla="val 50000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2" name="Textfeld 321">
            <a:extLst>
              <a:ext uri="{FF2B5EF4-FFF2-40B4-BE49-F238E27FC236}">
                <a16:creationId xmlns:a16="http://schemas.microsoft.com/office/drawing/2014/main" id="{32CAC357-EE61-45AA-8F37-4075F079212D}"/>
              </a:ext>
            </a:extLst>
          </p:cNvPr>
          <p:cNvSpPr txBox="1"/>
          <p:nvPr/>
        </p:nvSpPr>
        <p:spPr>
          <a:xfrm>
            <a:off x="3698652" y="3131963"/>
            <a:ext cx="90409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VBUS (left open)</a:t>
            </a:r>
          </a:p>
        </p:txBody>
      </p:sp>
      <p:sp>
        <p:nvSpPr>
          <p:cNvPr id="346" name="Rechteck 345">
            <a:extLst>
              <a:ext uri="{FF2B5EF4-FFF2-40B4-BE49-F238E27FC236}">
                <a16:creationId xmlns:a16="http://schemas.microsoft.com/office/drawing/2014/main" id="{0B834E6B-3D20-465E-A172-C3B3853B6A34}"/>
              </a:ext>
            </a:extLst>
          </p:cNvPr>
          <p:cNvSpPr/>
          <p:nvPr/>
        </p:nvSpPr>
        <p:spPr>
          <a:xfrm rot="5400000">
            <a:off x="8529888" y="2849992"/>
            <a:ext cx="242627" cy="15456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347" name="Rechteck 346">
            <a:extLst>
              <a:ext uri="{FF2B5EF4-FFF2-40B4-BE49-F238E27FC236}">
                <a16:creationId xmlns:a16="http://schemas.microsoft.com/office/drawing/2014/main" id="{F185F030-BF8A-44C2-939A-E6D4925F9371}"/>
              </a:ext>
            </a:extLst>
          </p:cNvPr>
          <p:cNvSpPr/>
          <p:nvPr/>
        </p:nvSpPr>
        <p:spPr>
          <a:xfrm rot="16200000">
            <a:off x="-125986" y="2550950"/>
            <a:ext cx="1437562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Speaker Panel Port</a:t>
            </a:r>
            <a:br>
              <a:rPr lang="de-DE" sz="1050"/>
            </a:br>
            <a:r>
              <a:rPr lang="de-DE" sz="1050"/>
              <a:t>(Banana Sockets)</a:t>
            </a:r>
          </a:p>
        </p:txBody>
      </p:sp>
      <p:sp>
        <p:nvSpPr>
          <p:cNvPr id="358" name="Textfeld 357">
            <a:extLst>
              <a:ext uri="{FF2B5EF4-FFF2-40B4-BE49-F238E27FC236}">
                <a16:creationId xmlns:a16="http://schemas.microsoft.com/office/drawing/2014/main" id="{74B08A6F-849D-4D47-A554-946C6894A8C3}"/>
              </a:ext>
            </a:extLst>
          </p:cNvPr>
          <p:cNvSpPr txBox="1"/>
          <p:nvPr/>
        </p:nvSpPr>
        <p:spPr>
          <a:xfrm>
            <a:off x="852903" y="2898958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59" name="Textfeld 358">
            <a:extLst>
              <a:ext uri="{FF2B5EF4-FFF2-40B4-BE49-F238E27FC236}">
                <a16:creationId xmlns:a16="http://schemas.microsoft.com/office/drawing/2014/main" id="{78EDEA6E-E974-4910-BB9D-4734406ED12B}"/>
              </a:ext>
            </a:extLst>
          </p:cNvPr>
          <p:cNvSpPr txBox="1"/>
          <p:nvPr/>
        </p:nvSpPr>
        <p:spPr>
          <a:xfrm>
            <a:off x="877746" y="2587940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sp>
        <p:nvSpPr>
          <p:cNvPr id="171" name="Rechteck 170">
            <a:extLst>
              <a:ext uri="{FF2B5EF4-FFF2-40B4-BE49-F238E27FC236}">
                <a16:creationId xmlns:a16="http://schemas.microsoft.com/office/drawing/2014/main" id="{354C9745-94FE-4F51-8BC7-375613A8DA2A}"/>
              </a:ext>
            </a:extLst>
          </p:cNvPr>
          <p:cNvSpPr/>
          <p:nvPr/>
        </p:nvSpPr>
        <p:spPr>
          <a:xfrm>
            <a:off x="10556967" y="2190928"/>
            <a:ext cx="1231223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de-DE" sz="1050"/>
              <a:t>Volume Control</a:t>
            </a:r>
          </a:p>
        </p:txBody>
      </p:sp>
      <p:sp>
        <p:nvSpPr>
          <p:cNvPr id="190" name="Textfeld 189">
            <a:extLst>
              <a:ext uri="{FF2B5EF4-FFF2-40B4-BE49-F238E27FC236}">
                <a16:creationId xmlns:a16="http://schemas.microsoft.com/office/drawing/2014/main" id="{1CD0A63F-0A8A-435B-91A5-22DC3A101394}"/>
              </a:ext>
            </a:extLst>
          </p:cNvPr>
          <p:cNvSpPr txBox="1"/>
          <p:nvPr/>
        </p:nvSpPr>
        <p:spPr>
          <a:xfrm>
            <a:off x="10577475" y="2586923"/>
            <a:ext cx="150233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Rotary Encoder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CLK : D2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DT : D3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SW : D4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GND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+ : 5V</a:t>
            </a:r>
          </a:p>
        </p:txBody>
      </p:sp>
      <p:sp>
        <p:nvSpPr>
          <p:cNvPr id="194" name="Rechteck 193">
            <a:extLst>
              <a:ext uri="{FF2B5EF4-FFF2-40B4-BE49-F238E27FC236}">
                <a16:creationId xmlns:a16="http://schemas.microsoft.com/office/drawing/2014/main" id="{7CCAC5FF-312A-4F8D-9A8B-0F1D13D7060C}"/>
              </a:ext>
            </a:extLst>
          </p:cNvPr>
          <p:cNvSpPr/>
          <p:nvPr/>
        </p:nvSpPr>
        <p:spPr>
          <a:xfrm>
            <a:off x="10133366" y="2259923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FA31875F-8B0B-44FD-8AFF-9B8113D12537}"/>
              </a:ext>
            </a:extLst>
          </p:cNvPr>
          <p:cNvCxnSpPr>
            <a:cxnSpLocks/>
            <a:stCxn id="171" idx="1"/>
            <a:endCxn id="194" idx="3"/>
          </p:cNvCxnSpPr>
          <p:nvPr/>
        </p:nvCxnSpPr>
        <p:spPr>
          <a:xfrm flipH="1">
            <a:off x="10404508" y="2398422"/>
            <a:ext cx="152459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Gerader Verbinder 241">
            <a:extLst>
              <a:ext uri="{FF2B5EF4-FFF2-40B4-BE49-F238E27FC236}">
                <a16:creationId xmlns:a16="http://schemas.microsoft.com/office/drawing/2014/main" id="{6819984F-09CF-4495-AD41-9D9F89DE8CE8}"/>
              </a:ext>
            </a:extLst>
          </p:cNvPr>
          <p:cNvCxnSpPr>
            <a:cxnSpLocks/>
            <a:stCxn id="123" idx="2"/>
            <a:endCxn id="146" idx="0"/>
          </p:cNvCxnSpPr>
          <p:nvPr/>
        </p:nvCxnSpPr>
        <p:spPr>
          <a:xfrm flipH="1">
            <a:off x="7960890" y="4259345"/>
            <a:ext cx="737" cy="254949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Rechteck 245">
            <a:extLst>
              <a:ext uri="{FF2B5EF4-FFF2-40B4-BE49-F238E27FC236}">
                <a16:creationId xmlns:a16="http://schemas.microsoft.com/office/drawing/2014/main" id="{873B94CA-615C-4942-A262-5FB401D6F8CB}"/>
              </a:ext>
            </a:extLst>
          </p:cNvPr>
          <p:cNvSpPr/>
          <p:nvPr/>
        </p:nvSpPr>
        <p:spPr>
          <a:xfrm>
            <a:off x="2399216" y="2707714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67" name="Verbinder: gewinkelt 208">
            <a:extLst>
              <a:ext uri="{FF2B5EF4-FFF2-40B4-BE49-F238E27FC236}">
                <a16:creationId xmlns:a16="http://schemas.microsoft.com/office/drawing/2014/main" id="{5A0CA580-B79F-42DA-A63F-23541C39345B}"/>
              </a:ext>
            </a:extLst>
          </p:cNvPr>
          <p:cNvCxnSpPr>
            <a:cxnSpLocks/>
            <a:stCxn id="347" idx="2"/>
            <a:endCxn id="246" idx="1"/>
          </p:cNvCxnSpPr>
          <p:nvPr/>
        </p:nvCxnSpPr>
        <p:spPr>
          <a:xfrm flipV="1">
            <a:off x="891111" y="2846214"/>
            <a:ext cx="1508105" cy="3052"/>
          </a:xfrm>
          <a:prstGeom prst="straightConnector1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Rechteck 304">
            <a:extLst>
              <a:ext uri="{FF2B5EF4-FFF2-40B4-BE49-F238E27FC236}">
                <a16:creationId xmlns:a16="http://schemas.microsoft.com/office/drawing/2014/main" id="{2C953FF2-EACD-4B17-B16B-F0B367520752}"/>
              </a:ext>
            </a:extLst>
          </p:cNvPr>
          <p:cNvSpPr/>
          <p:nvPr/>
        </p:nvSpPr>
        <p:spPr>
          <a:xfrm>
            <a:off x="2780865" y="3499034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4" name="Ellipse 213">
            <a:extLst>
              <a:ext uri="{FF2B5EF4-FFF2-40B4-BE49-F238E27FC236}">
                <a16:creationId xmlns:a16="http://schemas.microsoft.com/office/drawing/2014/main" id="{05E88ABE-27C5-450F-9502-A577E4FBE666}"/>
              </a:ext>
            </a:extLst>
          </p:cNvPr>
          <p:cNvSpPr/>
          <p:nvPr/>
        </p:nvSpPr>
        <p:spPr>
          <a:xfrm>
            <a:off x="5408069" y="1968195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1k</a:t>
            </a:r>
          </a:p>
        </p:txBody>
      </p:sp>
      <p:sp>
        <p:nvSpPr>
          <p:cNvPr id="357" name="Textfeld 356">
            <a:extLst>
              <a:ext uri="{FF2B5EF4-FFF2-40B4-BE49-F238E27FC236}">
                <a16:creationId xmlns:a16="http://schemas.microsoft.com/office/drawing/2014/main" id="{3259B324-28F6-4CE3-925D-AD7F51F4589E}"/>
              </a:ext>
            </a:extLst>
          </p:cNvPr>
          <p:cNvSpPr txBox="1"/>
          <p:nvPr/>
        </p:nvSpPr>
        <p:spPr>
          <a:xfrm>
            <a:off x="6937721" y="3568047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cxnSp>
        <p:nvCxnSpPr>
          <p:cNvPr id="425" name="Gerader Verbinder 424">
            <a:extLst>
              <a:ext uri="{FF2B5EF4-FFF2-40B4-BE49-F238E27FC236}">
                <a16:creationId xmlns:a16="http://schemas.microsoft.com/office/drawing/2014/main" id="{AD3E4BD7-8671-42B0-A878-D7238330D290}"/>
              </a:ext>
            </a:extLst>
          </p:cNvPr>
          <p:cNvCxnSpPr>
            <a:cxnSpLocks/>
          </p:cNvCxnSpPr>
          <p:nvPr/>
        </p:nvCxnSpPr>
        <p:spPr>
          <a:xfrm flipH="1" flipV="1">
            <a:off x="9195313" y="2310621"/>
            <a:ext cx="1015769" cy="2077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Gerader Verbinder 429">
            <a:extLst>
              <a:ext uri="{FF2B5EF4-FFF2-40B4-BE49-F238E27FC236}">
                <a16:creationId xmlns:a16="http://schemas.microsoft.com/office/drawing/2014/main" id="{0EEF97ED-9B9D-4B3A-8764-03BDE814083E}"/>
              </a:ext>
            </a:extLst>
          </p:cNvPr>
          <p:cNvCxnSpPr>
            <a:cxnSpLocks/>
            <a:endCxn id="481" idx="3"/>
          </p:cNvCxnSpPr>
          <p:nvPr/>
        </p:nvCxnSpPr>
        <p:spPr>
          <a:xfrm flipH="1">
            <a:off x="9605978" y="2407948"/>
            <a:ext cx="623576" cy="2662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Gerader Verbinder 430">
            <a:extLst>
              <a:ext uri="{FF2B5EF4-FFF2-40B4-BE49-F238E27FC236}">
                <a16:creationId xmlns:a16="http://schemas.microsoft.com/office/drawing/2014/main" id="{5D3A26F2-6F31-47CA-949C-35C70E09C29A}"/>
              </a:ext>
            </a:extLst>
          </p:cNvPr>
          <p:cNvCxnSpPr>
            <a:cxnSpLocks/>
          </p:cNvCxnSpPr>
          <p:nvPr/>
        </p:nvCxnSpPr>
        <p:spPr>
          <a:xfrm flipH="1">
            <a:off x="9587506" y="2493673"/>
            <a:ext cx="623576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Gerader Verbinder 431">
            <a:extLst>
              <a:ext uri="{FF2B5EF4-FFF2-40B4-BE49-F238E27FC236}">
                <a16:creationId xmlns:a16="http://schemas.microsoft.com/office/drawing/2014/main" id="{54278CD3-05A1-4896-A6F2-662C950A7FA4}"/>
              </a:ext>
            </a:extLst>
          </p:cNvPr>
          <p:cNvCxnSpPr>
            <a:cxnSpLocks/>
          </p:cNvCxnSpPr>
          <p:nvPr/>
        </p:nvCxnSpPr>
        <p:spPr>
          <a:xfrm flipV="1">
            <a:off x="2670358" y="2789063"/>
            <a:ext cx="2445910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5" name="Gerader Verbinder 434">
            <a:extLst>
              <a:ext uri="{FF2B5EF4-FFF2-40B4-BE49-F238E27FC236}">
                <a16:creationId xmlns:a16="http://schemas.microsoft.com/office/drawing/2014/main" id="{64148C4C-A593-442B-A2B3-14EFF0B8C696}"/>
              </a:ext>
            </a:extLst>
          </p:cNvPr>
          <p:cNvCxnSpPr>
            <a:cxnSpLocks/>
          </p:cNvCxnSpPr>
          <p:nvPr/>
        </p:nvCxnSpPr>
        <p:spPr>
          <a:xfrm flipV="1">
            <a:off x="2670358" y="2893838"/>
            <a:ext cx="2445910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6" name="Textfeld 435">
            <a:extLst>
              <a:ext uri="{FF2B5EF4-FFF2-40B4-BE49-F238E27FC236}">
                <a16:creationId xmlns:a16="http://schemas.microsoft.com/office/drawing/2014/main" id="{89B716C7-E4A7-40BB-AE2F-95A010974EF0}"/>
              </a:ext>
            </a:extLst>
          </p:cNvPr>
          <p:cNvSpPr txBox="1"/>
          <p:nvPr/>
        </p:nvSpPr>
        <p:spPr>
          <a:xfrm>
            <a:off x="2156926" y="4185747"/>
            <a:ext cx="178446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 Board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D+ : Pin 14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D- : Pin 15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connected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: left open</a:t>
            </a:r>
          </a:p>
        </p:txBody>
      </p:sp>
      <p:sp>
        <p:nvSpPr>
          <p:cNvPr id="444" name="Textfeld 443">
            <a:extLst>
              <a:ext uri="{FF2B5EF4-FFF2-40B4-BE49-F238E27FC236}">
                <a16:creationId xmlns:a16="http://schemas.microsoft.com/office/drawing/2014/main" id="{9E5AC0A0-E27E-4999-A321-7F545B6AAA53}"/>
              </a:ext>
            </a:extLst>
          </p:cNvPr>
          <p:cNvSpPr txBox="1"/>
          <p:nvPr/>
        </p:nvSpPr>
        <p:spPr>
          <a:xfrm>
            <a:off x="5929115" y="3103856"/>
            <a:ext cx="569067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      7 (10)</a:t>
            </a:r>
          </a:p>
        </p:txBody>
      </p:sp>
      <p:sp>
        <p:nvSpPr>
          <p:cNvPr id="445" name="Textfeld 444">
            <a:extLst>
              <a:ext uri="{FF2B5EF4-FFF2-40B4-BE49-F238E27FC236}">
                <a16:creationId xmlns:a16="http://schemas.microsoft.com/office/drawing/2014/main" id="{184794FA-478A-4B54-8587-1D5C3082235D}"/>
              </a:ext>
            </a:extLst>
          </p:cNvPr>
          <p:cNvSpPr txBox="1"/>
          <p:nvPr/>
        </p:nvSpPr>
        <p:spPr>
          <a:xfrm>
            <a:off x="6766013" y="2247663"/>
            <a:ext cx="259686" cy="32316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 b="1"/>
              <a:t>5V</a:t>
            </a:r>
            <a:br>
              <a:rPr lang="de-DE" sz="1050" b="1"/>
            </a:br>
            <a:r>
              <a:rPr lang="de-DE" sz="1050" b="1"/>
              <a:t>GND</a:t>
            </a:r>
          </a:p>
        </p:txBody>
      </p:sp>
      <p:sp>
        <p:nvSpPr>
          <p:cNvPr id="446" name="Rechteck 445">
            <a:extLst>
              <a:ext uri="{FF2B5EF4-FFF2-40B4-BE49-F238E27FC236}">
                <a16:creationId xmlns:a16="http://schemas.microsoft.com/office/drawing/2014/main" id="{494EBC1D-1C3D-4DFE-BD9B-DFC58315EE7F}"/>
              </a:ext>
            </a:extLst>
          </p:cNvPr>
          <p:cNvSpPr/>
          <p:nvPr/>
        </p:nvSpPr>
        <p:spPr>
          <a:xfrm>
            <a:off x="10095633" y="3645370"/>
            <a:ext cx="313100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47" name="Gerader Verbinder 446">
            <a:extLst>
              <a:ext uri="{FF2B5EF4-FFF2-40B4-BE49-F238E27FC236}">
                <a16:creationId xmlns:a16="http://schemas.microsoft.com/office/drawing/2014/main" id="{DA0D4782-081C-4AB0-BD51-40EAF3234614}"/>
              </a:ext>
            </a:extLst>
          </p:cNvPr>
          <p:cNvCxnSpPr>
            <a:cxnSpLocks/>
            <a:stCxn id="450" idx="1"/>
            <a:endCxn id="446" idx="3"/>
          </p:cNvCxnSpPr>
          <p:nvPr/>
        </p:nvCxnSpPr>
        <p:spPr>
          <a:xfrm flipH="1" flipV="1">
            <a:off x="10408733" y="3783870"/>
            <a:ext cx="196147" cy="959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8" name="Ellipse 447">
            <a:extLst>
              <a:ext uri="{FF2B5EF4-FFF2-40B4-BE49-F238E27FC236}">
                <a16:creationId xmlns:a16="http://schemas.microsoft.com/office/drawing/2014/main" id="{6F841032-39FE-4BE3-A006-1EA37D033E75}"/>
              </a:ext>
            </a:extLst>
          </p:cNvPr>
          <p:cNvSpPr/>
          <p:nvPr/>
        </p:nvSpPr>
        <p:spPr>
          <a:xfrm>
            <a:off x="8250866" y="3414160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449" name="Gerader Verbinder 335">
            <a:extLst>
              <a:ext uri="{FF2B5EF4-FFF2-40B4-BE49-F238E27FC236}">
                <a16:creationId xmlns:a16="http://schemas.microsoft.com/office/drawing/2014/main" id="{9E0E92B8-65FC-405D-AAD2-BB54DB5112CB}"/>
              </a:ext>
            </a:extLst>
          </p:cNvPr>
          <p:cNvCxnSpPr>
            <a:cxnSpLocks/>
            <a:stCxn id="448" idx="4"/>
          </p:cNvCxnSpPr>
          <p:nvPr/>
        </p:nvCxnSpPr>
        <p:spPr>
          <a:xfrm rot="16200000" flipH="1">
            <a:off x="9222115" y="2890622"/>
            <a:ext cx="106796" cy="165600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Rechteck 449">
            <a:extLst>
              <a:ext uri="{FF2B5EF4-FFF2-40B4-BE49-F238E27FC236}">
                <a16:creationId xmlns:a16="http://schemas.microsoft.com/office/drawing/2014/main" id="{5294CFC4-6609-4E11-B931-440C5038A753}"/>
              </a:ext>
            </a:extLst>
          </p:cNvPr>
          <p:cNvSpPr/>
          <p:nvPr/>
        </p:nvSpPr>
        <p:spPr>
          <a:xfrm>
            <a:off x="10604880" y="3642331"/>
            <a:ext cx="1178341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Player LED</a:t>
            </a:r>
          </a:p>
        </p:txBody>
      </p:sp>
      <p:cxnSp>
        <p:nvCxnSpPr>
          <p:cNvPr id="460" name="Gerader Verbinder 459">
            <a:extLst>
              <a:ext uri="{FF2B5EF4-FFF2-40B4-BE49-F238E27FC236}">
                <a16:creationId xmlns:a16="http://schemas.microsoft.com/office/drawing/2014/main" id="{EF1B7313-63AF-414E-9FEE-A9488603D628}"/>
              </a:ext>
            </a:extLst>
          </p:cNvPr>
          <p:cNvCxnSpPr>
            <a:cxnSpLocks/>
            <a:stCxn id="448" idx="0"/>
            <a:endCxn id="463" idx="2"/>
          </p:cNvCxnSpPr>
          <p:nvPr/>
        </p:nvCxnSpPr>
        <p:spPr>
          <a:xfrm flipV="1">
            <a:off x="8447513" y="2812718"/>
            <a:ext cx="3052" cy="601442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1" name="Textfeld 460">
            <a:extLst>
              <a:ext uri="{FF2B5EF4-FFF2-40B4-BE49-F238E27FC236}">
                <a16:creationId xmlns:a16="http://schemas.microsoft.com/office/drawing/2014/main" id="{5733726D-5422-43FE-8AC8-4506E8327223}"/>
              </a:ext>
            </a:extLst>
          </p:cNvPr>
          <p:cNvSpPr txBox="1"/>
          <p:nvPr/>
        </p:nvSpPr>
        <p:spPr>
          <a:xfrm>
            <a:off x="9638810" y="380697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463" name="Textfeld 462">
            <a:extLst>
              <a:ext uri="{FF2B5EF4-FFF2-40B4-BE49-F238E27FC236}">
                <a16:creationId xmlns:a16="http://schemas.microsoft.com/office/drawing/2014/main" id="{A927356F-2EC7-477F-A1E5-99C8B9E97349}"/>
              </a:ext>
            </a:extLst>
          </p:cNvPr>
          <p:cNvSpPr txBox="1"/>
          <p:nvPr/>
        </p:nvSpPr>
        <p:spPr>
          <a:xfrm>
            <a:off x="8374422" y="2651135"/>
            <a:ext cx="1522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D9</a:t>
            </a:r>
          </a:p>
        </p:txBody>
      </p:sp>
      <p:cxnSp>
        <p:nvCxnSpPr>
          <p:cNvPr id="471" name="Verbinder: gewinkelt 470">
            <a:extLst>
              <a:ext uri="{FF2B5EF4-FFF2-40B4-BE49-F238E27FC236}">
                <a16:creationId xmlns:a16="http://schemas.microsoft.com/office/drawing/2014/main" id="{1CE75FBD-E17B-4D0D-AC9B-C853027F7D25}"/>
              </a:ext>
            </a:extLst>
          </p:cNvPr>
          <p:cNvCxnSpPr>
            <a:cxnSpLocks/>
            <a:stCxn id="461" idx="3"/>
          </p:cNvCxnSpPr>
          <p:nvPr/>
        </p:nvCxnSpPr>
        <p:spPr>
          <a:xfrm flipV="1">
            <a:off x="9893688" y="3879766"/>
            <a:ext cx="186666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1" name="Textfeld 480">
            <a:extLst>
              <a:ext uri="{FF2B5EF4-FFF2-40B4-BE49-F238E27FC236}">
                <a16:creationId xmlns:a16="http://schemas.microsoft.com/office/drawing/2014/main" id="{6657958E-345B-4958-80EC-AC6BC61437A6}"/>
              </a:ext>
            </a:extLst>
          </p:cNvPr>
          <p:cNvSpPr txBox="1"/>
          <p:nvPr/>
        </p:nvSpPr>
        <p:spPr>
          <a:xfrm>
            <a:off x="9239186" y="2172485"/>
            <a:ext cx="366792" cy="4762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0" tIns="0" rIns="0" bIns="0" rtlCol="0" anchor="ctr" anchorCtr="0"/>
          <a:lstStyle>
            <a:defPPr>
              <a:defRPr lang="de-DE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de-DE" sz="1050">
                <a:solidFill>
                  <a:schemeClr val="tx1"/>
                </a:solidFill>
              </a:rPr>
              <a:t>D2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D3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D4</a:t>
            </a:r>
          </a:p>
        </p:txBody>
      </p:sp>
      <p:sp>
        <p:nvSpPr>
          <p:cNvPr id="482" name="Ellipse 481">
            <a:extLst>
              <a:ext uri="{FF2B5EF4-FFF2-40B4-BE49-F238E27FC236}">
                <a16:creationId xmlns:a16="http://schemas.microsoft.com/office/drawing/2014/main" id="{BCD1F32D-D5DA-45D8-BD68-BE2DB56BF628}"/>
              </a:ext>
            </a:extLst>
          </p:cNvPr>
          <p:cNvSpPr/>
          <p:nvPr/>
        </p:nvSpPr>
        <p:spPr>
          <a:xfrm>
            <a:off x="5843719" y="3426422"/>
            <a:ext cx="706354" cy="34559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470 µF </a:t>
            </a:r>
          </a:p>
        </p:txBody>
      </p:sp>
      <p:cxnSp>
        <p:nvCxnSpPr>
          <p:cNvPr id="484" name="Gerader Verbinder 483">
            <a:extLst>
              <a:ext uri="{FF2B5EF4-FFF2-40B4-BE49-F238E27FC236}">
                <a16:creationId xmlns:a16="http://schemas.microsoft.com/office/drawing/2014/main" id="{D869EC3C-A413-4C8C-AF12-466EA24A9737}"/>
              </a:ext>
            </a:extLst>
          </p:cNvPr>
          <p:cNvCxnSpPr>
            <a:stCxn id="482" idx="1"/>
          </p:cNvCxnSpPr>
          <p:nvPr/>
        </p:nvCxnSpPr>
        <p:spPr>
          <a:xfrm flipV="1">
            <a:off x="5947162" y="3304930"/>
            <a:ext cx="0" cy="1721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Gerader Verbinder 484">
            <a:extLst>
              <a:ext uri="{FF2B5EF4-FFF2-40B4-BE49-F238E27FC236}">
                <a16:creationId xmlns:a16="http://schemas.microsoft.com/office/drawing/2014/main" id="{8A5DABD0-D5AE-4572-9723-4F9083DB1CC7}"/>
              </a:ext>
            </a:extLst>
          </p:cNvPr>
          <p:cNvCxnSpPr>
            <a:cxnSpLocks/>
            <a:stCxn id="482" idx="7"/>
          </p:cNvCxnSpPr>
          <p:nvPr/>
        </p:nvCxnSpPr>
        <p:spPr>
          <a:xfrm flipH="1" flipV="1">
            <a:off x="6441176" y="3288522"/>
            <a:ext cx="0" cy="1885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hteck 150">
            <a:extLst>
              <a:ext uri="{FF2B5EF4-FFF2-40B4-BE49-F238E27FC236}">
                <a16:creationId xmlns:a16="http://schemas.microsoft.com/office/drawing/2014/main" id="{070857AC-D4A5-41ED-BC2C-4382243BA073}"/>
              </a:ext>
            </a:extLst>
          </p:cNvPr>
          <p:cNvSpPr/>
          <p:nvPr/>
        </p:nvSpPr>
        <p:spPr>
          <a:xfrm>
            <a:off x="8862466" y="2007211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8405215" y="64888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65" name="Gerader Verbinder 164">
            <a:extLst>
              <a:ext uri="{FF2B5EF4-FFF2-40B4-BE49-F238E27FC236}">
                <a16:creationId xmlns:a16="http://schemas.microsoft.com/office/drawing/2014/main" id="{D86C80A3-D06C-41CF-98EA-C550E44B949B}"/>
              </a:ext>
            </a:extLst>
          </p:cNvPr>
          <p:cNvCxnSpPr>
            <a:cxnSpLocks/>
            <a:stCxn id="163" idx="2"/>
            <a:endCxn id="151" idx="0"/>
          </p:cNvCxnSpPr>
          <p:nvPr/>
        </p:nvCxnSpPr>
        <p:spPr>
          <a:xfrm flipH="1">
            <a:off x="8998037" y="1245516"/>
            <a:ext cx="19320" cy="76169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Textfeld 169">
            <a:extLst>
              <a:ext uri="{FF2B5EF4-FFF2-40B4-BE49-F238E27FC236}">
                <a16:creationId xmlns:a16="http://schemas.microsoft.com/office/drawing/2014/main" id="{5DED1841-1AF2-42B5-994A-8C5C95D4DB7F}"/>
              </a:ext>
            </a:extLst>
          </p:cNvPr>
          <p:cNvSpPr txBox="1"/>
          <p:nvPr/>
        </p:nvSpPr>
        <p:spPr>
          <a:xfrm>
            <a:off x="10080354" y="346789"/>
            <a:ext cx="19848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GND, D-, D+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left open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182" name="Textfeld 181">
            <a:extLst>
              <a:ext uri="{FF2B5EF4-FFF2-40B4-BE49-F238E27FC236}">
                <a16:creationId xmlns:a16="http://schemas.microsoft.com/office/drawing/2014/main" id="{1B4B742F-A411-4346-A148-F6288BA57588}"/>
              </a:ext>
            </a:extLst>
          </p:cNvPr>
          <p:cNvSpPr txBox="1"/>
          <p:nvPr/>
        </p:nvSpPr>
        <p:spPr>
          <a:xfrm>
            <a:off x="8492466" y="3944046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83" name="Textfeld 182">
            <a:extLst>
              <a:ext uri="{FF2B5EF4-FFF2-40B4-BE49-F238E27FC236}">
                <a16:creationId xmlns:a16="http://schemas.microsoft.com/office/drawing/2014/main" id="{FE2F2558-A33C-4DF9-86AC-172D95FE8E4A}"/>
              </a:ext>
            </a:extLst>
          </p:cNvPr>
          <p:cNvSpPr txBox="1"/>
          <p:nvPr/>
        </p:nvSpPr>
        <p:spPr>
          <a:xfrm>
            <a:off x="6937721" y="393481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cxnSp>
        <p:nvCxnSpPr>
          <p:cNvPr id="184" name="Verbinder: gewinkelt 470">
            <a:extLst>
              <a:ext uri="{FF2B5EF4-FFF2-40B4-BE49-F238E27FC236}">
                <a16:creationId xmlns:a16="http://schemas.microsoft.com/office/drawing/2014/main" id="{4B2CDC05-ACDC-4A2C-AE15-60C1B4B7A9E7}"/>
              </a:ext>
            </a:extLst>
          </p:cNvPr>
          <p:cNvCxnSpPr>
            <a:cxnSpLocks/>
            <a:stCxn id="183" idx="3"/>
          </p:cNvCxnSpPr>
          <p:nvPr/>
        </p:nvCxnSpPr>
        <p:spPr>
          <a:xfrm>
            <a:off x="7083595" y="4015602"/>
            <a:ext cx="640059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470">
            <a:extLst>
              <a:ext uri="{FF2B5EF4-FFF2-40B4-BE49-F238E27FC236}">
                <a16:creationId xmlns:a16="http://schemas.microsoft.com/office/drawing/2014/main" id="{14DA0739-02B5-4D32-BEFA-CBA5979FE7EA}"/>
              </a:ext>
            </a:extLst>
          </p:cNvPr>
          <p:cNvCxnSpPr>
            <a:cxnSpLocks/>
            <a:endCxn id="182" idx="1"/>
          </p:cNvCxnSpPr>
          <p:nvPr/>
        </p:nvCxnSpPr>
        <p:spPr>
          <a:xfrm>
            <a:off x="8244021" y="4010295"/>
            <a:ext cx="248445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feld 168">
            <a:extLst>
              <a:ext uri="{FF2B5EF4-FFF2-40B4-BE49-F238E27FC236}">
                <a16:creationId xmlns:a16="http://schemas.microsoft.com/office/drawing/2014/main" id="{754B5183-B504-4520-90B3-BDB7BB05AA8B}"/>
              </a:ext>
            </a:extLst>
          </p:cNvPr>
          <p:cNvSpPr txBox="1"/>
          <p:nvPr/>
        </p:nvSpPr>
        <p:spPr>
          <a:xfrm>
            <a:off x="268968" y="4990631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USB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explorer to manage sd card</a:t>
            </a:r>
          </a:p>
        </p:txBody>
      </p:sp>
      <p:sp>
        <p:nvSpPr>
          <p:cNvPr id="177" name="Textfeld 176">
            <a:extLst>
              <a:ext uri="{FF2B5EF4-FFF2-40B4-BE49-F238E27FC236}">
                <a16:creationId xmlns:a16="http://schemas.microsoft.com/office/drawing/2014/main" id="{4A01B606-B581-433F-A1AD-815F5149FEBE}"/>
              </a:ext>
            </a:extLst>
          </p:cNvPr>
          <p:cNvSpPr txBox="1"/>
          <p:nvPr/>
        </p:nvSpPr>
        <p:spPr>
          <a:xfrm>
            <a:off x="234062" y="1587297"/>
            <a:ext cx="156164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Speaker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8 Ohm 4 Watt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banana connectors</a:t>
            </a:r>
          </a:p>
        </p:txBody>
      </p:sp>
      <p:sp>
        <p:nvSpPr>
          <p:cNvPr id="180" name="Textfeld 179">
            <a:extLst>
              <a:ext uri="{FF2B5EF4-FFF2-40B4-BE49-F238E27FC236}">
                <a16:creationId xmlns:a16="http://schemas.microsoft.com/office/drawing/2014/main" id="{30B57D2F-5972-43B8-AE11-71DF6CB1BE22}"/>
              </a:ext>
            </a:extLst>
          </p:cNvPr>
          <p:cNvSpPr txBox="1"/>
          <p:nvPr/>
        </p:nvSpPr>
        <p:spPr>
          <a:xfrm>
            <a:off x="6542462" y="2635043"/>
            <a:ext cx="12426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/>
              <a:t>5V and GND connections </a:t>
            </a:r>
            <a:br>
              <a:rPr lang="de-DE" sz="800"/>
            </a:br>
            <a:r>
              <a:rPr lang="de-DE" sz="800"/>
              <a:t>not shown in diagram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1ADD2CA3-8759-4943-8063-993D94DCA3D2}"/>
              </a:ext>
            </a:extLst>
          </p:cNvPr>
          <p:cNvSpPr/>
          <p:nvPr/>
        </p:nvSpPr>
        <p:spPr>
          <a:xfrm>
            <a:off x="7348748" y="451429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44691D0-EE19-4165-8353-F0345C82B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  <p:cxnSp>
        <p:nvCxnSpPr>
          <p:cNvPr id="149" name="Gerader Verbinder 148">
            <a:extLst>
              <a:ext uri="{FF2B5EF4-FFF2-40B4-BE49-F238E27FC236}">
                <a16:creationId xmlns:a16="http://schemas.microsoft.com/office/drawing/2014/main" id="{F03909D7-89EA-453E-BC24-36282B621F95}"/>
              </a:ext>
            </a:extLst>
          </p:cNvPr>
          <p:cNvCxnSpPr>
            <a:cxnSpLocks/>
            <a:stCxn id="194" idx="1"/>
            <a:endCxn id="153" idx="3"/>
          </p:cNvCxnSpPr>
          <p:nvPr/>
        </p:nvCxnSpPr>
        <p:spPr>
          <a:xfrm rot="10800000">
            <a:off x="9989766" y="1925459"/>
            <a:ext cx="143601" cy="472964"/>
          </a:xfrm>
          <a:prstGeom prst="bentConnector3">
            <a:avLst>
              <a:gd name="adj1" fmla="val -16329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feld 152">
            <a:extLst>
              <a:ext uri="{FF2B5EF4-FFF2-40B4-BE49-F238E27FC236}">
                <a16:creationId xmlns:a16="http://schemas.microsoft.com/office/drawing/2014/main" id="{E7911481-17B2-466B-9312-AA489637A752}"/>
              </a:ext>
            </a:extLst>
          </p:cNvPr>
          <p:cNvSpPr txBox="1"/>
          <p:nvPr/>
        </p:nvSpPr>
        <p:spPr>
          <a:xfrm>
            <a:off x="9734887" y="184466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157" name="Gerader Verbinder 148">
            <a:extLst>
              <a:ext uri="{FF2B5EF4-FFF2-40B4-BE49-F238E27FC236}">
                <a16:creationId xmlns:a16="http://schemas.microsoft.com/office/drawing/2014/main" id="{95E9883F-14D1-43A2-AD2D-5589D310F688}"/>
              </a:ext>
            </a:extLst>
          </p:cNvPr>
          <p:cNvCxnSpPr>
            <a:cxnSpLocks/>
            <a:stCxn id="194" idx="1"/>
            <a:endCxn id="158" idx="3"/>
          </p:cNvCxnSpPr>
          <p:nvPr/>
        </p:nvCxnSpPr>
        <p:spPr>
          <a:xfrm rot="10800000" flipV="1">
            <a:off x="10002892" y="2398423"/>
            <a:ext cx="130475" cy="478756"/>
          </a:xfrm>
          <a:prstGeom prst="bentConnector3">
            <a:avLst>
              <a:gd name="adj1" fmla="val -30302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7DA36872-3B07-4A5E-A24D-AF293203D455}"/>
              </a:ext>
            </a:extLst>
          </p:cNvPr>
          <p:cNvSpPr txBox="1"/>
          <p:nvPr/>
        </p:nvSpPr>
        <p:spPr>
          <a:xfrm>
            <a:off x="9748013" y="2796387"/>
            <a:ext cx="254878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04E501EB-2BEB-4BB2-9045-F61B45F706F8}"/>
              </a:ext>
            </a:extLst>
          </p:cNvPr>
          <p:cNvSpPr txBox="1"/>
          <p:nvPr/>
        </p:nvSpPr>
        <p:spPr>
          <a:xfrm>
            <a:off x="8704128" y="4472171"/>
            <a:ext cx="2322752" cy="10618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Address: 0x10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Libraries: 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dfrobot</a:t>
            </a:r>
            <a:r>
              <a:rPr lang="de-DE" sz="1050"/>
              <a:t>/DFRobotDFPlayerMini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paulstoffregen/Encoder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arkhipenko/TaskScheduler</a:t>
            </a:r>
          </a:p>
        </p:txBody>
      </p:sp>
    </p:spTree>
    <p:extLst>
      <p:ext uri="{BB962C8B-B14F-4D97-AF65-F5344CB8AC3E}">
        <p14:creationId xmlns:p14="http://schemas.microsoft.com/office/powerpoint/2010/main" val="16849816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inbelegung des DFPlayer Mini">
            <a:extLst>
              <a:ext uri="{FF2B5EF4-FFF2-40B4-BE49-F238E27FC236}">
                <a16:creationId xmlns:a16="http://schemas.microsoft.com/office/drawing/2014/main" id="{802EE27A-3205-44B8-B56B-5C4229C34C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6035" y="93133"/>
            <a:ext cx="3224107" cy="237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17070A5B-19CF-4870-98AC-61E90EE697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586" y="2472267"/>
            <a:ext cx="5404556" cy="427566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419424E-F768-4D6F-8455-A483E287C3B0}"/>
              </a:ext>
            </a:extLst>
          </p:cNvPr>
          <p:cNvSpPr txBox="1"/>
          <p:nvPr/>
        </p:nvSpPr>
        <p:spPr>
          <a:xfrm>
            <a:off x="593658" y="339004"/>
            <a:ext cx="485581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DFRobotDFPlayerMini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SoftwareSerial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>
                <a:solidFill>
                  <a:srgbClr val="95A5A6"/>
                </a:solidFill>
                <a:effectLst/>
                <a:latin typeface="Consolas" panose="020B0609020204030204" pitchFamily="49" charset="0"/>
              </a:rPr>
              <a:t>  // RX, TX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400"/>
              <a:t>…</a:t>
            </a:r>
            <a:br>
              <a:rPr lang="de-DE" sz="1400"/>
            </a:br>
            <a:r>
              <a:rPr lang="de-DE" sz="1400" err="1"/>
              <a:t>setup</a:t>
            </a:r>
            <a:endParaRPr lang="de-DE" sz="1400"/>
          </a:p>
          <a:p>
            <a:r>
              <a:rPr lang="de-DE" sz="1400">
                <a:solidFill>
                  <a:srgbClr val="D35400"/>
                </a:solidFill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9600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loop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D0C2AC1-D49E-47E7-98C6-99DD1FA4CAEA}"/>
              </a:ext>
            </a:extLst>
          </p:cNvPr>
          <p:cNvSpPr txBox="1"/>
          <p:nvPr/>
        </p:nvSpPr>
        <p:spPr>
          <a:xfrm>
            <a:off x="381000" y="2616200"/>
            <a:ext cx="504497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Arduino Pin auf Player Pin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D2 (TX) auf 10 (RX) braucht 1 k Ohm Widerstand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D3 (RX) auf 11 (TX)</a:t>
            </a:r>
          </a:p>
        </p:txBody>
      </p:sp>
    </p:spTree>
    <p:extLst>
      <p:ext uri="{BB962C8B-B14F-4D97-AF65-F5344CB8AC3E}">
        <p14:creationId xmlns:p14="http://schemas.microsoft.com/office/powerpoint/2010/main" val="10369435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Module</a:t>
            </a:r>
          </a:p>
        </p:txBody>
      </p:sp>
    </p:spTree>
    <p:extLst>
      <p:ext uri="{BB962C8B-B14F-4D97-AF65-F5344CB8AC3E}">
        <p14:creationId xmlns:p14="http://schemas.microsoft.com/office/powerpoint/2010/main" val="34293274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C6FE79-B9AE-4A86-BA21-1691DCF60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Module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EC744CD-49AF-4519-BBD3-98DC18C0A490}"/>
              </a:ext>
            </a:extLst>
          </p:cNvPr>
          <p:cNvSpPr/>
          <p:nvPr/>
        </p:nvSpPr>
        <p:spPr>
          <a:xfrm>
            <a:off x="2506375" y="1379879"/>
            <a:ext cx="4448607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6FAABFF-D107-468E-9DAB-B2C07003CFE1}"/>
              </a:ext>
            </a:extLst>
          </p:cNvPr>
          <p:cNvSpPr/>
          <p:nvPr/>
        </p:nvSpPr>
        <p:spPr>
          <a:xfrm>
            <a:off x="2268402" y="2571204"/>
            <a:ext cx="475946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6F72438-2631-498A-93FE-E94A6B407DC9}"/>
              </a:ext>
            </a:extLst>
          </p:cNvPr>
          <p:cNvSpPr txBox="1"/>
          <p:nvPr/>
        </p:nvSpPr>
        <p:spPr>
          <a:xfrm>
            <a:off x="5221704" y="1659389"/>
            <a:ext cx="16880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Numpad Module Board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C8980B2-FF0B-49EB-BF73-420EFE0B7D26}"/>
              </a:ext>
            </a:extLst>
          </p:cNvPr>
          <p:cNvCxnSpPr>
            <a:cxnSpLocks/>
            <a:stCxn id="4" idx="1"/>
            <a:endCxn id="7" idx="3"/>
          </p:cNvCxnSpPr>
          <p:nvPr/>
        </p:nvCxnSpPr>
        <p:spPr>
          <a:xfrm flipH="1">
            <a:off x="1834851" y="2709704"/>
            <a:ext cx="433551" cy="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2E8C89E6-3AE5-4D17-842E-4FD0D3BDA2ED}"/>
              </a:ext>
            </a:extLst>
          </p:cNvPr>
          <p:cNvSpPr/>
          <p:nvPr/>
        </p:nvSpPr>
        <p:spPr>
          <a:xfrm>
            <a:off x="610567" y="2411388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0F2217F-2FA8-4C90-AEF8-5405AC483490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>
            <a:off x="2744348" y="2709704"/>
            <a:ext cx="908749" cy="0"/>
          </a:xfrm>
          <a:prstGeom prst="line">
            <a:avLst/>
          </a:prstGeom>
          <a:ln w="73025" cmpd="tri"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1F4B38DF-B6F8-4A51-9C54-A11FB8887326}"/>
              </a:ext>
            </a:extLst>
          </p:cNvPr>
          <p:cNvSpPr/>
          <p:nvPr/>
        </p:nvSpPr>
        <p:spPr>
          <a:xfrm>
            <a:off x="3653097" y="247157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PCF8574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1E5E489-8F8A-4158-B3FF-D951437445B8}"/>
              </a:ext>
            </a:extLst>
          </p:cNvPr>
          <p:cNvSpPr txBox="1"/>
          <p:nvPr/>
        </p:nvSpPr>
        <p:spPr>
          <a:xfrm>
            <a:off x="3279233" y="236632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6F1C7A7-94D3-437F-A644-0A536426AF40}"/>
              </a:ext>
            </a:extLst>
          </p:cNvPr>
          <p:cNvSpPr txBox="1"/>
          <p:nvPr/>
        </p:nvSpPr>
        <p:spPr>
          <a:xfrm>
            <a:off x="3296065" y="2184535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ADEDB657-E6B6-4B35-8560-BF3A8C0B7922}"/>
              </a:ext>
            </a:extLst>
          </p:cNvPr>
          <p:cNvSpPr/>
          <p:nvPr/>
        </p:nvSpPr>
        <p:spPr>
          <a:xfrm>
            <a:off x="4138179" y="4575110"/>
            <a:ext cx="167007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Numpad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D5258AE5-2960-40DA-B34D-E13C021B3E83}"/>
              </a:ext>
            </a:extLst>
          </p:cNvPr>
          <p:cNvSpPr txBox="1"/>
          <p:nvPr/>
        </p:nvSpPr>
        <p:spPr>
          <a:xfrm>
            <a:off x="3311293" y="2983347"/>
            <a:ext cx="1907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SCL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FA935AFC-07E8-4B54-87EF-A256C6EC14FD}"/>
              </a:ext>
            </a:extLst>
          </p:cNvPr>
          <p:cNvSpPr txBox="1"/>
          <p:nvPr/>
        </p:nvSpPr>
        <p:spPr>
          <a:xfrm>
            <a:off x="3294462" y="2801554"/>
            <a:ext cx="22442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SDA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BE2FE2C4-1C2E-4C93-9B71-E62C39C97F25}"/>
              </a:ext>
            </a:extLst>
          </p:cNvPr>
          <p:cNvSpPr txBox="1"/>
          <p:nvPr/>
        </p:nvSpPr>
        <p:spPr>
          <a:xfrm>
            <a:off x="956824" y="952545"/>
            <a:ext cx="131157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F19D6DD-8014-42AF-8934-E707A82513EE}"/>
              </a:ext>
            </a:extLst>
          </p:cNvPr>
          <p:cNvSpPr/>
          <p:nvPr/>
        </p:nvSpPr>
        <p:spPr>
          <a:xfrm>
            <a:off x="4138178" y="3968560"/>
            <a:ext cx="313100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426E1315-530F-4280-B276-C6F3FE6BAFD8}"/>
              </a:ext>
            </a:extLst>
          </p:cNvPr>
          <p:cNvCxnSpPr>
            <a:cxnSpLocks/>
            <a:endCxn id="30" idx="2"/>
          </p:cNvCxnSpPr>
          <p:nvPr/>
        </p:nvCxnSpPr>
        <p:spPr>
          <a:xfrm flipV="1">
            <a:off x="4294728" y="4245559"/>
            <a:ext cx="0" cy="329551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feld 32">
            <a:extLst>
              <a:ext uri="{FF2B5EF4-FFF2-40B4-BE49-F238E27FC236}">
                <a16:creationId xmlns:a16="http://schemas.microsoft.com/office/drawing/2014/main" id="{89763073-C3BA-414E-B6A2-15128BC95EDC}"/>
              </a:ext>
            </a:extLst>
          </p:cNvPr>
          <p:cNvSpPr txBox="1"/>
          <p:nvPr/>
        </p:nvSpPr>
        <p:spPr>
          <a:xfrm>
            <a:off x="3917471" y="3751859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34" name="Verbinder: gewinkelt 470">
            <a:extLst>
              <a:ext uri="{FF2B5EF4-FFF2-40B4-BE49-F238E27FC236}">
                <a16:creationId xmlns:a16="http://schemas.microsoft.com/office/drawing/2014/main" id="{B613DC5D-5139-4BC4-971B-5598FFAA5037}"/>
              </a:ext>
            </a:extLst>
          </p:cNvPr>
          <p:cNvCxnSpPr>
            <a:cxnSpLocks/>
          </p:cNvCxnSpPr>
          <p:nvPr/>
        </p:nvCxnSpPr>
        <p:spPr>
          <a:xfrm>
            <a:off x="4248548" y="3806977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Verbinder: gewinkelt 470">
            <a:extLst>
              <a:ext uri="{FF2B5EF4-FFF2-40B4-BE49-F238E27FC236}">
                <a16:creationId xmlns:a16="http://schemas.microsoft.com/office/drawing/2014/main" id="{E4A80945-05A5-4817-BFC5-9632A7967140}"/>
              </a:ext>
            </a:extLst>
          </p:cNvPr>
          <p:cNvCxnSpPr>
            <a:cxnSpLocks/>
          </p:cNvCxnSpPr>
          <p:nvPr/>
        </p:nvCxnSpPr>
        <p:spPr>
          <a:xfrm>
            <a:off x="4400948" y="3802363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6867D794-AEDF-4514-9C4D-9D81DC9CB0E0}"/>
              </a:ext>
            </a:extLst>
          </p:cNvPr>
          <p:cNvSpPr txBox="1"/>
          <p:nvPr/>
        </p:nvSpPr>
        <p:spPr>
          <a:xfrm>
            <a:off x="4465623" y="374858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0D75C4AC-1F3F-4C12-A77F-D41CB60314CD}"/>
              </a:ext>
            </a:extLst>
          </p:cNvPr>
          <p:cNvSpPr/>
          <p:nvPr/>
        </p:nvSpPr>
        <p:spPr>
          <a:xfrm>
            <a:off x="4966252" y="3994836"/>
            <a:ext cx="842003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1B09F344-5FD9-452C-81C3-5661EC49E162}"/>
              </a:ext>
            </a:extLst>
          </p:cNvPr>
          <p:cNvCxnSpPr>
            <a:cxnSpLocks/>
          </p:cNvCxnSpPr>
          <p:nvPr/>
        </p:nvCxnSpPr>
        <p:spPr>
          <a:xfrm flipV="1">
            <a:off x="5116320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0CCCC499-2291-4640-959C-98B73FED5412}"/>
              </a:ext>
            </a:extLst>
          </p:cNvPr>
          <p:cNvCxnSpPr>
            <a:cxnSpLocks/>
          </p:cNvCxnSpPr>
          <p:nvPr/>
        </p:nvCxnSpPr>
        <p:spPr>
          <a:xfrm flipV="1">
            <a:off x="5207914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8E18D386-CC8F-4DD3-BF70-4CF91521B236}"/>
              </a:ext>
            </a:extLst>
          </p:cNvPr>
          <p:cNvCxnSpPr>
            <a:cxnSpLocks/>
          </p:cNvCxnSpPr>
          <p:nvPr/>
        </p:nvCxnSpPr>
        <p:spPr>
          <a:xfrm flipV="1">
            <a:off x="5299508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00411E19-635A-4B91-A219-F7C78F663007}"/>
              </a:ext>
            </a:extLst>
          </p:cNvPr>
          <p:cNvCxnSpPr>
            <a:cxnSpLocks/>
          </p:cNvCxnSpPr>
          <p:nvPr/>
        </p:nvCxnSpPr>
        <p:spPr>
          <a:xfrm flipV="1">
            <a:off x="5391102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EB303F1C-9C26-4329-9DE1-AFD916272A94}"/>
              </a:ext>
            </a:extLst>
          </p:cNvPr>
          <p:cNvCxnSpPr>
            <a:cxnSpLocks/>
          </p:cNvCxnSpPr>
          <p:nvPr/>
        </p:nvCxnSpPr>
        <p:spPr>
          <a:xfrm flipV="1">
            <a:off x="5482696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7ADD7CC2-BD87-4AF1-9D57-E20B53549320}"/>
              </a:ext>
            </a:extLst>
          </p:cNvPr>
          <p:cNvCxnSpPr>
            <a:cxnSpLocks/>
          </p:cNvCxnSpPr>
          <p:nvPr/>
        </p:nvCxnSpPr>
        <p:spPr>
          <a:xfrm flipV="1">
            <a:off x="5574290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A616602B-FE5F-4145-AB10-118E3D043CF3}"/>
              </a:ext>
            </a:extLst>
          </p:cNvPr>
          <p:cNvCxnSpPr>
            <a:cxnSpLocks/>
          </p:cNvCxnSpPr>
          <p:nvPr/>
        </p:nvCxnSpPr>
        <p:spPr>
          <a:xfrm flipV="1">
            <a:off x="5665884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D32A9C08-C11E-46AC-B318-8F22C3BF06AE}"/>
              </a:ext>
            </a:extLst>
          </p:cNvPr>
          <p:cNvCxnSpPr>
            <a:cxnSpLocks/>
          </p:cNvCxnSpPr>
          <p:nvPr/>
        </p:nvCxnSpPr>
        <p:spPr>
          <a:xfrm flipV="1">
            <a:off x="5116320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5C13E2FE-0BBC-4449-9A4A-66C5B53AF63B}"/>
              </a:ext>
            </a:extLst>
          </p:cNvPr>
          <p:cNvCxnSpPr>
            <a:cxnSpLocks/>
          </p:cNvCxnSpPr>
          <p:nvPr/>
        </p:nvCxnSpPr>
        <p:spPr>
          <a:xfrm flipV="1">
            <a:off x="5194829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0787AC6F-67EB-4D04-B4A8-6F67D923A3D4}"/>
              </a:ext>
            </a:extLst>
          </p:cNvPr>
          <p:cNvCxnSpPr>
            <a:cxnSpLocks/>
          </p:cNvCxnSpPr>
          <p:nvPr/>
        </p:nvCxnSpPr>
        <p:spPr>
          <a:xfrm flipV="1">
            <a:off x="5273338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9ED501F5-9BF5-4FFB-94C3-CF6490DB619F}"/>
              </a:ext>
            </a:extLst>
          </p:cNvPr>
          <p:cNvCxnSpPr>
            <a:cxnSpLocks/>
          </p:cNvCxnSpPr>
          <p:nvPr/>
        </p:nvCxnSpPr>
        <p:spPr>
          <a:xfrm flipV="1">
            <a:off x="5351847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8863C53B-A8EE-4690-9B57-40C8D8C9A0A0}"/>
              </a:ext>
            </a:extLst>
          </p:cNvPr>
          <p:cNvCxnSpPr>
            <a:cxnSpLocks/>
          </p:cNvCxnSpPr>
          <p:nvPr/>
        </p:nvCxnSpPr>
        <p:spPr>
          <a:xfrm flipV="1">
            <a:off x="5430356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0383E39-D257-4D02-A8D1-803746C1C597}"/>
              </a:ext>
            </a:extLst>
          </p:cNvPr>
          <p:cNvCxnSpPr>
            <a:cxnSpLocks/>
          </p:cNvCxnSpPr>
          <p:nvPr/>
        </p:nvCxnSpPr>
        <p:spPr>
          <a:xfrm flipV="1">
            <a:off x="5508865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06E6ADC5-D739-405C-8C10-DA0E6BB4D318}"/>
              </a:ext>
            </a:extLst>
          </p:cNvPr>
          <p:cNvCxnSpPr>
            <a:cxnSpLocks/>
          </p:cNvCxnSpPr>
          <p:nvPr/>
        </p:nvCxnSpPr>
        <p:spPr>
          <a:xfrm flipV="1">
            <a:off x="5587374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8CAA905D-C85A-4DB4-963F-127C77B7E4EE}"/>
              </a:ext>
            </a:extLst>
          </p:cNvPr>
          <p:cNvCxnSpPr>
            <a:cxnSpLocks/>
          </p:cNvCxnSpPr>
          <p:nvPr/>
        </p:nvCxnSpPr>
        <p:spPr>
          <a:xfrm flipV="1">
            <a:off x="5665884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7" name="Tabelle 67">
            <a:extLst>
              <a:ext uri="{FF2B5EF4-FFF2-40B4-BE49-F238E27FC236}">
                <a16:creationId xmlns:a16="http://schemas.microsoft.com/office/drawing/2014/main" id="{8890D295-6599-49A6-98D9-6D7BF2CB81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835987"/>
              </p:ext>
            </p:extLst>
          </p:nvPr>
        </p:nvGraphicFramePr>
        <p:xfrm>
          <a:off x="7759900" y="1379879"/>
          <a:ext cx="3682035" cy="27456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7345">
                  <a:extLst>
                    <a:ext uri="{9D8B030D-6E8A-4147-A177-3AD203B41FA5}">
                      <a16:colId xmlns:a16="http://schemas.microsoft.com/office/drawing/2014/main" val="2121670733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2417437244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1433090279"/>
                    </a:ext>
                  </a:extLst>
                </a:gridCol>
              </a:tblGrid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PCF8574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Numpad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146800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513504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291844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352837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4996494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78551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722189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31951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unbelegt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3835715"/>
                  </a:ext>
                </a:extLst>
              </a:tr>
            </a:tbl>
          </a:graphicData>
        </a:graphic>
      </p:graphicFrame>
      <p:sp>
        <p:nvSpPr>
          <p:cNvPr id="69" name="Textfeld 68">
            <a:extLst>
              <a:ext uri="{FF2B5EF4-FFF2-40B4-BE49-F238E27FC236}">
                <a16:creationId xmlns:a16="http://schemas.microsoft.com/office/drawing/2014/main" id="{4FF79E60-DFF4-4F8A-9040-1C773E5A11E3}"/>
              </a:ext>
            </a:extLst>
          </p:cNvPr>
          <p:cNvSpPr txBox="1"/>
          <p:nvPr/>
        </p:nvSpPr>
        <p:spPr>
          <a:xfrm>
            <a:off x="454051" y="606896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https://github.com/RobTillaart/I2CKeyPad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1D532F82-ED92-4FC2-9A73-E95A422D9C8C}"/>
              </a:ext>
            </a:extLst>
          </p:cNvPr>
          <p:cNvSpPr txBox="1"/>
          <p:nvPr/>
        </p:nvSpPr>
        <p:spPr>
          <a:xfrm>
            <a:off x="801249" y="3198167"/>
            <a:ext cx="15121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Address: 0x20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Library: I2CKeyPad</a:t>
            </a:r>
          </a:p>
        </p:txBody>
      </p:sp>
    </p:spTree>
    <p:extLst>
      <p:ext uri="{BB962C8B-B14F-4D97-AF65-F5344CB8AC3E}">
        <p14:creationId xmlns:p14="http://schemas.microsoft.com/office/powerpoint/2010/main" val="30972102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8A7D0C0-8108-45AD-AED7-1C0756BBB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Display Module</a:t>
            </a:r>
          </a:p>
        </p:txBody>
      </p:sp>
    </p:spTree>
    <p:extLst>
      <p:ext uri="{BB962C8B-B14F-4D97-AF65-F5344CB8AC3E}">
        <p14:creationId xmlns:p14="http://schemas.microsoft.com/office/powerpoint/2010/main" val="40128737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8D15DD02-D861-4281-A0CC-4470170CE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Display Module</a:t>
            </a:r>
          </a:p>
        </p:txBody>
      </p:sp>
      <p:graphicFrame>
        <p:nvGraphicFramePr>
          <p:cNvPr id="4" name="Tabelle 5">
            <a:extLst>
              <a:ext uri="{FF2B5EF4-FFF2-40B4-BE49-F238E27FC236}">
                <a16:creationId xmlns:a16="http://schemas.microsoft.com/office/drawing/2014/main" id="{AFC8D745-6AC8-4DBD-A3EF-7ADC4DC4AF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2930503"/>
              </p:ext>
            </p:extLst>
          </p:nvPr>
        </p:nvGraphicFramePr>
        <p:xfrm>
          <a:off x="7255188" y="3327026"/>
          <a:ext cx="4920332" cy="351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2388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1013887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  <a:gridCol w="2644057">
                  <a:extLst>
                    <a:ext uri="{9D8B030D-6E8A-4147-A177-3AD203B41FA5}">
                      <a16:colId xmlns:a16="http://schemas.microsoft.com/office/drawing/2014/main" val="1910919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Display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Description (at HSPI)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SPI Chip Select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9575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RST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Display Reset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4779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Data / Command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868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DIN (SDI, MOSI)</a:t>
                      </a:r>
                      <a:br>
                        <a:rPr lang="de-DE" sz="1200"/>
                      </a:br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SPI-Datenausgang vom ESP32 (MasterOut-SlaveIn)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36970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SPI Hardware-Taktleitung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4577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32</a:t>
                      </a:r>
                      <a:br>
                        <a:rPr lang="de-DE" sz="1200"/>
                      </a:br>
                      <a:r>
                        <a:rPr lang="de-DE" sz="1200"/>
                        <a:t>(oder 3V3)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Hintergrundbeleuchtung regelbar</a:t>
                      </a:r>
                      <a:br>
                        <a:rPr lang="de-DE" sz="1200"/>
                      </a:br>
                      <a:r>
                        <a:rPr lang="de-DE" sz="1200"/>
                        <a:t>(oder dauerhaft an)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0978468"/>
                  </a:ext>
                </a:extLst>
              </a:tr>
            </a:tbl>
          </a:graphicData>
        </a:graphic>
      </p:graphicFrame>
      <p:sp>
        <p:nvSpPr>
          <p:cNvPr id="6" name="Rechteck 5">
            <a:extLst>
              <a:ext uri="{FF2B5EF4-FFF2-40B4-BE49-F238E27FC236}">
                <a16:creationId xmlns:a16="http://schemas.microsoft.com/office/drawing/2014/main" id="{F8F507F1-D498-48E5-9771-81BFDB849012}"/>
              </a:ext>
            </a:extLst>
          </p:cNvPr>
          <p:cNvSpPr/>
          <p:nvPr/>
        </p:nvSpPr>
        <p:spPr>
          <a:xfrm>
            <a:off x="2501000" y="3400480"/>
            <a:ext cx="4448607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604CD02-BE1F-4309-BD86-FCDAE5980022}"/>
              </a:ext>
            </a:extLst>
          </p:cNvPr>
          <p:cNvSpPr txBox="1"/>
          <p:nvPr/>
        </p:nvSpPr>
        <p:spPr>
          <a:xfrm>
            <a:off x="2545977" y="5290869"/>
            <a:ext cx="16880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Numpad Module Board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322DE55E-3B8A-4438-ABA2-CC62E4FD6D77}"/>
              </a:ext>
            </a:extLst>
          </p:cNvPr>
          <p:cNvCxnSpPr>
            <a:cxnSpLocks/>
            <a:stCxn id="48" idx="1"/>
            <a:endCxn id="10" idx="3"/>
          </p:cNvCxnSpPr>
          <p:nvPr/>
        </p:nvCxnSpPr>
        <p:spPr>
          <a:xfrm flipH="1">
            <a:off x="1603622" y="3895767"/>
            <a:ext cx="2057018" cy="12133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hteck 9">
            <a:extLst>
              <a:ext uri="{FF2B5EF4-FFF2-40B4-BE49-F238E27FC236}">
                <a16:creationId xmlns:a16="http://schemas.microsoft.com/office/drawing/2014/main" id="{FDB53882-8286-4CFA-904C-19D4EE07484E}"/>
              </a:ext>
            </a:extLst>
          </p:cNvPr>
          <p:cNvSpPr/>
          <p:nvPr/>
        </p:nvSpPr>
        <p:spPr>
          <a:xfrm>
            <a:off x="379338" y="360958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15DA8C39-6ABD-406B-A506-398CB09758DA}"/>
              </a:ext>
            </a:extLst>
          </p:cNvPr>
          <p:cNvSpPr/>
          <p:nvPr/>
        </p:nvSpPr>
        <p:spPr>
          <a:xfrm>
            <a:off x="3653097" y="4497231"/>
            <a:ext cx="3093254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ESP32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7F073FE-87FA-4833-B496-F068FCB58BFF}"/>
              </a:ext>
            </a:extLst>
          </p:cNvPr>
          <p:cNvSpPr/>
          <p:nvPr/>
        </p:nvSpPr>
        <p:spPr>
          <a:xfrm>
            <a:off x="4240770" y="6369944"/>
            <a:ext cx="2140247" cy="3511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TFT Display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A2EA76CB-2127-44A2-855C-1634E88464C7}"/>
              </a:ext>
            </a:extLst>
          </p:cNvPr>
          <p:cNvSpPr txBox="1"/>
          <p:nvPr/>
        </p:nvSpPr>
        <p:spPr>
          <a:xfrm>
            <a:off x="399292" y="2303081"/>
            <a:ext cx="131157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6B013CE5-1DF6-4EB5-91A7-26B62475F4D6}"/>
              </a:ext>
            </a:extLst>
          </p:cNvPr>
          <p:cNvCxnSpPr>
            <a:cxnSpLocks/>
            <a:stCxn id="15" idx="0"/>
            <a:endCxn id="25" idx="2"/>
          </p:cNvCxnSpPr>
          <p:nvPr/>
        </p:nvCxnSpPr>
        <p:spPr>
          <a:xfrm flipV="1">
            <a:off x="5310894" y="6297487"/>
            <a:ext cx="3171" cy="72457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B0812AAD-CBFA-4E8F-A386-BEA76F51308F}"/>
              </a:ext>
            </a:extLst>
          </p:cNvPr>
          <p:cNvSpPr txBox="1"/>
          <p:nvPr/>
        </p:nvSpPr>
        <p:spPr>
          <a:xfrm>
            <a:off x="3765071" y="5777511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2" name="Verbinder: gewinkelt 470">
            <a:extLst>
              <a:ext uri="{FF2B5EF4-FFF2-40B4-BE49-F238E27FC236}">
                <a16:creationId xmlns:a16="http://schemas.microsoft.com/office/drawing/2014/main" id="{1A6FA0E0-092B-4B84-BE38-EB4929D13568}"/>
              </a:ext>
            </a:extLst>
          </p:cNvPr>
          <p:cNvCxnSpPr>
            <a:cxnSpLocks/>
          </p:cNvCxnSpPr>
          <p:nvPr/>
        </p:nvCxnSpPr>
        <p:spPr>
          <a:xfrm>
            <a:off x="4096148" y="5832629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Verbinder: gewinkelt 470">
            <a:extLst>
              <a:ext uri="{FF2B5EF4-FFF2-40B4-BE49-F238E27FC236}">
                <a16:creationId xmlns:a16="http://schemas.microsoft.com/office/drawing/2014/main" id="{617A25EE-C52D-4692-AB4D-437C363028C3}"/>
              </a:ext>
            </a:extLst>
          </p:cNvPr>
          <p:cNvCxnSpPr>
            <a:cxnSpLocks/>
          </p:cNvCxnSpPr>
          <p:nvPr/>
        </p:nvCxnSpPr>
        <p:spPr>
          <a:xfrm>
            <a:off x="4248548" y="5828015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77016147-48C8-45E8-8B0F-303E181D5FD3}"/>
              </a:ext>
            </a:extLst>
          </p:cNvPr>
          <p:cNvSpPr txBox="1"/>
          <p:nvPr/>
        </p:nvSpPr>
        <p:spPr>
          <a:xfrm>
            <a:off x="4316429" y="5774241"/>
            <a:ext cx="21480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3V3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55DB2F8-9DD6-4D20-BF0B-F0774C87377D}"/>
              </a:ext>
            </a:extLst>
          </p:cNvPr>
          <p:cNvSpPr/>
          <p:nvPr/>
        </p:nvSpPr>
        <p:spPr>
          <a:xfrm>
            <a:off x="3886201" y="6020488"/>
            <a:ext cx="2855727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0E92B6A4-5296-4E53-A2CE-31ACCCCEC8D7}"/>
              </a:ext>
            </a:extLst>
          </p:cNvPr>
          <p:cNvCxnSpPr>
            <a:cxnSpLocks/>
          </p:cNvCxnSpPr>
          <p:nvPr/>
        </p:nvCxnSpPr>
        <p:spPr>
          <a:xfrm flipV="1">
            <a:off x="5646064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3E073905-9355-4C16-9AFB-B8BE1448A513}"/>
              </a:ext>
            </a:extLst>
          </p:cNvPr>
          <p:cNvCxnSpPr>
            <a:cxnSpLocks/>
          </p:cNvCxnSpPr>
          <p:nvPr/>
        </p:nvCxnSpPr>
        <p:spPr>
          <a:xfrm flipV="1">
            <a:off x="5935420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feld 40">
            <a:extLst>
              <a:ext uri="{FF2B5EF4-FFF2-40B4-BE49-F238E27FC236}">
                <a16:creationId xmlns:a16="http://schemas.microsoft.com/office/drawing/2014/main" id="{9359CD09-661F-4172-BE56-F52260A69A8E}"/>
              </a:ext>
            </a:extLst>
          </p:cNvPr>
          <p:cNvSpPr txBox="1"/>
          <p:nvPr/>
        </p:nvSpPr>
        <p:spPr>
          <a:xfrm>
            <a:off x="272992" y="6119736"/>
            <a:ext cx="13692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Address: 0x11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Library: Adafruit</a:t>
            </a:r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5265C8C5-11ED-42F1-A578-9F5F06A89CFA}"/>
              </a:ext>
            </a:extLst>
          </p:cNvPr>
          <p:cNvCxnSpPr>
            <a:cxnSpLocks/>
          </p:cNvCxnSpPr>
          <p:nvPr/>
        </p:nvCxnSpPr>
        <p:spPr>
          <a:xfrm flipV="1">
            <a:off x="5337803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A17502C7-71F0-4FB8-A248-145A426135B7}"/>
              </a:ext>
            </a:extLst>
          </p:cNvPr>
          <p:cNvCxnSpPr>
            <a:cxnSpLocks/>
          </p:cNvCxnSpPr>
          <p:nvPr/>
        </p:nvCxnSpPr>
        <p:spPr>
          <a:xfrm flipV="1">
            <a:off x="5016411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0272EA1E-3C86-46DE-9928-4290DD990E6E}"/>
              </a:ext>
            </a:extLst>
          </p:cNvPr>
          <p:cNvCxnSpPr>
            <a:cxnSpLocks/>
          </p:cNvCxnSpPr>
          <p:nvPr/>
        </p:nvCxnSpPr>
        <p:spPr>
          <a:xfrm flipV="1">
            <a:off x="6266644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3975A088-2402-40A9-8D2B-F932A54C91ED}"/>
              </a:ext>
            </a:extLst>
          </p:cNvPr>
          <p:cNvCxnSpPr>
            <a:cxnSpLocks/>
          </p:cNvCxnSpPr>
          <p:nvPr/>
        </p:nvCxnSpPr>
        <p:spPr>
          <a:xfrm flipV="1">
            <a:off x="6602476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B78A2DAF-0EE8-4EC6-8E37-D2B631C60676}"/>
              </a:ext>
            </a:extLst>
          </p:cNvPr>
          <p:cNvSpPr txBox="1"/>
          <p:nvPr/>
        </p:nvSpPr>
        <p:spPr>
          <a:xfrm>
            <a:off x="6360793" y="5782425"/>
            <a:ext cx="2035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DIN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A6719764-41B3-4949-BE00-86D48C4C575F}"/>
              </a:ext>
            </a:extLst>
          </p:cNvPr>
          <p:cNvSpPr txBox="1"/>
          <p:nvPr/>
        </p:nvSpPr>
        <p:spPr>
          <a:xfrm>
            <a:off x="6036876" y="5782425"/>
            <a:ext cx="19877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CLK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2BFAC08A-2D67-4809-836F-597F4351E7C0}"/>
              </a:ext>
            </a:extLst>
          </p:cNvPr>
          <p:cNvSpPr txBox="1"/>
          <p:nvPr/>
        </p:nvSpPr>
        <p:spPr>
          <a:xfrm>
            <a:off x="4837031" y="5782425"/>
            <a:ext cx="15549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DC</a:t>
            </a: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59361B07-6436-4CB8-B0FB-F16A1C39D477}"/>
              </a:ext>
            </a:extLst>
          </p:cNvPr>
          <p:cNvSpPr txBox="1"/>
          <p:nvPr/>
        </p:nvSpPr>
        <p:spPr>
          <a:xfrm>
            <a:off x="5119042" y="5782425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RST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9B100815-8B0A-4800-A1EA-D32425AE85D7}"/>
              </a:ext>
            </a:extLst>
          </p:cNvPr>
          <p:cNvSpPr txBox="1"/>
          <p:nvPr/>
        </p:nvSpPr>
        <p:spPr>
          <a:xfrm>
            <a:off x="5767848" y="5782425"/>
            <a:ext cx="1298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BL</a:t>
            </a: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C1480B8F-3F1D-4221-88AC-5D5248048F33}"/>
              </a:ext>
            </a:extLst>
          </p:cNvPr>
          <p:cNvSpPr txBox="1"/>
          <p:nvPr/>
        </p:nvSpPr>
        <p:spPr>
          <a:xfrm>
            <a:off x="6381017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13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F47021C6-E9E7-4481-BF77-04D2312C579D}"/>
              </a:ext>
            </a:extLst>
          </p:cNvPr>
          <p:cNvSpPr txBox="1"/>
          <p:nvPr/>
        </p:nvSpPr>
        <p:spPr>
          <a:xfrm>
            <a:off x="6052291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14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7A71A078-C46F-418B-BAE3-753E3D522E29}"/>
              </a:ext>
            </a:extLst>
          </p:cNvPr>
          <p:cNvSpPr txBox="1"/>
          <p:nvPr/>
        </p:nvSpPr>
        <p:spPr>
          <a:xfrm>
            <a:off x="4843630" y="5001375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285BF5CD-20EA-4990-AAFD-87A5952527B1}"/>
              </a:ext>
            </a:extLst>
          </p:cNvPr>
          <p:cNvSpPr txBox="1"/>
          <p:nvPr/>
        </p:nvSpPr>
        <p:spPr>
          <a:xfrm>
            <a:off x="5172128" y="5001375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4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1A3A0520-3B62-4DE1-BDA1-DD4CC442EDAF}"/>
              </a:ext>
            </a:extLst>
          </p:cNvPr>
          <p:cNvSpPr txBox="1"/>
          <p:nvPr/>
        </p:nvSpPr>
        <p:spPr>
          <a:xfrm>
            <a:off x="5742387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32</a:t>
            </a:r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2748222F-985D-4DAE-9459-4B07266B26BF}"/>
              </a:ext>
            </a:extLst>
          </p:cNvPr>
          <p:cNvSpPr txBox="1"/>
          <p:nvPr/>
        </p:nvSpPr>
        <p:spPr>
          <a:xfrm>
            <a:off x="5477350" y="5782425"/>
            <a:ext cx="13465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CS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AFA71850-1AEE-44C6-B160-994AC1355DBD}"/>
              </a:ext>
            </a:extLst>
          </p:cNvPr>
          <p:cNvSpPr txBox="1"/>
          <p:nvPr/>
        </p:nvSpPr>
        <p:spPr>
          <a:xfrm>
            <a:off x="5456698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FEA23F36-8A34-41FA-9EE3-3A4FE46ECDCD}"/>
              </a:ext>
            </a:extLst>
          </p:cNvPr>
          <p:cNvSpPr/>
          <p:nvPr/>
        </p:nvSpPr>
        <p:spPr>
          <a:xfrm>
            <a:off x="3532435" y="462430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32817856-0A3D-4E8F-B680-958FA1249328}"/>
              </a:ext>
            </a:extLst>
          </p:cNvPr>
          <p:cNvSpPr/>
          <p:nvPr/>
        </p:nvSpPr>
        <p:spPr>
          <a:xfrm>
            <a:off x="379338" y="446448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EFF11CA2-8A31-4258-93AC-F458DBB2F73C}"/>
              </a:ext>
            </a:extLst>
          </p:cNvPr>
          <p:cNvCxnSpPr>
            <a:cxnSpLocks/>
            <a:stCxn id="86" idx="3"/>
            <a:endCxn id="85" idx="1"/>
          </p:cNvCxnSpPr>
          <p:nvPr/>
        </p:nvCxnSpPr>
        <p:spPr>
          <a:xfrm>
            <a:off x="1603622" y="4762799"/>
            <a:ext cx="1928813" cy="1"/>
          </a:xfrm>
          <a:prstGeom prst="bentConnector3">
            <a:avLst>
              <a:gd name="adj1" fmla="val 50000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feld 87">
            <a:extLst>
              <a:ext uri="{FF2B5EF4-FFF2-40B4-BE49-F238E27FC236}">
                <a16:creationId xmlns:a16="http://schemas.microsoft.com/office/drawing/2014/main" id="{A3575BCE-163B-44C7-86D5-365FB82B730B}"/>
              </a:ext>
            </a:extLst>
          </p:cNvPr>
          <p:cNvSpPr txBox="1"/>
          <p:nvPr/>
        </p:nvSpPr>
        <p:spPr>
          <a:xfrm>
            <a:off x="348245" y="5082166"/>
            <a:ext cx="19848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GND, D-, D+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left open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E3714EA3-936D-40E6-947C-6088DD832311}"/>
              </a:ext>
            </a:extLst>
          </p:cNvPr>
          <p:cNvSpPr/>
          <p:nvPr/>
        </p:nvSpPr>
        <p:spPr>
          <a:xfrm>
            <a:off x="3660640" y="3611691"/>
            <a:ext cx="1311578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Pegelwandler </a:t>
            </a:r>
          </a:p>
        </p:txBody>
      </p:sp>
      <p:graphicFrame>
        <p:nvGraphicFramePr>
          <p:cNvPr id="70" name="Tabelle 5">
            <a:extLst>
              <a:ext uri="{FF2B5EF4-FFF2-40B4-BE49-F238E27FC236}">
                <a16:creationId xmlns:a16="http://schemas.microsoft.com/office/drawing/2014/main" id="{90441708-4112-4048-8D1C-B8303C0943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933811"/>
              </p:ext>
            </p:extLst>
          </p:nvPr>
        </p:nvGraphicFramePr>
        <p:xfrm>
          <a:off x="7258050" y="123201"/>
          <a:ext cx="49043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7999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1170750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  <a:gridCol w="1228491">
                  <a:extLst>
                    <a:ext uri="{9D8B030D-6E8A-4147-A177-3AD203B41FA5}">
                      <a16:colId xmlns:a16="http://schemas.microsoft.com/office/drawing/2014/main" val="191091994"/>
                    </a:ext>
                  </a:extLst>
                </a:gridCol>
                <a:gridCol w="1677060">
                  <a:extLst>
                    <a:ext uri="{9D8B030D-6E8A-4147-A177-3AD203B41FA5}">
                      <a16:colId xmlns:a16="http://schemas.microsoft.com/office/drawing/2014/main" val="202873193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USB 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Pegelwandler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VCC (5V)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V5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Power plus 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D- (SDA)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 (high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014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D+ (SCL)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 (high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0920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plus 3.3V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9127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 (low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54042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 (low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4592746"/>
                  </a:ext>
                </a:extLst>
              </a:tr>
            </a:tbl>
          </a:graphicData>
        </a:graphic>
      </p:graphicFrame>
      <p:sp>
        <p:nvSpPr>
          <p:cNvPr id="89" name="Rechteck 88">
            <a:extLst>
              <a:ext uri="{FF2B5EF4-FFF2-40B4-BE49-F238E27FC236}">
                <a16:creationId xmlns:a16="http://schemas.microsoft.com/office/drawing/2014/main" id="{F4F7E1FD-ECEC-4588-886D-2EF5598822D3}"/>
              </a:ext>
            </a:extLst>
          </p:cNvPr>
          <p:cNvSpPr/>
          <p:nvPr/>
        </p:nvSpPr>
        <p:spPr>
          <a:xfrm>
            <a:off x="5226978" y="3611691"/>
            <a:ext cx="1514950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sd card module </a:t>
            </a: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5D2A68F8-7AC4-4673-A7FB-5C1C0CE6577D}"/>
              </a:ext>
            </a:extLst>
          </p:cNvPr>
          <p:cNvSpPr/>
          <p:nvPr/>
        </p:nvSpPr>
        <p:spPr>
          <a:xfrm>
            <a:off x="5325405" y="2962404"/>
            <a:ext cx="1318525" cy="2981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sd card extender</a:t>
            </a:r>
          </a:p>
        </p:txBody>
      </p: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40682CBF-71B1-4578-89F2-785F68D9FFC7}"/>
              </a:ext>
            </a:extLst>
          </p:cNvPr>
          <p:cNvCxnSpPr>
            <a:cxnSpLocks/>
            <a:stCxn id="90" idx="2"/>
            <a:endCxn id="89" idx="0"/>
          </p:cNvCxnSpPr>
          <p:nvPr/>
        </p:nvCxnSpPr>
        <p:spPr>
          <a:xfrm flipH="1">
            <a:off x="5984453" y="3260572"/>
            <a:ext cx="215" cy="351119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2" name="Tabelle 5">
            <a:extLst>
              <a:ext uri="{FF2B5EF4-FFF2-40B4-BE49-F238E27FC236}">
                <a16:creationId xmlns:a16="http://schemas.microsoft.com/office/drawing/2014/main" id="{1BC1CADF-0DC1-4232-90C2-C262F90597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0718564"/>
              </p:ext>
            </p:extLst>
          </p:nvPr>
        </p:nvGraphicFramePr>
        <p:xfrm>
          <a:off x="2183497" y="136937"/>
          <a:ext cx="4920332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3078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  <a:gridCol w="3122379">
                  <a:extLst>
                    <a:ext uri="{9D8B030D-6E8A-4147-A177-3AD203B41FA5}">
                      <a16:colId xmlns:a16="http://schemas.microsoft.com/office/drawing/2014/main" val="1910919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SD-Modul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Description (at VSPI)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Master-In-Slave-Out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9575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Master-Out-Slave-In (parallel to DIN of Display)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966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Clock (parallel to CLK of TFT Display)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617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Chip Select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2229880"/>
                  </a:ext>
                </a:extLst>
              </a:tr>
            </a:tbl>
          </a:graphicData>
        </a:graphic>
      </p:graphicFrame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836B87F3-CBBC-48D5-B264-51E206E1C3A3}"/>
              </a:ext>
            </a:extLst>
          </p:cNvPr>
          <p:cNvCxnSpPr>
            <a:cxnSpLocks/>
          </p:cNvCxnSpPr>
          <p:nvPr/>
        </p:nvCxnSpPr>
        <p:spPr>
          <a:xfrm flipV="1">
            <a:off x="3888097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98">
            <a:extLst>
              <a:ext uri="{FF2B5EF4-FFF2-40B4-BE49-F238E27FC236}">
                <a16:creationId xmlns:a16="http://schemas.microsoft.com/office/drawing/2014/main" id="{2F5DC44C-6243-48FB-8DA4-695533780021}"/>
              </a:ext>
            </a:extLst>
          </p:cNvPr>
          <p:cNvCxnSpPr>
            <a:cxnSpLocks/>
          </p:cNvCxnSpPr>
          <p:nvPr/>
        </p:nvCxnSpPr>
        <p:spPr>
          <a:xfrm flipV="1">
            <a:off x="4127978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211BF9C0-9F84-4DB3-BBD9-FCBFDE3F9124}"/>
              </a:ext>
            </a:extLst>
          </p:cNvPr>
          <p:cNvCxnSpPr>
            <a:cxnSpLocks/>
          </p:cNvCxnSpPr>
          <p:nvPr/>
        </p:nvCxnSpPr>
        <p:spPr>
          <a:xfrm flipV="1">
            <a:off x="4367859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36B949A4-8199-4E60-9D1B-E07050F23A14}"/>
              </a:ext>
            </a:extLst>
          </p:cNvPr>
          <p:cNvCxnSpPr>
            <a:cxnSpLocks/>
          </p:cNvCxnSpPr>
          <p:nvPr/>
        </p:nvCxnSpPr>
        <p:spPr>
          <a:xfrm flipV="1">
            <a:off x="4607740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feld 101">
            <a:extLst>
              <a:ext uri="{FF2B5EF4-FFF2-40B4-BE49-F238E27FC236}">
                <a16:creationId xmlns:a16="http://schemas.microsoft.com/office/drawing/2014/main" id="{58397AA8-D918-4E61-B26C-A62B5C3E4A63}"/>
              </a:ext>
            </a:extLst>
          </p:cNvPr>
          <p:cNvSpPr txBox="1"/>
          <p:nvPr/>
        </p:nvSpPr>
        <p:spPr>
          <a:xfrm>
            <a:off x="3654963" y="4178357"/>
            <a:ext cx="16030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HV	</a:t>
            </a:r>
          </a:p>
        </p:txBody>
      </p:sp>
      <p:sp>
        <p:nvSpPr>
          <p:cNvPr id="103" name="Textfeld 102">
            <a:extLst>
              <a:ext uri="{FF2B5EF4-FFF2-40B4-BE49-F238E27FC236}">
                <a16:creationId xmlns:a16="http://schemas.microsoft.com/office/drawing/2014/main" id="{203270C1-9517-4922-87C5-3885167166F9}"/>
              </a:ext>
            </a:extLst>
          </p:cNvPr>
          <p:cNvSpPr txBox="1"/>
          <p:nvPr/>
        </p:nvSpPr>
        <p:spPr>
          <a:xfrm>
            <a:off x="3883974" y="418264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04" name="Textfeld 103">
            <a:extLst>
              <a:ext uri="{FF2B5EF4-FFF2-40B4-BE49-F238E27FC236}">
                <a16:creationId xmlns:a16="http://schemas.microsoft.com/office/drawing/2014/main" id="{45BA030D-2B5C-471A-8D5B-C388D052FA1D}"/>
              </a:ext>
            </a:extLst>
          </p:cNvPr>
          <p:cNvSpPr txBox="1"/>
          <p:nvPr/>
        </p:nvSpPr>
        <p:spPr>
          <a:xfrm>
            <a:off x="4207563" y="4182648"/>
            <a:ext cx="13305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</a:t>
            </a:r>
          </a:p>
        </p:txBody>
      </p:sp>
      <p:sp>
        <p:nvSpPr>
          <p:cNvPr id="105" name="Textfeld 104">
            <a:extLst>
              <a:ext uri="{FF2B5EF4-FFF2-40B4-BE49-F238E27FC236}">
                <a16:creationId xmlns:a16="http://schemas.microsoft.com/office/drawing/2014/main" id="{B7AAC378-1880-45B5-827D-F2634567D4E5}"/>
              </a:ext>
            </a:extLst>
          </p:cNvPr>
          <p:cNvSpPr txBox="1"/>
          <p:nvPr/>
        </p:nvSpPr>
        <p:spPr>
          <a:xfrm>
            <a:off x="4409324" y="4182648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LV1</a:t>
            </a:r>
          </a:p>
        </p:txBody>
      </p: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A2D032A3-0221-4FB3-8242-AFDD85985971}"/>
              </a:ext>
            </a:extLst>
          </p:cNvPr>
          <p:cNvCxnSpPr>
            <a:cxnSpLocks/>
          </p:cNvCxnSpPr>
          <p:nvPr/>
        </p:nvCxnSpPr>
        <p:spPr>
          <a:xfrm flipV="1">
            <a:off x="4847620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feld 106">
            <a:extLst>
              <a:ext uri="{FF2B5EF4-FFF2-40B4-BE49-F238E27FC236}">
                <a16:creationId xmlns:a16="http://schemas.microsoft.com/office/drawing/2014/main" id="{61B9D8BB-D3E4-4B92-943E-999532C5919B}"/>
              </a:ext>
            </a:extLst>
          </p:cNvPr>
          <p:cNvSpPr txBox="1"/>
          <p:nvPr/>
        </p:nvSpPr>
        <p:spPr>
          <a:xfrm>
            <a:off x="4680014" y="4177199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LV2</a:t>
            </a:r>
          </a:p>
        </p:txBody>
      </p:sp>
      <p:sp>
        <p:nvSpPr>
          <p:cNvPr id="108" name="Textfeld 107">
            <a:extLst>
              <a:ext uri="{FF2B5EF4-FFF2-40B4-BE49-F238E27FC236}">
                <a16:creationId xmlns:a16="http://schemas.microsoft.com/office/drawing/2014/main" id="{E8FEAA29-3AD3-4B9F-AC85-76EB7A892139}"/>
              </a:ext>
            </a:extLst>
          </p:cNvPr>
          <p:cNvSpPr txBox="1"/>
          <p:nvPr/>
        </p:nvSpPr>
        <p:spPr>
          <a:xfrm>
            <a:off x="3671225" y="4338377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V5</a:t>
            </a:r>
          </a:p>
        </p:txBody>
      </p:sp>
      <p:sp>
        <p:nvSpPr>
          <p:cNvPr id="109" name="Textfeld 108">
            <a:extLst>
              <a:ext uri="{FF2B5EF4-FFF2-40B4-BE49-F238E27FC236}">
                <a16:creationId xmlns:a16="http://schemas.microsoft.com/office/drawing/2014/main" id="{867A495D-6C30-49F9-A9B1-8132DA81F038}"/>
              </a:ext>
            </a:extLst>
          </p:cNvPr>
          <p:cNvSpPr txBox="1"/>
          <p:nvPr/>
        </p:nvSpPr>
        <p:spPr>
          <a:xfrm>
            <a:off x="3893006" y="434266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10" name="Textfeld 109">
            <a:extLst>
              <a:ext uri="{FF2B5EF4-FFF2-40B4-BE49-F238E27FC236}">
                <a16:creationId xmlns:a16="http://schemas.microsoft.com/office/drawing/2014/main" id="{723C325B-6830-43E5-9386-DE00C7C79F65}"/>
              </a:ext>
            </a:extLst>
          </p:cNvPr>
          <p:cNvSpPr txBox="1"/>
          <p:nvPr/>
        </p:nvSpPr>
        <p:spPr>
          <a:xfrm>
            <a:off x="4164260" y="4342668"/>
            <a:ext cx="21480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3V3</a:t>
            </a:r>
          </a:p>
        </p:txBody>
      </p:sp>
      <p:sp>
        <p:nvSpPr>
          <p:cNvPr id="111" name="Textfeld 110">
            <a:extLst>
              <a:ext uri="{FF2B5EF4-FFF2-40B4-BE49-F238E27FC236}">
                <a16:creationId xmlns:a16="http://schemas.microsoft.com/office/drawing/2014/main" id="{BEC34008-729A-4C94-8080-1E61B56CE21D}"/>
              </a:ext>
            </a:extLst>
          </p:cNvPr>
          <p:cNvSpPr txBox="1"/>
          <p:nvPr/>
        </p:nvSpPr>
        <p:spPr>
          <a:xfrm>
            <a:off x="4474022" y="4342668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21</a:t>
            </a:r>
          </a:p>
        </p:txBody>
      </p:sp>
      <p:sp>
        <p:nvSpPr>
          <p:cNvPr id="112" name="Textfeld 111">
            <a:extLst>
              <a:ext uri="{FF2B5EF4-FFF2-40B4-BE49-F238E27FC236}">
                <a16:creationId xmlns:a16="http://schemas.microsoft.com/office/drawing/2014/main" id="{BDBCFACE-5B90-433D-857D-DA0872BDA0FB}"/>
              </a:ext>
            </a:extLst>
          </p:cNvPr>
          <p:cNvSpPr txBox="1"/>
          <p:nvPr/>
        </p:nvSpPr>
        <p:spPr>
          <a:xfrm>
            <a:off x="4711599" y="4337219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22</a:t>
            </a:r>
          </a:p>
        </p:txBody>
      </p:sp>
      <p:sp>
        <p:nvSpPr>
          <p:cNvPr id="113" name="Textfeld 112">
            <a:extLst>
              <a:ext uri="{FF2B5EF4-FFF2-40B4-BE49-F238E27FC236}">
                <a16:creationId xmlns:a16="http://schemas.microsoft.com/office/drawing/2014/main" id="{40749127-162E-4A32-833F-92902DF73E92}"/>
              </a:ext>
            </a:extLst>
          </p:cNvPr>
          <p:cNvSpPr txBox="1"/>
          <p:nvPr/>
        </p:nvSpPr>
        <p:spPr>
          <a:xfrm>
            <a:off x="2726923" y="3488393"/>
            <a:ext cx="695703" cy="80791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 --- HV</a:t>
            </a:r>
            <a:br>
              <a:rPr lang="de-DE" sz="1050"/>
            </a:br>
            <a:r>
              <a:rPr lang="de-DE" sz="1050"/>
              <a:t>GND --- GND</a:t>
            </a:r>
            <a:br>
              <a:rPr lang="de-DE" sz="1050"/>
            </a:br>
            <a:br>
              <a:rPr lang="de-DE" sz="1050"/>
            </a:br>
            <a:r>
              <a:rPr lang="de-DE" sz="1050"/>
              <a:t>D- --- HV1</a:t>
            </a:r>
            <a:br>
              <a:rPr lang="de-DE" sz="1050"/>
            </a:br>
            <a:r>
              <a:rPr lang="de-DE" sz="1050"/>
              <a:t>D+ --- HV2</a:t>
            </a:r>
          </a:p>
        </p:txBody>
      </p: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252A2F27-7CE4-4420-A66B-A13F28F6FF02}"/>
              </a:ext>
            </a:extLst>
          </p:cNvPr>
          <p:cNvCxnSpPr>
            <a:cxnSpLocks/>
          </p:cNvCxnSpPr>
          <p:nvPr/>
        </p:nvCxnSpPr>
        <p:spPr>
          <a:xfrm flipV="1">
            <a:off x="5513412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CFA218B4-AC1F-4611-9BF1-AA193ABFF0F4}"/>
              </a:ext>
            </a:extLst>
          </p:cNvPr>
          <p:cNvCxnSpPr>
            <a:cxnSpLocks/>
          </p:cNvCxnSpPr>
          <p:nvPr/>
        </p:nvCxnSpPr>
        <p:spPr>
          <a:xfrm flipV="1">
            <a:off x="5753293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Gerader Verbinder 116">
            <a:extLst>
              <a:ext uri="{FF2B5EF4-FFF2-40B4-BE49-F238E27FC236}">
                <a16:creationId xmlns:a16="http://schemas.microsoft.com/office/drawing/2014/main" id="{18BCCB18-93BF-42C0-9C66-C6F9ECBB3CC8}"/>
              </a:ext>
            </a:extLst>
          </p:cNvPr>
          <p:cNvCxnSpPr>
            <a:cxnSpLocks/>
          </p:cNvCxnSpPr>
          <p:nvPr/>
        </p:nvCxnSpPr>
        <p:spPr>
          <a:xfrm flipV="1">
            <a:off x="5993174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7F0F91FC-F03D-4267-B505-C66DD0DFFFDA}"/>
              </a:ext>
            </a:extLst>
          </p:cNvPr>
          <p:cNvCxnSpPr>
            <a:cxnSpLocks/>
          </p:cNvCxnSpPr>
          <p:nvPr/>
        </p:nvCxnSpPr>
        <p:spPr>
          <a:xfrm flipV="1">
            <a:off x="6233055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feld 118">
            <a:extLst>
              <a:ext uri="{FF2B5EF4-FFF2-40B4-BE49-F238E27FC236}">
                <a16:creationId xmlns:a16="http://schemas.microsoft.com/office/drawing/2014/main" id="{B31A073E-EE0F-490C-96BC-8C2C07AFCE53}"/>
              </a:ext>
            </a:extLst>
          </p:cNvPr>
          <p:cNvSpPr txBox="1"/>
          <p:nvPr/>
        </p:nvSpPr>
        <p:spPr>
          <a:xfrm>
            <a:off x="5249821" y="4172665"/>
            <a:ext cx="22121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	</a:t>
            </a:r>
          </a:p>
        </p:txBody>
      </p:sp>
      <p:sp>
        <p:nvSpPr>
          <p:cNvPr id="120" name="Textfeld 119">
            <a:extLst>
              <a:ext uri="{FF2B5EF4-FFF2-40B4-BE49-F238E27FC236}">
                <a16:creationId xmlns:a16="http://schemas.microsoft.com/office/drawing/2014/main" id="{413930A8-3A8C-4199-BE18-9415F978C82B}"/>
              </a:ext>
            </a:extLst>
          </p:cNvPr>
          <p:cNvSpPr txBox="1"/>
          <p:nvPr/>
        </p:nvSpPr>
        <p:spPr>
          <a:xfrm>
            <a:off x="5509289" y="4176956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21" name="Textfeld 120">
            <a:extLst>
              <a:ext uri="{FF2B5EF4-FFF2-40B4-BE49-F238E27FC236}">
                <a16:creationId xmlns:a16="http://schemas.microsoft.com/office/drawing/2014/main" id="{E35654E7-6A78-43B1-8762-D79CA53739D7}"/>
              </a:ext>
            </a:extLst>
          </p:cNvPr>
          <p:cNvSpPr txBox="1"/>
          <p:nvPr/>
        </p:nvSpPr>
        <p:spPr>
          <a:xfrm>
            <a:off x="5824863" y="4176956"/>
            <a:ext cx="1490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MI</a:t>
            </a:r>
          </a:p>
        </p:txBody>
      </p:sp>
      <p:sp>
        <p:nvSpPr>
          <p:cNvPr id="122" name="Textfeld 121">
            <a:extLst>
              <a:ext uri="{FF2B5EF4-FFF2-40B4-BE49-F238E27FC236}">
                <a16:creationId xmlns:a16="http://schemas.microsoft.com/office/drawing/2014/main" id="{6E915538-383C-4BAE-BD61-EF839A345EF9}"/>
              </a:ext>
            </a:extLst>
          </p:cNvPr>
          <p:cNvSpPr txBox="1"/>
          <p:nvPr/>
        </p:nvSpPr>
        <p:spPr>
          <a:xfrm>
            <a:off x="6033036" y="4176956"/>
            <a:ext cx="20518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9EC24EB1-F399-4675-9A0F-CDAA9EF0B89C}"/>
              </a:ext>
            </a:extLst>
          </p:cNvPr>
          <p:cNvCxnSpPr>
            <a:cxnSpLocks/>
          </p:cNvCxnSpPr>
          <p:nvPr/>
        </p:nvCxnSpPr>
        <p:spPr>
          <a:xfrm flipV="1">
            <a:off x="6472935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feld 123">
            <a:extLst>
              <a:ext uri="{FF2B5EF4-FFF2-40B4-BE49-F238E27FC236}">
                <a16:creationId xmlns:a16="http://schemas.microsoft.com/office/drawing/2014/main" id="{612F591D-7AFD-46ED-912A-4E42205601E5}"/>
              </a:ext>
            </a:extLst>
          </p:cNvPr>
          <p:cNvSpPr txBox="1"/>
          <p:nvPr/>
        </p:nvSpPr>
        <p:spPr>
          <a:xfrm>
            <a:off x="6306933" y="4171507"/>
            <a:ext cx="19877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CLK</a:t>
            </a:r>
          </a:p>
        </p:txBody>
      </p:sp>
      <p:sp>
        <p:nvSpPr>
          <p:cNvPr id="125" name="Textfeld 124">
            <a:extLst>
              <a:ext uri="{FF2B5EF4-FFF2-40B4-BE49-F238E27FC236}">
                <a16:creationId xmlns:a16="http://schemas.microsoft.com/office/drawing/2014/main" id="{A81B31BF-A149-49DC-A4AF-56ACC4431E1D}"/>
              </a:ext>
            </a:extLst>
          </p:cNvPr>
          <p:cNvSpPr txBox="1"/>
          <p:nvPr/>
        </p:nvSpPr>
        <p:spPr>
          <a:xfrm>
            <a:off x="5296540" y="4332685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V5</a:t>
            </a:r>
          </a:p>
        </p:txBody>
      </p:sp>
      <p:sp>
        <p:nvSpPr>
          <p:cNvPr id="126" name="Textfeld 125">
            <a:extLst>
              <a:ext uri="{FF2B5EF4-FFF2-40B4-BE49-F238E27FC236}">
                <a16:creationId xmlns:a16="http://schemas.microsoft.com/office/drawing/2014/main" id="{5039F28C-4612-4872-B82F-2F1EEAA5CF69}"/>
              </a:ext>
            </a:extLst>
          </p:cNvPr>
          <p:cNvSpPr txBox="1"/>
          <p:nvPr/>
        </p:nvSpPr>
        <p:spPr>
          <a:xfrm>
            <a:off x="5518321" y="4336976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415FD5B8-CC1E-4518-B0DF-A69948747956}"/>
              </a:ext>
            </a:extLst>
          </p:cNvPr>
          <p:cNvSpPr txBox="1"/>
          <p:nvPr/>
        </p:nvSpPr>
        <p:spPr>
          <a:xfrm>
            <a:off x="5828047" y="4336976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19</a:t>
            </a:r>
          </a:p>
        </p:txBody>
      </p:sp>
      <p:sp>
        <p:nvSpPr>
          <p:cNvPr id="128" name="Textfeld 127">
            <a:extLst>
              <a:ext uri="{FF2B5EF4-FFF2-40B4-BE49-F238E27FC236}">
                <a16:creationId xmlns:a16="http://schemas.microsoft.com/office/drawing/2014/main" id="{A000230D-B8EF-4F30-83DD-2501A66DF8A6}"/>
              </a:ext>
            </a:extLst>
          </p:cNvPr>
          <p:cNvSpPr txBox="1"/>
          <p:nvPr/>
        </p:nvSpPr>
        <p:spPr>
          <a:xfrm>
            <a:off x="6099337" y="4336976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23</a:t>
            </a:r>
          </a:p>
        </p:txBody>
      </p:sp>
      <p:sp>
        <p:nvSpPr>
          <p:cNvPr id="129" name="Textfeld 128">
            <a:extLst>
              <a:ext uri="{FF2B5EF4-FFF2-40B4-BE49-F238E27FC236}">
                <a16:creationId xmlns:a16="http://schemas.microsoft.com/office/drawing/2014/main" id="{589A6C81-2769-4FFF-8F7A-EF3080ABBDD3}"/>
              </a:ext>
            </a:extLst>
          </p:cNvPr>
          <p:cNvSpPr txBox="1"/>
          <p:nvPr/>
        </p:nvSpPr>
        <p:spPr>
          <a:xfrm>
            <a:off x="6336914" y="4331527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18</a:t>
            </a:r>
          </a:p>
        </p:txBody>
      </p:sp>
      <p:cxnSp>
        <p:nvCxnSpPr>
          <p:cNvPr id="131" name="Gerader Verbinder 130">
            <a:extLst>
              <a:ext uri="{FF2B5EF4-FFF2-40B4-BE49-F238E27FC236}">
                <a16:creationId xmlns:a16="http://schemas.microsoft.com/office/drawing/2014/main" id="{BFC673FF-96A3-47A7-91A8-C8B6FDA82846}"/>
              </a:ext>
            </a:extLst>
          </p:cNvPr>
          <p:cNvCxnSpPr>
            <a:cxnSpLocks/>
          </p:cNvCxnSpPr>
          <p:nvPr/>
        </p:nvCxnSpPr>
        <p:spPr>
          <a:xfrm flipV="1">
            <a:off x="6700396" y="417748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feld 131">
            <a:extLst>
              <a:ext uri="{FF2B5EF4-FFF2-40B4-BE49-F238E27FC236}">
                <a16:creationId xmlns:a16="http://schemas.microsoft.com/office/drawing/2014/main" id="{557D7BEA-01D6-4DCB-B270-2F18FC85E77A}"/>
              </a:ext>
            </a:extLst>
          </p:cNvPr>
          <p:cNvSpPr txBox="1"/>
          <p:nvPr/>
        </p:nvSpPr>
        <p:spPr>
          <a:xfrm>
            <a:off x="6566454" y="4175427"/>
            <a:ext cx="13465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CS</a:t>
            </a:r>
          </a:p>
        </p:txBody>
      </p:sp>
      <p:sp>
        <p:nvSpPr>
          <p:cNvPr id="133" name="Textfeld 132">
            <a:extLst>
              <a:ext uri="{FF2B5EF4-FFF2-40B4-BE49-F238E27FC236}">
                <a16:creationId xmlns:a16="http://schemas.microsoft.com/office/drawing/2014/main" id="{8B5C4F63-C78E-42B8-91E5-F0447CC57B9F}"/>
              </a:ext>
            </a:extLst>
          </p:cNvPr>
          <p:cNvSpPr txBox="1"/>
          <p:nvPr/>
        </p:nvSpPr>
        <p:spPr>
          <a:xfrm>
            <a:off x="6598840" y="4335447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2074476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EBD35803-D10E-4CBE-8067-1A699E4403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2971365"/>
              </p:ext>
            </p:extLst>
          </p:nvPr>
        </p:nvGraphicFramePr>
        <p:xfrm>
          <a:off x="143931" y="76200"/>
          <a:ext cx="11751737" cy="61552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87769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949965">
                  <a:extLst>
                    <a:ext uri="{9D8B030D-6E8A-4147-A177-3AD203B41FA5}">
                      <a16:colId xmlns:a16="http://schemas.microsoft.com/office/drawing/2014/main" val="3532357481"/>
                    </a:ext>
                  </a:extLst>
                </a:gridCol>
                <a:gridCol w="550335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524933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406047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708821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947542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715433">
                  <a:extLst>
                    <a:ext uri="{9D8B030D-6E8A-4147-A177-3AD203B41FA5}">
                      <a16:colId xmlns:a16="http://schemas.microsoft.com/office/drawing/2014/main" val="2322598111"/>
                    </a:ext>
                  </a:extLst>
                </a:gridCol>
                <a:gridCol w="560892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Master Select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i="0"/>
                        <a:t>(MISO)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MOSI/DIN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DC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33673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86654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68893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4355016"/>
                  </a:ext>
                </a:extLst>
              </a:tr>
            </a:tbl>
          </a:graphicData>
        </a:graphic>
      </p:graphicFrame>
      <p:pic>
        <p:nvPicPr>
          <p:cNvPr id="2050" name="Picture 2" descr="Pin-Layout des ESP32">
            <a:extLst>
              <a:ext uri="{FF2B5EF4-FFF2-40B4-BE49-F238E27FC236}">
                <a16:creationId xmlns:a16="http://schemas.microsoft.com/office/drawing/2014/main" id="{3F9827A7-10EF-4D78-B33D-C00259CC7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7827" y="0"/>
            <a:ext cx="5723944" cy="6861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281399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E5C74FF1-6670-45BA-854C-CFC387733C81}"/>
              </a:ext>
            </a:extLst>
          </p:cNvPr>
          <p:cNvGraphicFramePr>
            <a:graphicFrameLocks noGrp="1"/>
          </p:cNvGraphicFramePr>
          <p:nvPr/>
        </p:nvGraphicFramePr>
        <p:xfrm>
          <a:off x="8452194" y="1682191"/>
          <a:ext cx="1926246" cy="273436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19 (VSPI MISO)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18 (VSPI SCL)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23 (VSPI MOSI)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5 (VSPI SS)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3DF3434-403C-4E20-A4CF-94B62C7DAE0F}"/>
              </a:ext>
            </a:extLst>
          </p:cNvPr>
          <p:cNvGrpSpPr/>
          <p:nvPr/>
        </p:nvGrpSpPr>
        <p:grpSpPr>
          <a:xfrm>
            <a:off x="345379" y="1645314"/>
            <a:ext cx="8154538" cy="3219899"/>
            <a:chOff x="2018731" y="1819050"/>
            <a:chExt cx="8154538" cy="3219899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4F45C3E0-F51D-404F-96ED-DC2301E1B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018731" y="1819050"/>
              <a:ext cx="8154538" cy="3219899"/>
            </a:xfrm>
            <a:prstGeom prst="rect">
              <a:avLst/>
            </a:prstGeom>
          </p:spPr>
        </p:pic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8C78FD4D-687D-4484-9DBF-B289D1EA502A}"/>
                </a:ext>
              </a:extLst>
            </p:cNvPr>
            <p:cNvSpPr txBox="1"/>
            <p:nvPr/>
          </p:nvSpPr>
          <p:spPr>
            <a:xfrm>
              <a:off x="6594729" y="2676525"/>
              <a:ext cx="315277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sz="2000" b="1" i="1"/>
                <a:t>MISO (Master In Slave Out)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235666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3B27E527-8E64-4ACD-AB25-0BEFC29B6ECF}"/>
              </a:ext>
            </a:extLst>
          </p:cNvPr>
          <p:cNvGraphicFramePr>
            <a:graphicFrameLocks noGrp="1"/>
          </p:cNvGraphicFramePr>
          <p:nvPr/>
        </p:nvGraphicFramePr>
        <p:xfrm>
          <a:off x="1214392" y="2121408"/>
          <a:ext cx="9763214" cy="384962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88728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81205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163056">
                  <a:extLst>
                    <a:ext uri="{9D8B030D-6E8A-4147-A177-3AD203B41FA5}">
                      <a16:colId xmlns:a16="http://schemas.microsoft.com/office/drawing/2014/main" val="4257777642"/>
                    </a:ext>
                  </a:extLst>
                </a:gridCol>
                <a:gridCol w="1153556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745819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</a:tblGrid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VCC (5V)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3V3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D+ (SCL)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D- (SDA)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569AB42F-BF99-4796-8E29-DE44F6DC4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Pegel Wandler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0A9278D-B44F-4710-B55A-9C3F2115179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17334132">
            <a:off x="3388251" y="2127414"/>
            <a:ext cx="5415497" cy="4510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0850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E03989-CB40-455A-B40F-7FBACF9D2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PCF8574 Masterselect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9877783-4EBD-45C2-BD65-E7A81A09C6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801" y="743934"/>
            <a:ext cx="1952898" cy="547763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4E93DEE1-EE17-4A6B-87D3-E6BC5E8604A8}"/>
              </a:ext>
            </a:extLst>
          </p:cNvPr>
          <p:cNvSpPr txBox="1"/>
          <p:nvPr/>
        </p:nvSpPr>
        <p:spPr>
          <a:xfrm>
            <a:off x="1023801" y="5929400"/>
            <a:ext cx="2105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Activity Bus Connect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E675DF0-61F5-4995-B574-D4179B127B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1601" y="195947"/>
            <a:ext cx="3421217" cy="2090053"/>
          </a:xfrm>
          <a:prstGeom prst="rect">
            <a:avLst/>
          </a:prstGeom>
        </p:spPr>
      </p:pic>
      <p:graphicFrame>
        <p:nvGraphicFramePr>
          <p:cNvPr id="8" name="Tabelle 3">
            <a:extLst>
              <a:ext uri="{FF2B5EF4-FFF2-40B4-BE49-F238E27FC236}">
                <a16:creationId xmlns:a16="http://schemas.microsoft.com/office/drawing/2014/main" id="{E8FBCE3B-7BB8-40AE-9498-84522F8DED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5666000"/>
              </p:ext>
            </p:extLst>
          </p:nvPr>
        </p:nvGraphicFramePr>
        <p:xfrm>
          <a:off x="2624092" y="2075554"/>
          <a:ext cx="4043409" cy="260027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3374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1204832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1204832">
                  <a:extLst>
                    <a:ext uri="{9D8B030D-6E8A-4147-A177-3AD203B41FA5}">
                      <a16:colId xmlns:a16="http://schemas.microsoft.com/office/drawing/2014/main" val="3171568005"/>
                    </a:ext>
                  </a:extLst>
                </a:gridCol>
              </a:tblGrid>
              <a:tr h="405712">
                <a:tc>
                  <a:txBody>
                    <a:bodyPr/>
                    <a:lstStyle/>
                    <a:p>
                      <a:r>
                        <a:rPr lang="de-DE" sz="12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/>
                        <a:t>Rotary Encoder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Relais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000"/>
                        <a:t>CLK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000"/>
                        <a:t>DT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/>
                        <a:t>SW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7662353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7558436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r>
                        <a:rPr lang="de-DE" sz="1000"/>
                        <a:t>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76243585"/>
                  </a:ext>
                </a:extLst>
              </a:tr>
            </a:tbl>
          </a:graphicData>
        </a:graphic>
      </p:graphicFrame>
      <p:pic>
        <p:nvPicPr>
          <p:cNvPr id="1026" name="Picture 2">
            <a:extLst>
              <a:ext uri="{FF2B5EF4-FFF2-40B4-BE49-F238E27FC236}">
                <a16:creationId xmlns:a16="http://schemas.microsoft.com/office/drawing/2014/main" id="{81E9CF4E-98B7-48F9-B717-738686436D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3327" y="2499825"/>
            <a:ext cx="4729162" cy="3429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D66BB9B4-FCAA-4AE0-BDE8-9CB5ACB8DE6E}"/>
              </a:ext>
            </a:extLst>
          </p:cNvPr>
          <p:cNvCxnSpPr>
            <a:cxnSpLocks/>
          </p:cNvCxnSpPr>
          <p:nvPr/>
        </p:nvCxnSpPr>
        <p:spPr>
          <a:xfrm flipV="1">
            <a:off x="855345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44EA4748-5D39-4AAE-99B7-C1B848D101D5}"/>
              </a:ext>
            </a:extLst>
          </p:cNvPr>
          <p:cNvCxnSpPr>
            <a:cxnSpLocks/>
          </p:cNvCxnSpPr>
          <p:nvPr/>
        </p:nvCxnSpPr>
        <p:spPr>
          <a:xfrm flipV="1">
            <a:off x="901700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B1193FE8-0BBA-4F73-AE05-EB33936C414B}"/>
              </a:ext>
            </a:extLst>
          </p:cNvPr>
          <p:cNvCxnSpPr>
            <a:cxnSpLocks/>
          </p:cNvCxnSpPr>
          <p:nvPr/>
        </p:nvCxnSpPr>
        <p:spPr>
          <a:xfrm flipV="1">
            <a:off x="948055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2025D9F-E2F5-4A88-B858-3593362F732E}"/>
              </a:ext>
            </a:extLst>
          </p:cNvPr>
          <p:cNvCxnSpPr>
            <a:cxnSpLocks/>
          </p:cNvCxnSpPr>
          <p:nvPr/>
        </p:nvCxnSpPr>
        <p:spPr>
          <a:xfrm flipV="1">
            <a:off x="994410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436F5923-36B9-4BD7-BCAC-DDEF2F9B3917}"/>
              </a:ext>
            </a:extLst>
          </p:cNvPr>
          <p:cNvSpPr txBox="1"/>
          <p:nvPr/>
        </p:nvSpPr>
        <p:spPr>
          <a:xfrm>
            <a:off x="4400550" y="5295900"/>
            <a:ext cx="17905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2 x Relay Module</a:t>
            </a:r>
            <a:br>
              <a:rPr lang="de-DE"/>
            </a:br>
            <a:r>
              <a:rPr lang="de-DE"/>
              <a:t>für VCC und SCL</a:t>
            </a:r>
          </a:p>
        </p:txBody>
      </p:sp>
    </p:spTree>
    <p:extLst>
      <p:ext uri="{BB962C8B-B14F-4D97-AF65-F5344CB8AC3E}">
        <p14:creationId xmlns:p14="http://schemas.microsoft.com/office/powerpoint/2010/main" val="36857302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04A67EFA-EE6A-4996-BFE5-E0763B412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8316732"/>
              </p:ext>
            </p:extLst>
          </p:nvPr>
        </p:nvGraphicFramePr>
        <p:xfrm>
          <a:off x="2310535" y="323852"/>
          <a:ext cx="6058819" cy="6035931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670790">
                  <a:extLst>
                    <a:ext uri="{9D8B030D-6E8A-4147-A177-3AD203B41FA5}">
                      <a16:colId xmlns:a16="http://schemas.microsoft.com/office/drawing/2014/main" val="3983583951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190511087"/>
                    </a:ext>
                  </a:extLst>
                </a:gridCol>
                <a:gridCol w="947322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2605503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  <a:gridCol w="739829">
                  <a:extLst>
                    <a:ext uri="{9D8B030D-6E8A-4147-A177-3AD203B41FA5}">
                      <a16:colId xmlns:a16="http://schemas.microsoft.com/office/drawing/2014/main" val="627550626"/>
                    </a:ext>
                  </a:extLst>
                </a:gridCol>
              </a:tblGrid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SD-Modul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76274404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277212562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22130967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MISO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Master-In-Slave-Out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12331551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MOSI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Master-Out-Slave-In (parallel to DIN of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0003303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CLK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18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Clock (parallel to CLK of TFT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8262349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Chip Select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59548040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extLst>
                  <a:ext uri="{0D108BD9-81ED-4DB2-BD59-A6C34878D82A}">
                    <a16:rowId xmlns:a16="http://schemas.microsoft.com/office/drawing/2014/main" val="198436584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USB Port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Pegelwandler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53113440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VCC (5V)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5V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6696766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6965056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D- (SDA)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65432587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D+ (SCL)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696277114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3.3V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495550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29301504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037812246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extLst>
                  <a:ext uri="{0D108BD9-81ED-4DB2-BD59-A6C34878D82A}">
                    <a16:rowId xmlns:a16="http://schemas.microsoft.com/office/drawing/2014/main" val="1623046549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Display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7294376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VCC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8426817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9919020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SPI Chip Select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2659461124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RST 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4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Display Reset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967187312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DC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Data / Command Selection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92741371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DIN (SDI, MOSI)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SPI-Datenausgang vom ESP32 (MasterOut-SlaveIn)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2369802236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CLK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14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SPI Hardware-Taktleitung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589885974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 rowSpan="2"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BL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32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Hintergrundbeleuchtung regelbar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56931559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 v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(oder 3V3)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(oder dauerhaft an)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1018959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73580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378AAF-0BC5-4ABD-A43D-876A4795C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Backlight Pin (BL)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650AF52-A8CF-425F-AA34-26BDFC0F4651}"/>
              </a:ext>
            </a:extLst>
          </p:cNvPr>
          <p:cNvSpPr txBox="1"/>
          <p:nvPr/>
        </p:nvSpPr>
        <p:spPr>
          <a:xfrm>
            <a:off x="272992" y="835702"/>
            <a:ext cx="567795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Typsches Setup: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algn="l"/>
            <a:r>
              <a:rPr lang="de-DE" b="0" i="0" u="none" strike="noStrike">
                <a:solidFill>
                  <a:srgbClr val="0F1111"/>
                </a:solidFill>
                <a:effectLst/>
                <a:latin typeface="Amazon Ember"/>
              </a:rPr>
              <a:t>Arduino PWM-Pin → 100–220 Ohm Widerstand → BL-Pin</a:t>
            </a:r>
          </a:p>
          <a:p>
            <a:pPr algn="l"/>
            <a:r>
              <a:rPr lang="de-DE" b="0" i="0" u="none" strike="noStrike">
                <a:solidFill>
                  <a:srgbClr val="0F1111"/>
                </a:solidFill>
                <a:effectLst/>
                <a:latin typeface="Amazon Ember"/>
              </a:rPr>
              <a:t>Dann mit analogWrite(pin, 0-255) die Helligkeit steuern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9B53105-9887-4633-A2C6-7867BB39B808}"/>
              </a:ext>
            </a:extLst>
          </p:cNvPr>
          <p:cNvSpPr txBox="1"/>
          <p:nvPr/>
        </p:nvSpPr>
        <p:spPr>
          <a:xfrm>
            <a:off x="272992" y="1966958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Beim Arduino funktioniert das so: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0); // 0 = komplett aus </a:t>
            </a:r>
            <a:endParaRPr lang="de-DE">
              <a:solidFill>
                <a:srgbClr val="0F1111"/>
              </a:solidFill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128); // 128 = halbe Helligkeit</a:t>
            </a: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255); // 255 = volle Helligkeit </a:t>
            </a:r>
            <a:b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</a:b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Für deinen BL-Pin am Display reicht aber auch einfach: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digitalWrite(BL_Pin, HIGH); // Backlight an</a:t>
            </a: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digitalWrite(BL_Pin, LOW); // Backlight aus </a:t>
            </a:r>
          </a:p>
          <a:p>
            <a:pPr algn="l"/>
            <a:b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</a:b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Wenn du nur an/aus brauchst, ist digitalWrite völlig ausreichend – PWM (</a:t>
            </a:r>
            <a:r>
              <a:rPr lang="de-DE" b="1" i="0">
                <a:solidFill>
                  <a:srgbClr val="0F1111"/>
                </a:solidFill>
                <a:effectLst/>
                <a:latin typeface="Amazon Ember"/>
              </a:rPr>
              <a:t>Pulsweitenmodulation) </a:t>
            </a: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brauchst du nur, wenn du die Helligkeit stufenlos regeln möchtest.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51AA99B-A75E-4518-B2DF-DC16FCC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8873" y="923925"/>
            <a:ext cx="5550136" cy="4827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9874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B122F7-06E5-4A20-A978-08CE3427D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Datenleitungen schützen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1F10E91-03FA-4176-8218-344CD35C4A32}"/>
              </a:ext>
            </a:extLst>
          </p:cNvPr>
          <p:cNvSpPr txBox="1"/>
          <p:nvPr/>
        </p:nvSpPr>
        <p:spPr>
          <a:xfrm>
            <a:off x="550333" y="1244938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u="none" strike="noStrike">
                <a:effectLst/>
                <a:latin typeface="Google Sans"/>
              </a:rPr>
              <a:t>Spannungsteiler aus Widerständen:</a:t>
            </a:r>
            <a:r>
              <a:rPr lang="de-DE"/>
              <a:t> Schalte in jede Signalleitung vom Arduino Nano zum Display (MOSI, SCK, CS, D/C, RESET) einen einfachen Spannungsteiler. Ein </a:t>
            </a:r>
            <a:r>
              <a:rPr lang="de-DE" b="1" u="none" strike="noStrike">
                <a:effectLst/>
                <a:latin typeface="Google Sans"/>
              </a:rPr>
              <a:t>1kΩ Widerstand</a:t>
            </a:r>
            <a:r>
              <a:rPr lang="de-DE"/>
              <a:t> in Reihe und ein </a:t>
            </a:r>
            <a:r>
              <a:rPr lang="de-DE" b="1" u="none" strike="noStrike">
                <a:effectLst/>
                <a:latin typeface="Google Sans"/>
              </a:rPr>
              <a:t>2kΩ Widerstand</a:t>
            </a:r>
            <a:r>
              <a:rPr lang="de-DE"/>
              <a:t> gegen Masse (GND) senkt das 5V-Signal des Nano absolut sicher auf displayfreundliche ca. 3,3V ab. Das ist bei SPI-Frequenzen bis zu mehreren Megahertz absolut stabil.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B54BDFC-5608-4071-B1C7-6164B8D591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2666" y="3366104"/>
            <a:ext cx="5434484" cy="329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75254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7D3DF3-834B-4D46-95E9-F35E28672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Datenleitungen schützen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BA9057E0-0525-4E91-9150-C43837948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896" y="971549"/>
            <a:ext cx="5703128" cy="5505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4089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10174C-7C02-4C8B-8C94-C98C8716E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</a:t>
            </a:r>
          </a:p>
        </p:txBody>
      </p:sp>
    </p:spTree>
    <p:extLst>
      <p:ext uri="{BB962C8B-B14F-4D97-AF65-F5344CB8AC3E}">
        <p14:creationId xmlns:p14="http://schemas.microsoft.com/office/powerpoint/2010/main" val="189647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1D9B674-E0A9-452F-A749-67D4C9B83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Gadget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BB2065-B24E-47C9-AE24-3E3B52AE4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Würfelähnliches Spiel</a:t>
            </a:r>
          </a:p>
          <a:p>
            <a:pPr lvl="1"/>
            <a:r>
              <a:rPr lang="de-DE"/>
              <a:t>6 LEDs die die Würfelaugen repräsentieren</a:t>
            </a:r>
          </a:p>
          <a:p>
            <a:pPr lvl="1"/>
            <a:r>
              <a:rPr lang="de-DE"/>
              <a:t>Ausgabe Jingle Sound während würfeln</a:t>
            </a:r>
          </a:p>
          <a:p>
            <a:pPr lvl="1"/>
            <a:r>
              <a:rPr lang="de-DE"/>
              <a:t>Ausgabe gewürfelte Ziffer Sound in unterschiedlichen Sprachen</a:t>
            </a:r>
            <a:br>
              <a:rPr lang="de-DE"/>
            </a:br>
            <a:endParaRPr lang="de-DE"/>
          </a:p>
          <a:p>
            <a:r>
              <a:rPr lang="de-DE"/>
              <a:t>Taste : es wird normal gewürfelt</a:t>
            </a:r>
            <a:br>
              <a:rPr lang="de-DE"/>
            </a:br>
            <a:endParaRPr lang="de-DE"/>
          </a:p>
          <a:p>
            <a:r>
              <a:rPr lang="de-DE"/>
              <a:t>Numpad Eingabe : es wird gewürfelt und bei Treffer entsprechend honoriert</a:t>
            </a:r>
          </a:p>
        </p:txBody>
      </p:sp>
    </p:spTree>
    <p:extLst>
      <p:ext uri="{BB962C8B-B14F-4D97-AF65-F5344CB8AC3E}">
        <p14:creationId xmlns:p14="http://schemas.microsoft.com/office/powerpoint/2010/main" val="32563965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7666109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5784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7666109" y="5784873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4140000" cy="478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481496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115 x 133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LED Kreis</a:t>
            </a:r>
          </a:p>
          <a:p>
            <a:pPr marL="171450" indent="-171450">
              <a:buFontTx/>
              <a:buChar char="-"/>
            </a:pPr>
            <a:r>
              <a:rPr lang="de-DE" sz="1100"/>
              <a:t>von oben: 50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Radius: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35000" y="166140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29D12D2C-A941-4A97-9FCF-9FB67202BD27}"/>
              </a:ext>
            </a:extLst>
          </p:cNvPr>
          <p:cNvSpPr/>
          <p:nvPr/>
        </p:nvSpPr>
        <p:spPr>
          <a:xfrm>
            <a:off x="4590000" y="1800000"/>
            <a:ext cx="2160000" cy="216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A2F97A1D-1DD0-4CE6-86EE-7C0AE2919C5E}"/>
              </a:ext>
            </a:extLst>
          </p:cNvPr>
          <p:cNvSpPr/>
          <p:nvPr/>
        </p:nvSpPr>
        <p:spPr>
          <a:xfrm>
            <a:off x="5535000" y="382253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5D80280E-5E86-4DC5-9250-415C611FEA86}"/>
              </a:ext>
            </a:extLst>
          </p:cNvPr>
          <p:cNvSpPr/>
          <p:nvPr/>
        </p:nvSpPr>
        <p:spPr>
          <a:xfrm>
            <a:off x="6460244" y="2192164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B3F7E7DC-284A-4465-9E5F-05E8B147EE68}"/>
              </a:ext>
            </a:extLst>
          </p:cNvPr>
          <p:cNvSpPr/>
          <p:nvPr/>
        </p:nvSpPr>
        <p:spPr>
          <a:xfrm>
            <a:off x="646024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C67ACEA0-4B1E-4FB9-9974-A7C7D6E69B5A}"/>
              </a:ext>
            </a:extLst>
          </p:cNvPr>
          <p:cNvSpPr/>
          <p:nvPr/>
        </p:nvSpPr>
        <p:spPr>
          <a:xfrm>
            <a:off x="4590000" y="220027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357E5471-AD02-49B0-A554-F230B748C270}"/>
              </a:ext>
            </a:extLst>
          </p:cNvPr>
          <p:cNvSpPr/>
          <p:nvPr/>
        </p:nvSpPr>
        <p:spPr>
          <a:xfrm>
            <a:off x="459567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D69B637A-8CB4-4424-B56D-487560CF6B4D}"/>
              </a:ext>
            </a:extLst>
          </p:cNvPr>
          <p:cNvSpPr/>
          <p:nvPr/>
        </p:nvSpPr>
        <p:spPr>
          <a:xfrm>
            <a:off x="5385600" y="4627800"/>
            <a:ext cx="568800" cy="5688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C20E56B6-FDFC-43A5-B0DC-AC177F2D45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799" y="2369974"/>
            <a:ext cx="990977" cy="1020052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C2F8B601-5508-4B93-8553-7D4909D66446}"/>
              </a:ext>
            </a:extLst>
          </p:cNvPr>
          <p:cNvSpPr txBox="1"/>
          <p:nvPr/>
        </p:nvSpPr>
        <p:spPr>
          <a:xfrm>
            <a:off x="5514095" y="128841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6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7462E24-93CC-49C5-B963-A6AD3BA31EE3}"/>
              </a:ext>
            </a:extLst>
          </p:cNvPr>
          <p:cNvSpPr txBox="1"/>
          <p:nvPr/>
        </p:nvSpPr>
        <p:spPr>
          <a:xfrm>
            <a:off x="5535916" y="4080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5FAB3BBC-4581-4F10-8B29-E2371696E1DA}"/>
              </a:ext>
            </a:extLst>
          </p:cNvPr>
          <p:cNvSpPr txBox="1"/>
          <p:nvPr/>
        </p:nvSpPr>
        <p:spPr>
          <a:xfrm>
            <a:off x="6783965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3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A05DB1F1-81E2-4D6B-81F4-DACD1D8D7ADB}"/>
              </a:ext>
            </a:extLst>
          </p:cNvPr>
          <p:cNvSpPr txBox="1"/>
          <p:nvPr/>
        </p:nvSpPr>
        <p:spPr>
          <a:xfrm>
            <a:off x="4262577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4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663F8590-FCA1-4871-ADE4-2414479996E8}"/>
              </a:ext>
            </a:extLst>
          </p:cNvPr>
          <p:cNvSpPr txBox="1"/>
          <p:nvPr/>
        </p:nvSpPr>
        <p:spPr>
          <a:xfrm>
            <a:off x="4262577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2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C9875D0B-FB91-4FB6-9C67-6E77682BDA88}"/>
              </a:ext>
            </a:extLst>
          </p:cNvPr>
          <p:cNvSpPr txBox="1"/>
          <p:nvPr/>
        </p:nvSpPr>
        <p:spPr>
          <a:xfrm>
            <a:off x="6783965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5</a:t>
            </a:r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E2B53078-64AE-46A7-909B-9CA3E0525E5A}"/>
              </a:ext>
            </a:extLst>
          </p:cNvPr>
          <p:cNvSpPr/>
          <p:nvPr/>
        </p:nvSpPr>
        <p:spPr>
          <a:xfrm>
            <a:off x="4318287" y="1530000"/>
            <a:ext cx="2700000" cy="270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48545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8251AF-2378-46D7-8F36-63315088C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Frame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C1259D2-9E72-4ADB-AF59-4F642214D412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136 x 156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86257AF-5B2C-4B7D-96A4-8B463888E337}"/>
              </a:ext>
            </a:extLst>
          </p:cNvPr>
          <p:cNvSpPr/>
          <p:nvPr/>
        </p:nvSpPr>
        <p:spPr>
          <a:xfrm>
            <a:off x="3600000" y="1080000"/>
            <a:ext cx="4896000" cy="5616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95B5C97-CCC5-42BE-A446-5AD71737C0C6}"/>
              </a:ext>
            </a:extLst>
          </p:cNvPr>
          <p:cNvSpPr/>
          <p:nvPr/>
        </p:nvSpPr>
        <p:spPr>
          <a:xfrm>
            <a:off x="4248000" y="1728000"/>
            <a:ext cx="360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682F45B-985B-409B-9268-75919B256BD7}"/>
              </a:ext>
            </a:extLst>
          </p:cNvPr>
          <p:cNvSpPr txBox="1"/>
          <p:nvPr/>
        </p:nvSpPr>
        <p:spPr>
          <a:xfrm>
            <a:off x="4984020" y="1204780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4C102AA-979B-47B0-83C9-5FF96AF33A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9551" y="1858620"/>
            <a:ext cx="342000" cy="78721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D2DC5EA9-3A3F-4624-9047-CBC1F03614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42000" cy="787218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1ADE3CB4-EC28-4634-96E5-026502F479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256635" y="6168215"/>
            <a:ext cx="349738" cy="3600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CE81E583-3803-41D2-8F91-3F3FDF662A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90362" y="3234043"/>
            <a:ext cx="342000" cy="660892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6AE5E9AC-5542-4D6D-B9DE-EE2227502F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8011606" y="2745596"/>
            <a:ext cx="342000" cy="660892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68ECE7BD-5C24-4FCA-B231-F3FD8CD1E503}"/>
              </a:ext>
            </a:extLst>
          </p:cNvPr>
          <p:cNvSpPr txBox="1"/>
          <p:nvPr/>
        </p:nvSpPr>
        <p:spPr>
          <a:xfrm>
            <a:off x="5256995" y="6148160"/>
            <a:ext cx="16065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2800">
                <a:latin typeface="Henny Penny" panose="02000505000000020004" pitchFamily="2" charset="0"/>
              </a:defRPr>
            </a:lvl1pPr>
          </a:lstStyle>
          <a:p>
            <a:r>
              <a:rPr lang="de-DE" sz="2000"/>
              <a:t>Lingo Bingo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16FEBEB-2E04-42D9-8737-9D68507FBB75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2542AA7-00D5-47BD-BAD9-9F331FCA7234}"/>
              </a:ext>
            </a:extLst>
          </p:cNvPr>
          <p:cNvSpPr/>
          <p:nvPr/>
        </p:nvSpPr>
        <p:spPr>
          <a:xfrm>
            <a:off x="8478000" y="1071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BE1D3FC-6A8C-455B-B852-7BA46C4C0EF7}"/>
              </a:ext>
            </a:extLst>
          </p:cNvPr>
          <p:cNvSpPr/>
          <p:nvPr/>
        </p:nvSpPr>
        <p:spPr>
          <a:xfrm>
            <a:off x="360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35756E1-98A1-4E81-A36D-3563F350605C}"/>
              </a:ext>
            </a:extLst>
          </p:cNvPr>
          <p:cNvSpPr/>
          <p:nvPr/>
        </p:nvSpPr>
        <p:spPr>
          <a:xfrm>
            <a:off x="846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7A73D3EE-E8FD-4BE3-BD73-BFB7282567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6475" y="6168215"/>
            <a:ext cx="35741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9347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602C5F-0F9F-4C7E-8B24-2CA2582B8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B88AFA4-427A-46D8-9C22-3B3F456A5F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2903" y="3360722"/>
            <a:ext cx="468000" cy="418266"/>
          </a:xfrm>
          <a:prstGeom prst="rect">
            <a:avLst/>
          </a:prstGeom>
        </p:spPr>
      </p:pic>
      <p:pic>
        <p:nvPicPr>
          <p:cNvPr id="1030" name="Picture 6" descr="Settings - Free Tools and utensils icons">
            <a:extLst>
              <a:ext uri="{FF2B5EF4-FFF2-40B4-BE49-F238E27FC236}">
                <a16:creationId xmlns:a16="http://schemas.microsoft.com/office/drawing/2014/main" id="{49D6F0FB-8DF9-4837-A0A6-6611A4F0E1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903" y="3335855"/>
            <a:ext cx="468000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61E1F318-A3E1-4905-B544-2AD306F57087}"/>
              </a:ext>
            </a:extLst>
          </p:cNvPr>
          <p:cNvSpPr/>
          <p:nvPr/>
        </p:nvSpPr>
        <p:spPr>
          <a:xfrm>
            <a:off x="4027055" y="3260436"/>
            <a:ext cx="3260436" cy="61883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BA9EF90-1E80-477B-AFC5-A096F1550676}"/>
              </a:ext>
            </a:extLst>
          </p:cNvPr>
          <p:cNvSpPr txBox="1"/>
          <p:nvPr/>
        </p:nvSpPr>
        <p:spPr>
          <a:xfrm>
            <a:off x="628072" y="1163127"/>
            <a:ext cx="9476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Breite : 86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B078B84-66EB-47F5-B888-32B908C1E6BA}"/>
              </a:ext>
            </a:extLst>
          </p:cNvPr>
          <p:cNvCxnSpPr>
            <a:cxnSpLocks/>
            <a:stCxn id="4" idx="0"/>
            <a:endCxn id="4" idx="2"/>
          </p:cNvCxnSpPr>
          <p:nvPr/>
        </p:nvCxnSpPr>
        <p:spPr>
          <a:xfrm>
            <a:off x="5657273" y="3260436"/>
            <a:ext cx="0" cy="6188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25507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10174C-7C02-4C8B-8C94-C98C8716E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Storybook</a:t>
            </a:r>
          </a:p>
        </p:txBody>
      </p:sp>
    </p:spTree>
    <p:extLst>
      <p:ext uri="{BB962C8B-B14F-4D97-AF65-F5344CB8AC3E}">
        <p14:creationId xmlns:p14="http://schemas.microsoft.com/office/powerpoint/2010/main" val="18171576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1D9B674-E0A9-452F-A749-67D4C9B83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Storybook Gadget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BB2065-B24E-47C9-AE24-3E3B52AE4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Geschichtenerzähler</a:t>
            </a:r>
          </a:p>
          <a:p>
            <a:pPr lvl="1"/>
            <a:r>
              <a:rPr lang="de-DE"/>
              <a:t>diverse interaktive Geschichten</a:t>
            </a:r>
          </a:p>
          <a:p>
            <a:pPr lvl="1"/>
            <a:r>
              <a:rPr lang="de-DE"/>
              <a:t>Auswahl der Geschichte</a:t>
            </a:r>
          </a:p>
          <a:p>
            <a:pPr lvl="1"/>
            <a:r>
              <a:rPr lang="de-DE"/>
              <a:t>Jede Geschichte eingeteilt in Abschnitte</a:t>
            </a:r>
          </a:p>
          <a:p>
            <a:pPr lvl="1"/>
            <a:r>
              <a:rPr lang="de-DE"/>
              <a:t>Optional : kein linearer Durchlauf, sondern gesteuert durch das Kind</a:t>
            </a:r>
          </a:p>
          <a:p>
            <a:pPr lvl="1"/>
            <a:endParaRPr lang="de-DE"/>
          </a:p>
          <a:p>
            <a:r>
              <a:rPr lang="de-DE"/>
              <a:t>Start Button (grüne LED)</a:t>
            </a:r>
          </a:p>
          <a:p>
            <a:pPr lvl="1"/>
            <a:r>
              <a:rPr lang="de-DE"/>
              <a:t>wenn der start button (unterhalb der grünen LED) gedrückt wird, werden die konfigurierten Stories hintereinander angezeigt</a:t>
            </a:r>
          </a:p>
          <a:p>
            <a:pPr lvl="1"/>
            <a:r>
              <a:rPr lang="de-DE"/>
              <a:t>während dieses "Selection" Modus wird eine grüne LED angezeigt</a:t>
            </a:r>
          </a:p>
          <a:p>
            <a:pPr lvl="1"/>
            <a:r>
              <a:rPr lang="de-DE"/>
              <a:t>es wird jeweils ein sound und ein bitmap geöffnet – quasi als teaser</a:t>
            </a:r>
          </a:p>
          <a:p>
            <a:pPr lvl="1"/>
            <a:r>
              <a:rPr lang="de-DE"/>
              <a:t>es werden alle Stories nur einmal gezeigt, dann wird der Selektionsmodus beendet</a:t>
            </a:r>
          </a:p>
          <a:p>
            <a:pPr lvl="1"/>
            <a:endParaRPr lang="de-DE"/>
          </a:p>
          <a:p>
            <a:r>
              <a:rPr lang="de-DE"/>
              <a:t>Select Button (blaue LED)</a:t>
            </a:r>
          </a:p>
          <a:p>
            <a:pPr lvl="1"/>
            <a:r>
              <a:rPr lang="de-DE"/>
              <a:t>während des Selektionsmodus kann die gerade angezeigte Story ausgewählt werden.</a:t>
            </a:r>
          </a:p>
          <a:p>
            <a:pPr lvl="1"/>
            <a:r>
              <a:rPr lang="de-DE"/>
              <a:t>dies erfolgt durch drücken des Select Buttons (unterhalb der blauen LED)</a:t>
            </a:r>
          </a:p>
          <a:p>
            <a:pPr lvl="1"/>
            <a:r>
              <a:rPr lang="de-DE"/>
              <a:t>damit wird der Selektionsmodus beendet (grüne LED erlischt) und der Reading Modus beginnt (blaue LED an)</a:t>
            </a:r>
          </a:p>
          <a:p>
            <a:pPr lvl="1"/>
            <a:endParaRPr lang="de-DE"/>
          </a:p>
          <a:p>
            <a:endParaRPr lang="de-DE"/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6635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EBD35803-D10E-4CBE-8067-1A699E4403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3716653"/>
              </p:ext>
            </p:extLst>
          </p:nvPr>
        </p:nvGraphicFramePr>
        <p:xfrm>
          <a:off x="143930" y="76200"/>
          <a:ext cx="12048069" cy="61552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26005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450815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479368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1709807">
                  <a:extLst>
                    <a:ext uri="{9D8B030D-6E8A-4147-A177-3AD203B41FA5}">
                      <a16:colId xmlns:a16="http://schemas.microsoft.com/office/drawing/2014/main" val="3398344140"/>
                    </a:ext>
                  </a:extLst>
                </a:gridCol>
                <a:gridCol w="6572250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504825">
                  <a:extLst>
                    <a:ext uri="{9D8B030D-6E8A-4147-A177-3AD203B41FA5}">
                      <a16:colId xmlns:a16="http://schemas.microsoft.com/office/drawing/2014/main" val="2585164258"/>
                    </a:ext>
                  </a:extLst>
                </a:gridCol>
                <a:gridCol w="640699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648100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616200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START_BUTTON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SELECT_BUTTON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SELECTING_LED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READING_LED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33673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86654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68893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4355016"/>
                  </a:ext>
                </a:extLst>
              </a:tr>
            </a:tbl>
          </a:graphicData>
        </a:graphic>
      </p:graphicFrame>
      <p:pic>
        <p:nvPicPr>
          <p:cNvPr id="2050" name="Picture 2" descr="Pin-Layout des ESP32">
            <a:extLst>
              <a:ext uri="{FF2B5EF4-FFF2-40B4-BE49-F238E27FC236}">
                <a16:creationId xmlns:a16="http://schemas.microsoft.com/office/drawing/2014/main" id="{3F9827A7-10EF-4D78-B33D-C00259CC7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7827" y="0"/>
            <a:ext cx="5723944" cy="6861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374909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E5C74FF1-6670-45BA-854C-CFC387733C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5920808"/>
              </p:ext>
            </p:extLst>
          </p:nvPr>
        </p:nvGraphicFramePr>
        <p:xfrm>
          <a:off x="8452194" y="1682191"/>
          <a:ext cx="2965048" cy="273436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965048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GND (rechts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19 (VSPI MISO, rechts 8)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18 (VSPI SCL, rechts 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23 (VSPI MOSI, rechts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5 (VSPI SS, rechts 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5V (links 19)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3DF3434-403C-4E20-A4CF-94B62C7DAE0F}"/>
              </a:ext>
            </a:extLst>
          </p:cNvPr>
          <p:cNvGrpSpPr/>
          <p:nvPr/>
        </p:nvGrpSpPr>
        <p:grpSpPr>
          <a:xfrm>
            <a:off x="345379" y="1645314"/>
            <a:ext cx="8154538" cy="3219899"/>
            <a:chOff x="2018731" y="1819050"/>
            <a:chExt cx="8154538" cy="3219899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4F45C3E0-F51D-404F-96ED-DC2301E1B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018731" y="1819050"/>
              <a:ext cx="8154538" cy="3219899"/>
            </a:xfrm>
            <a:prstGeom prst="rect">
              <a:avLst/>
            </a:prstGeom>
          </p:spPr>
        </p:pic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8C78FD4D-687D-4484-9DBF-B289D1EA502A}"/>
                </a:ext>
              </a:extLst>
            </p:cNvPr>
            <p:cNvSpPr txBox="1"/>
            <p:nvPr/>
          </p:nvSpPr>
          <p:spPr>
            <a:xfrm>
              <a:off x="6594729" y="2676525"/>
              <a:ext cx="315277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sz="2000" b="1" i="1"/>
                <a:t>MISO (Master In Slave Out)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196385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3B27E527-8E64-4ACD-AB25-0BEFC29B6E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0575327"/>
              </p:ext>
            </p:extLst>
          </p:nvPr>
        </p:nvGraphicFramePr>
        <p:xfrm>
          <a:off x="1214392" y="2121408"/>
          <a:ext cx="9763214" cy="384962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88728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81205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163056">
                  <a:extLst>
                    <a:ext uri="{9D8B030D-6E8A-4147-A177-3AD203B41FA5}">
                      <a16:colId xmlns:a16="http://schemas.microsoft.com/office/drawing/2014/main" val="4257777642"/>
                    </a:ext>
                  </a:extLst>
                </a:gridCol>
                <a:gridCol w="1153556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745819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</a:tblGrid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GND</a:t>
                      </a:r>
                      <a:br>
                        <a:rPr lang="de-DE" sz="1400"/>
                      </a:br>
                      <a:r>
                        <a:rPr lang="de-DE" sz="1400"/>
                        <a:t>(rechts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VCC (5V)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3V3</a:t>
                      </a:r>
                      <a:br>
                        <a:rPr lang="de-DE" sz="1400"/>
                      </a:br>
                      <a:r>
                        <a:rPr lang="de-DE" sz="1400"/>
                        <a:t>(links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D+ (SCL)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22</a:t>
                      </a:r>
                      <a:br>
                        <a:rPr lang="de-DE" sz="1400"/>
                      </a:br>
                      <a:r>
                        <a:rPr lang="de-DE" sz="1400"/>
                        <a:t>(rechts 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D- (SDA)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21</a:t>
                      </a:r>
                      <a:br>
                        <a:rPr lang="de-DE" sz="1400"/>
                      </a:br>
                      <a:r>
                        <a:rPr lang="de-DE" sz="1400"/>
                        <a:t>(rechts 6)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569AB42F-BF99-4796-8E29-DE44F6DC4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Pegel Wandler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0A9278D-B44F-4710-B55A-9C3F2115179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17334132">
            <a:off x="3388251" y="2127414"/>
            <a:ext cx="5415497" cy="4510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5757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A14AE4C5-6D2B-45B1-9A81-39A158653E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8547235"/>
              </p:ext>
            </p:extLst>
          </p:nvPr>
        </p:nvGraphicFramePr>
        <p:xfrm>
          <a:off x="2882035" y="1457696"/>
          <a:ext cx="6058819" cy="3576848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670790">
                  <a:extLst>
                    <a:ext uri="{9D8B030D-6E8A-4147-A177-3AD203B41FA5}">
                      <a16:colId xmlns:a16="http://schemas.microsoft.com/office/drawing/2014/main" val="3983583951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190511087"/>
                    </a:ext>
                  </a:extLst>
                </a:gridCol>
                <a:gridCol w="947322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2605503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  <a:gridCol w="739829">
                  <a:extLst>
                    <a:ext uri="{9D8B030D-6E8A-4147-A177-3AD203B41FA5}">
                      <a16:colId xmlns:a16="http://schemas.microsoft.com/office/drawing/2014/main" val="627550626"/>
                    </a:ext>
                  </a:extLst>
                </a:gridCol>
              </a:tblGrid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SD-Modul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76274404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277212562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22130967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MISO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Master-In-Slave-Out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12331551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MOSI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Master-Out-Slave-In (parallel to DIN of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0003303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CLK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18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Clock (parallel to CLK of TFT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8262349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Chip Select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59548040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extLst>
                  <a:ext uri="{0D108BD9-81ED-4DB2-BD59-A6C34878D82A}">
                    <a16:rowId xmlns:a16="http://schemas.microsoft.com/office/drawing/2014/main" val="198436584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USB Port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Pegelwandler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53113440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VCC (5V)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5V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6696766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6965056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D- (SDA)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65432587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D+ (SCL)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696277114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3.3V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495550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29301504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037812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506699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E2327E2-E680-4673-8507-729A0F01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extras</a:t>
            </a:r>
          </a:p>
        </p:txBody>
      </p:sp>
    </p:spTree>
    <p:extLst>
      <p:ext uri="{BB962C8B-B14F-4D97-AF65-F5344CB8AC3E}">
        <p14:creationId xmlns:p14="http://schemas.microsoft.com/office/powerpoint/2010/main" val="63286368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B6E3C101-B4D7-4AD7-B910-31FE55B47C4F}"/>
              </a:ext>
            </a:extLst>
          </p:cNvPr>
          <p:cNvGraphicFramePr>
            <a:graphicFrameLocks noGrp="1"/>
          </p:cNvGraphicFramePr>
          <p:nvPr/>
        </p:nvGraphicFramePr>
        <p:xfrm>
          <a:off x="0" y="434108"/>
          <a:ext cx="12192000" cy="5772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535709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10261600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581891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SLC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</a:tbl>
          </a:graphicData>
        </a:graphic>
      </p:graphicFrame>
      <p:pic>
        <p:nvPicPr>
          <p:cNvPr id="7" name="Grafik 6">
            <a:extLst>
              <a:ext uri="{FF2B5EF4-FFF2-40B4-BE49-F238E27FC236}">
                <a16:creationId xmlns:a16="http://schemas.microsoft.com/office/drawing/2014/main" id="{7D694B51-1486-40C5-B134-A3988170806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alphaModFix/>
          </a:blip>
          <a:stretch>
            <a:fillRect/>
          </a:stretch>
        </p:blipFill>
        <p:spPr>
          <a:xfrm>
            <a:off x="1717479" y="0"/>
            <a:ext cx="87570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81933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F45C3E0-F51D-404F-96ED-DC2301E1B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8731" y="1819050"/>
            <a:ext cx="8154538" cy="321989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8C78FD4D-687D-4484-9DBF-B289D1EA502A}"/>
              </a:ext>
            </a:extLst>
          </p:cNvPr>
          <p:cNvSpPr txBox="1"/>
          <p:nvPr/>
        </p:nvSpPr>
        <p:spPr>
          <a:xfrm>
            <a:off x="6677025" y="2676525"/>
            <a:ext cx="69762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/>
              <a:t>MISO</a:t>
            </a:r>
          </a:p>
        </p:txBody>
      </p:sp>
    </p:spTree>
    <p:extLst>
      <p:ext uri="{BB962C8B-B14F-4D97-AF65-F5344CB8AC3E}">
        <p14:creationId xmlns:p14="http://schemas.microsoft.com/office/powerpoint/2010/main" val="3963623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910043" y="4785208"/>
            <a:ext cx="8369415" cy="13847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476057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32297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54163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4976936"/>
            <a:ext cx="3004851" cy="34603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0"/>
            <a:endCxn id="22" idx="2"/>
          </p:cNvCxnSpPr>
          <p:nvPr/>
        </p:nvCxnSpPr>
        <p:spPr>
          <a:xfrm rot="16200000" flipV="1">
            <a:off x="6057430" y="3717918"/>
            <a:ext cx="256747" cy="2936366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248" y="531447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32297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48961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48961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4896144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48961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8A5DB76C-25AA-4F5D-9847-99CDC7AFDCE6}"/>
              </a:ext>
            </a:extLst>
          </p:cNvPr>
          <p:cNvSpPr txBox="1"/>
          <p:nvPr/>
        </p:nvSpPr>
        <p:spPr>
          <a:xfrm>
            <a:off x="6844467" y="5736784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512371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26" idx="1"/>
            <a:endCxn id="25" idx="2"/>
          </p:cNvCxnSpPr>
          <p:nvPr/>
        </p:nvCxnSpPr>
        <p:spPr>
          <a:xfrm rot="10800000">
            <a:off x="4033517" y="5057728"/>
            <a:ext cx="2810951" cy="759849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057727"/>
            <a:ext cx="2432831" cy="53543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461571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867595" y="4785208"/>
            <a:ext cx="8369415" cy="187238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74390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600057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5512636"/>
            <a:ext cx="3004851" cy="606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1"/>
            <a:endCxn id="22" idx="2"/>
          </p:cNvCxnSpPr>
          <p:nvPr/>
        </p:nvCxnSpPr>
        <p:spPr>
          <a:xfrm rot="10800000">
            <a:off x="4717621" y="5593428"/>
            <a:ext cx="2863117" cy="3310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737" y="5545738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518703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54318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54318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543184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54318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928002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9" idx="1"/>
            <a:endCxn id="25" idx="0"/>
          </p:cNvCxnSpPr>
          <p:nvPr/>
        </p:nvCxnSpPr>
        <p:spPr>
          <a:xfrm rot="10800000" flipV="1">
            <a:off x="4033517" y="5021748"/>
            <a:ext cx="3280423" cy="41009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593426"/>
            <a:ext cx="2432831" cy="41536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28F6ED8C-1746-427D-86CA-BA27A4BBDDEE}"/>
              </a:ext>
            </a:extLst>
          </p:cNvPr>
          <p:cNvSpPr/>
          <p:nvPr/>
        </p:nvSpPr>
        <p:spPr>
          <a:xfrm>
            <a:off x="7313939" y="4926074"/>
            <a:ext cx="781337" cy="1913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switch V</a:t>
            </a:r>
          </a:p>
        </p:txBody>
      </p:sp>
      <p:cxnSp>
        <p:nvCxnSpPr>
          <p:cNvPr id="65" name="Gerader Verbinder 144">
            <a:extLst>
              <a:ext uri="{FF2B5EF4-FFF2-40B4-BE49-F238E27FC236}">
                <a16:creationId xmlns:a16="http://schemas.microsoft.com/office/drawing/2014/main" id="{FB3BC31D-9EFF-4327-B7E2-983422F3DB81}"/>
              </a:ext>
            </a:extLst>
          </p:cNvPr>
          <p:cNvCxnSpPr>
            <a:cxnSpLocks/>
            <a:stCxn id="13" idx="0"/>
            <a:endCxn id="9" idx="2"/>
          </p:cNvCxnSpPr>
          <p:nvPr/>
        </p:nvCxnSpPr>
        <p:spPr>
          <a:xfrm rot="16200000" flipV="1">
            <a:off x="8117155" y="4704876"/>
            <a:ext cx="482634" cy="1307727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144">
            <a:extLst>
              <a:ext uri="{FF2B5EF4-FFF2-40B4-BE49-F238E27FC236}">
                <a16:creationId xmlns:a16="http://schemas.microsoft.com/office/drawing/2014/main" id="{36D62C59-7218-4CF2-9AA2-F2DFCCDE5B3B}"/>
              </a:ext>
            </a:extLst>
          </p:cNvPr>
          <p:cNvCxnSpPr>
            <a:cxnSpLocks/>
            <a:stCxn id="14" idx="2"/>
            <a:endCxn id="9" idx="3"/>
          </p:cNvCxnSpPr>
          <p:nvPr/>
        </p:nvCxnSpPr>
        <p:spPr>
          <a:xfrm rot="5400000">
            <a:off x="8434791" y="4441819"/>
            <a:ext cx="240416" cy="91944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818724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335439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feld 84">
            <a:extLst>
              <a:ext uri="{FF2B5EF4-FFF2-40B4-BE49-F238E27FC236}">
                <a16:creationId xmlns:a16="http://schemas.microsoft.com/office/drawing/2014/main" id="{77B4B0B5-48AE-4138-9B77-164018F4524E}"/>
              </a:ext>
            </a:extLst>
          </p:cNvPr>
          <p:cNvSpPr txBox="1"/>
          <p:nvPr/>
        </p:nvSpPr>
        <p:spPr>
          <a:xfrm>
            <a:off x="7675871" y="860802"/>
            <a:ext cx="2520242" cy="523220"/>
          </a:xfrm>
          <a:prstGeom prst="rect">
            <a:avLst/>
          </a:prstGeom>
          <a:solidFill>
            <a:schemeClr val="accent5"/>
          </a:solidFill>
        </p:spPr>
        <p:txBody>
          <a:bodyPr wrap="none" rtlCol="0">
            <a:spAutoFit/>
          </a:bodyPr>
          <a:lstStyle/>
          <a:p>
            <a:r>
              <a:rPr lang="de-DE" sz="1400">
                <a:solidFill>
                  <a:schemeClr val="bg1"/>
                </a:solidFill>
              </a:rPr>
              <a:t>TF Card, FAT32, Folder "mp3"</a:t>
            </a:r>
          </a:p>
          <a:p>
            <a:r>
              <a:rPr lang="de-DE" sz="1400">
                <a:solidFill>
                  <a:schemeClr val="bg1"/>
                </a:solidFill>
              </a:rPr>
              <a:t>Files "0001.mp3" … "0004.mp3"</a:t>
            </a:r>
          </a:p>
        </p:txBody>
      </p:sp>
      <p:grpSp>
        <p:nvGrpSpPr>
          <p:cNvPr id="145" name="Gruppieren 144">
            <a:extLst>
              <a:ext uri="{FF2B5EF4-FFF2-40B4-BE49-F238E27FC236}">
                <a16:creationId xmlns:a16="http://schemas.microsoft.com/office/drawing/2014/main" id="{E04DF9F9-EF02-4871-B114-AB5BE0CF54E0}"/>
              </a:ext>
            </a:extLst>
          </p:cNvPr>
          <p:cNvGrpSpPr/>
          <p:nvPr/>
        </p:nvGrpSpPr>
        <p:grpSpPr>
          <a:xfrm>
            <a:off x="1098814" y="4256452"/>
            <a:ext cx="2068566" cy="1240575"/>
            <a:chOff x="1100173" y="3438872"/>
            <a:chExt cx="2068566" cy="1240575"/>
          </a:xfrm>
        </p:grpSpPr>
        <p:sp>
          <p:nvSpPr>
            <p:cNvPr id="130" name="Rechteck: abgerundete Ecken 129">
              <a:extLst>
                <a:ext uri="{FF2B5EF4-FFF2-40B4-BE49-F238E27FC236}">
                  <a16:creationId xmlns:a16="http://schemas.microsoft.com/office/drawing/2014/main" id="{F7365A3C-F6EE-4686-AD77-760BDA5A57CB}"/>
                </a:ext>
              </a:extLst>
            </p:cNvPr>
            <p:cNvSpPr/>
            <p:nvPr/>
          </p:nvSpPr>
          <p:spPr>
            <a:xfrm>
              <a:off x="1100173" y="3586027"/>
              <a:ext cx="1638265" cy="109342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b" anchorCtr="0"/>
            <a:lstStyle/>
            <a:p>
              <a:pPr algn="ctr"/>
              <a:r>
                <a:rPr lang="de-DE" sz="1600"/>
                <a:t>Button Field</a:t>
              </a:r>
            </a:p>
          </p:txBody>
        </p:sp>
        <p:sp>
          <p:nvSpPr>
            <p:cNvPr id="66" name="Ellipse 65">
              <a:extLst>
                <a:ext uri="{FF2B5EF4-FFF2-40B4-BE49-F238E27FC236}">
                  <a16:creationId xmlns:a16="http://schemas.microsoft.com/office/drawing/2014/main" id="{154DB65E-8289-48C8-907E-DB4A697BDC55}"/>
                </a:ext>
              </a:extLst>
            </p:cNvPr>
            <p:cNvSpPr/>
            <p:nvPr/>
          </p:nvSpPr>
          <p:spPr>
            <a:xfrm>
              <a:off x="1333657" y="3674896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T1</a:t>
              </a:r>
            </a:p>
          </p:txBody>
        </p:sp>
        <p:cxnSp>
          <p:nvCxnSpPr>
            <p:cNvPr id="68" name="Gerader Verbinder 67">
              <a:extLst>
                <a:ext uri="{FF2B5EF4-FFF2-40B4-BE49-F238E27FC236}">
                  <a16:creationId xmlns:a16="http://schemas.microsoft.com/office/drawing/2014/main" id="{B002BB39-55E1-4084-A8B3-033671639293}"/>
                </a:ext>
              </a:extLst>
            </p:cNvPr>
            <p:cNvCxnSpPr>
              <a:cxnSpLocks/>
              <a:stCxn id="66" idx="4"/>
              <a:endCxn id="104" idx="2"/>
            </p:cNvCxnSpPr>
            <p:nvPr/>
          </p:nvCxnSpPr>
          <p:spPr>
            <a:xfrm rot="16200000" flipH="1">
              <a:off x="2157264" y="3515536"/>
              <a:ext cx="141958" cy="1281173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495A2A6B-51E7-449C-9D04-CD032F2E73BD}"/>
                </a:ext>
              </a:extLst>
            </p:cNvPr>
            <p:cNvSpPr/>
            <p:nvPr/>
          </p:nvSpPr>
          <p:spPr>
            <a:xfrm>
              <a:off x="2077003" y="3693010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T4</a:t>
              </a:r>
            </a:p>
          </p:txBody>
        </p:sp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5EE502AE-70D7-4F9B-8B22-56360F766339}"/>
                </a:ext>
              </a:extLst>
            </p:cNvPr>
            <p:cNvCxnSpPr>
              <a:cxnSpLocks/>
              <a:stCxn id="75" idx="4"/>
              <a:endCxn id="104" idx="2"/>
            </p:cNvCxnSpPr>
            <p:nvPr/>
          </p:nvCxnSpPr>
          <p:spPr>
            <a:xfrm rot="16200000" flipH="1">
              <a:off x="2537994" y="3896266"/>
              <a:ext cx="123844" cy="537827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DB1E540B-9DDC-4021-95E6-C3A54B9AE9D4}"/>
                </a:ext>
              </a:extLst>
            </p:cNvPr>
            <p:cNvSpPr txBox="1"/>
            <p:nvPr/>
          </p:nvSpPr>
          <p:spPr>
            <a:xfrm>
              <a:off x="2692327" y="391751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81" name="Textfeld 80">
              <a:extLst>
                <a:ext uri="{FF2B5EF4-FFF2-40B4-BE49-F238E27FC236}">
                  <a16:creationId xmlns:a16="http://schemas.microsoft.com/office/drawing/2014/main" id="{1F1C196A-0D11-46AE-B550-20FA477DBF68}"/>
                </a:ext>
              </a:extLst>
            </p:cNvPr>
            <p:cNvSpPr txBox="1"/>
            <p:nvPr/>
          </p:nvSpPr>
          <p:spPr>
            <a:xfrm>
              <a:off x="1816338" y="3701830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D17D3B1D-8CA0-4688-A2B2-99B69C47B065}"/>
                </a:ext>
              </a:extLst>
            </p:cNvPr>
            <p:cNvSpPr/>
            <p:nvPr/>
          </p:nvSpPr>
          <p:spPr>
            <a:xfrm>
              <a:off x="2868830" y="4179568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22" name="Gerader Verbinder 121">
              <a:extLst>
                <a:ext uri="{FF2B5EF4-FFF2-40B4-BE49-F238E27FC236}">
                  <a16:creationId xmlns:a16="http://schemas.microsoft.com/office/drawing/2014/main" id="{4DE9BCC8-F7F0-449D-A874-05F5A5D88814}"/>
                </a:ext>
              </a:extLst>
            </p:cNvPr>
            <p:cNvCxnSpPr>
              <a:cxnSpLocks/>
              <a:stCxn id="66" idx="0"/>
              <a:endCxn id="124" idx="4"/>
            </p:cNvCxnSpPr>
            <p:nvPr/>
          </p:nvCxnSpPr>
          <p:spPr>
            <a:xfrm flipV="1">
              <a:off x="1587657" y="3533939"/>
              <a:ext cx="1" cy="14095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Gerader Verbinder 122">
              <a:extLst>
                <a:ext uri="{FF2B5EF4-FFF2-40B4-BE49-F238E27FC236}">
                  <a16:creationId xmlns:a16="http://schemas.microsoft.com/office/drawing/2014/main" id="{85043E50-DE7C-4B0A-B188-BFF76720049B}"/>
                </a:ext>
              </a:extLst>
            </p:cNvPr>
            <p:cNvCxnSpPr>
              <a:cxnSpLocks/>
              <a:stCxn id="75" idx="0"/>
              <a:endCxn id="125" idx="4"/>
            </p:cNvCxnSpPr>
            <p:nvPr/>
          </p:nvCxnSpPr>
          <p:spPr>
            <a:xfrm flipV="1">
              <a:off x="2331003" y="3533939"/>
              <a:ext cx="1" cy="1590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5A003C98-7791-4A36-97C8-BF2AF5BB2E82}"/>
                </a:ext>
              </a:extLst>
            </p:cNvPr>
            <p:cNvSpPr/>
            <p:nvPr/>
          </p:nvSpPr>
          <p:spPr>
            <a:xfrm>
              <a:off x="1545058" y="3445727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5" name="Ellipse 124">
              <a:extLst>
                <a:ext uri="{FF2B5EF4-FFF2-40B4-BE49-F238E27FC236}">
                  <a16:creationId xmlns:a16="http://schemas.microsoft.com/office/drawing/2014/main" id="{7FDFA12F-DB11-413B-9B42-6120103F15CB}"/>
                </a:ext>
              </a:extLst>
            </p:cNvPr>
            <p:cNvSpPr/>
            <p:nvPr/>
          </p:nvSpPr>
          <p:spPr>
            <a:xfrm>
              <a:off x="2288404" y="3438872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05" name="Gruppieren 204">
            <a:extLst>
              <a:ext uri="{FF2B5EF4-FFF2-40B4-BE49-F238E27FC236}">
                <a16:creationId xmlns:a16="http://schemas.microsoft.com/office/drawing/2014/main" id="{E730267A-C759-4918-AA9F-3703C6A9B1D1}"/>
              </a:ext>
            </a:extLst>
          </p:cNvPr>
          <p:cNvGrpSpPr/>
          <p:nvPr/>
        </p:nvGrpSpPr>
        <p:grpSpPr>
          <a:xfrm>
            <a:off x="4365061" y="4037705"/>
            <a:ext cx="1830514" cy="430887"/>
            <a:chOff x="4365061" y="4762526"/>
            <a:chExt cx="1830514" cy="430887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CC933CA8-D8FA-411B-991A-BA1C0EEDCB4E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brown-black-red</a:t>
              </a:r>
              <a:br>
                <a:rPr lang="de-DE" sz="1400"/>
              </a:br>
              <a:r>
                <a:rPr lang="de-DE" sz="1400"/>
                <a:t>1 k Ohm</a:t>
              </a:r>
            </a:p>
          </p:txBody>
        </p:sp>
        <p:cxnSp>
          <p:nvCxnSpPr>
            <p:cNvPr id="136" name="Gerader Verbinder 135">
              <a:extLst>
                <a:ext uri="{FF2B5EF4-FFF2-40B4-BE49-F238E27FC236}">
                  <a16:creationId xmlns:a16="http://schemas.microsoft.com/office/drawing/2014/main" id="{24243ABE-A079-4D3E-A2A1-10119FD2AC7D}"/>
                </a:ext>
              </a:extLst>
            </p:cNvPr>
            <p:cNvCxnSpPr>
              <a:stCxn id="33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Gerader Verbinder 137">
              <a:extLst>
                <a:ext uri="{FF2B5EF4-FFF2-40B4-BE49-F238E27FC236}">
                  <a16:creationId xmlns:a16="http://schemas.microsoft.com/office/drawing/2014/main" id="{42436CA5-ADB8-4BC5-AB6F-33871AA1ACF5}"/>
                </a:ext>
              </a:extLst>
            </p:cNvPr>
            <p:cNvCxnSpPr>
              <a:stCxn id="33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Ellipse 138">
              <a:extLst>
                <a:ext uri="{FF2B5EF4-FFF2-40B4-BE49-F238E27FC236}">
                  <a16:creationId xmlns:a16="http://schemas.microsoft.com/office/drawing/2014/main" id="{68B774ED-7FEF-4D7F-8DE6-E90F20E380BA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0" name="Ellipse 139">
              <a:extLst>
                <a:ext uri="{FF2B5EF4-FFF2-40B4-BE49-F238E27FC236}">
                  <a16:creationId xmlns:a16="http://schemas.microsoft.com/office/drawing/2014/main" id="{64231119-DFB1-4218-9730-84AE48FE2E53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16" name="Gruppieren 315">
            <a:extLst>
              <a:ext uri="{FF2B5EF4-FFF2-40B4-BE49-F238E27FC236}">
                <a16:creationId xmlns:a16="http://schemas.microsoft.com/office/drawing/2014/main" id="{38543C81-D2DB-4DB0-BFBF-34B3C3D437A8}"/>
              </a:ext>
            </a:extLst>
          </p:cNvPr>
          <p:cNvGrpSpPr/>
          <p:nvPr/>
        </p:nvGrpSpPr>
        <p:grpSpPr>
          <a:xfrm>
            <a:off x="4847789" y="2295694"/>
            <a:ext cx="3276354" cy="1373344"/>
            <a:chOff x="4847789" y="2295694"/>
            <a:chExt cx="3276354" cy="1373344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A2F04B4-96C3-47C5-972D-638F5427CD5A}"/>
                </a:ext>
              </a:extLst>
            </p:cNvPr>
            <p:cNvSpPr/>
            <p:nvPr/>
          </p:nvSpPr>
          <p:spPr>
            <a:xfrm>
              <a:off x="5740400" y="2395295"/>
              <a:ext cx="1346200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DFPlayer</a:t>
              </a:r>
              <a:br>
                <a:rPr lang="de-DE"/>
              </a:br>
              <a:r>
                <a:rPr lang="de-DE"/>
                <a:t>Mini</a:t>
              </a:r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00B78A26-2F7E-4CF6-8747-3143F1B9D9C0}"/>
                </a:ext>
              </a:extLst>
            </p:cNvPr>
            <p:cNvCxnSpPr/>
            <p:nvPr/>
          </p:nvCxnSpPr>
          <p:spPr>
            <a:xfrm flipH="1">
              <a:off x="5564909" y="2652066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0B9E54D6-9678-470E-B676-4D57FF85276A}"/>
                </a:ext>
              </a:extLst>
            </p:cNvPr>
            <p:cNvSpPr txBox="1"/>
            <p:nvPr/>
          </p:nvSpPr>
          <p:spPr>
            <a:xfrm>
              <a:off x="4847789" y="2295695"/>
              <a:ext cx="77803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Pin 1</a:t>
              </a:r>
            </a:p>
          </p:txBody>
        </p: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CF7DA7A9-0C3F-4641-9E4F-8726B6AD9F77}"/>
                </a:ext>
              </a:extLst>
            </p:cNvPr>
            <p:cNvCxnSpPr/>
            <p:nvPr/>
          </p:nvCxnSpPr>
          <p:spPr>
            <a:xfrm flipH="1">
              <a:off x="5564909" y="3123120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B4BA454E-8595-42B2-8546-B0FC41BED137}"/>
                </a:ext>
              </a:extLst>
            </p:cNvPr>
            <p:cNvSpPr txBox="1"/>
            <p:nvPr/>
          </p:nvSpPr>
          <p:spPr>
            <a:xfrm>
              <a:off x="4873812" y="276295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7</a:t>
              </a:r>
            </a:p>
          </p:txBody>
        </p: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077BE8B0-FB3B-4028-BD29-084023D518CF}"/>
                </a:ext>
              </a:extLst>
            </p:cNvPr>
            <p:cNvCxnSpPr>
              <a:cxnSpLocks/>
            </p:cNvCxnSpPr>
            <p:nvPr/>
          </p:nvCxnSpPr>
          <p:spPr>
            <a:xfrm>
              <a:off x="6687127" y="3309695"/>
              <a:ext cx="0" cy="22475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28F8226D-9C72-4FC1-AAA9-87C39D9E124A}"/>
                </a:ext>
              </a:extLst>
            </p:cNvPr>
            <p:cNvSpPr txBox="1"/>
            <p:nvPr/>
          </p:nvSpPr>
          <p:spPr>
            <a:xfrm>
              <a:off x="6724012" y="3392039"/>
              <a:ext cx="69281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RX Pin 2</a:t>
              </a:r>
            </a:p>
          </p:txBody>
        </p: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57CF89AE-CAC8-4DF6-8ACA-CACD39CB4AB3}"/>
                </a:ext>
              </a:extLst>
            </p:cNvPr>
            <p:cNvCxnSpPr>
              <a:cxnSpLocks/>
            </p:cNvCxnSpPr>
            <p:nvPr/>
          </p:nvCxnSpPr>
          <p:spPr>
            <a:xfrm>
              <a:off x="6050614" y="3309695"/>
              <a:ext cx="0" cy="2080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46BF7B6B-9FEE-4DAC-BD85-C0456790C3B3}"/>
                </a:ext>
              </a:extLst>
            </p:cNvPr>
            <p:cNvSpPr txBox="1"/>
            <p:nvPr/>
          </p:nvSpPr>
          <p:spPr>
            <a:xfrm>
              <a:off x="5287172" y="3366259"/>
              <a:ext cx="6848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TX Pin 3</a:t>
              </a:r>
            </a:p>
          </p:txBody>
        </p: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7194E64F-2B7C-4676-846D-15AD9114CDFB}"/>
                </a:ext>
              </a:extLst>
            </p:cNvPr>
            <p:cNvCxnSpPr/>
            <p:nvPr/>
          </p:nvCxnSpPr>
          <p:spPr>
            <a:xfrm>
              <a:off x="7086600" y="2652066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186D13C5-AA00-4DC9-A15C-9507DA0E6652}"/>
                </a:ext>
              </a:extLst>
            </p:cNvPr>
            <p:cNvSpPr txBox="1"/>
            <p:nvPr/>
          </p:nvSpPr>
          <p:spPr>
            <a:xfrm>
              <a:off x="7208508" y="2295694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SPK_1 Pin 6</a:t>
              </a:r>
              <a:endParaRPr lang="de-DE" sz="1200"/>
            </a:p>
          </p:txBody>
        </p: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B7BB4199-68E8-4307-81BC-5302E46FEC80}"/>
                </a:ext>
              </a:extLst>
            </p:cNvPr>
            <p:cNvCxnSpPr/>
            <p:nvPr/>
          </p:nvCxnSpPr>
          <p:spPr>
            <a:xfrm>
              <a:off x="7100706" y="3030707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229DE44-BDDE-45E8-9510-2DAC4B5CDF08}"/>
                </a:ext>
              </a:extLst>
            </p:cNvPr>
            <p:cNvSpPr txBox="1"/>
            <p:nvPr/>
          </p:nvSpPr>
          <p:spPr>
            <a:xfrm>
              <a:off x="7208508" y="2717103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SPK_2 Pin 8</a:t>
              </a:r>
              <a:endParaRPr lang="de-DE" sz="1200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7D6BB96D-E436-4D19-A7E6-74A12657CE20}"/>
                </a:ext>
              </a:extLst>
            </p:cNvPr>
            <p:cNvSpPr/>
            <p:nvPr/>
          </p:nvSpPr>
          <p:spPr>
            <a:xfrm>
              <a:off x="7325826" y="2593516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018E3FFF-BCEB-4561-B909-7CCB9B8EF455}"/>
                </a:ext>
              </a:extLst>
            </p:cNvPr>
            <p:cNvSpPr/>
            <p:nvPr/>
          </p:nvSpPr>
          <p:spPr>
            <a:xfrm>
              <a:off x="7342295" y="297628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3" name="Ellipse 92">
              <a:extLst>
                <a:ext uri="{FF2B5EF4-FFF2-40B4-BE49-F238E27FC236}">
                  <a16:creationId xmlns:a16="http://schemas.microsoft.com/office/drawing/2014/main" id="{B370EB6D-2E2F-4812-B7C0-7AFB2668B121}"/>
                </a:ext>
              </a:extLst>
            </p:cNvPr>
            <p:cNvSpPr/>
            <p:nvPr/>
          </p:nvSpPr>
          <p:spPr>
            <a:xfrm>
              <a:off x="5492989" y="2597193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76B56C6C-FE7A-4475-B843-AE6EED5E6A96}"/>
                </a:ext>
              </a:extLst>
            </p:cNvPr>
            <p:cNvSpPr/>
            <p:nvPr/>
          </p:nvSpPr>
          <p:spPr>
            <a:xfrm>
              <a:off x="5519692" y="307852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1" name="Ellipse 140">
              <a:extLst>
                <a:ext uri="{FF2B5EF4-FFF2-40B4-BE49-F238E27FC236}">
                  <a16:creationId xmlns:a16="http://schemas.microsoft.com/office/drawing/2014/main" id="{2D020D8E-38B8-47D9-A486-1D9CA9816E47}"/>
                </a:ext>
              </a:extLst>
            </p:cNvPr>
            <p:cNvSpPr/>
            <p:nvPr/>
          </p:nvSpPr>
          <p:spPr>
            <a:xfrm>
              <a:off x="5999833" y="3453456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2" name="Ellipse 141">
              <a:extLst>
                <a:ext uri="{FF2B5EF4-FFF2-40B4-BE49-F238E27FC236}">
                  <a16:creationId xmlns:a16="http://schemas.microsoft.com/office/drawing/2014/main" id="{87CB467D-EC3C-4BE6-BF4A-DB539CFC2845}"/>
                </a:ext>
              </a:extLst>
            </p:cNvPr>
            <p:cNvSpPr/>
            <p:nvPr/>
          </p:nvSpPr>
          <p:spPr>
            <a:xfrm>
              <a:off x="6648326" y="3483494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52" name="Gruppieren 151">
            <a:extLst>
              <a:ext uri="{FF2B5EF4-FFF2-40B4-BE49-F238E27FC236}">
                <a16:creationId xmlns:a16="http://schemas.microsoft.com/office/drawing/2014/main" id="{1DC74D4B-BEDF-438A-AAA6-AAF31B78F3F9}"/>
              </a:ext>
            </a:extLst>
          </p:cNvPr>
          <p:cNvGrpSpPr/>
          <p:nvPr/>
        </p:nvGrpSpPr>
        <p:grpSpPr>
          <a:xfrm>
            <a:off x="9268309" y="2372205"/>
            <a:ext cx="1705802" cy="914400"/>
            <a:chOff x="9268309" y="1993516"/>
            <a:chExt cx="1705802" cy="914400"/>
          </a:xfrm>
        </p:grpSpPr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8E49DD2F-33D1-443E-9074-93D660172479}"/>
                </a:ext>
              </a:extLst>
            </p:cNvPr>
            <p:cNvSpPr/>
            <p:nvPr/>
          </p:nvSpPr>
          <p:spPr>
            <a:xfrm>
              <a:off x="9592734" y="1993516"/>
              <a:ext cx="1381377" cy="914400"/>
            </a:xfrm>
            <a:prstGeom prst="ellipse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Speaker</a:t>
              </a:r>
              <a:br>
                <a:rPr lang="de-DE"/>
              </a:br>
              <a:r>
                <a:rPr lang="de-DE"/>
                <a:t>8 Ohm</a:t>
              </a:r>
            </a:p>
          </p:txBody>
        </p: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BE16164F-D10B-4DD9-B0C7-CCF64BCF9EE2}"/>
                </a:ext>
              </a:extLst>
            </p:cNvPr>
            <p:cNvCxnSpPr>
              <a:stCxn id="63" idx="1"/>
            </p:cNvCxnSpPr>
            <p:nvPr/>
          </p:nvCxnSpPr>
          <p:spPr>
            <a:xfrm flipH="1" flipV="1">
              <a:off x="9337964" y="2123081"/>
              <a:ext cx="457068" cy="43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r Verbinder 106">
              <a:extLst>
                <a:ext uri="{FF2B5EF4-FFF2-40B4-BE49-F238E27FC236}">
                  <a16:creationId xmlns:a16="http://schemas.microsoft.com/office/drawing/2014/main" id="{0B1384F1-7EBC-405C-AFEB-A0340B5C1562}"/>
                </a:ext>
              </a:extLst>
            </p:cNvPr>
            <p:cNvCxnSpPr>
              <a:cxnSpLocks/>
              <a:stCxn id="63" idx="3"/>
            </p:cNvCxnSpPr>
            <p:nvPr/>
          </p:nvCxnSpPr>
          <p:spPr>
            <a:xfrm flipH="1">
              <a:off x="9337964" y="2774005"/>
              <a:ext cx="457068" cy="981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Ellipse 147">
              <a:extLst>
                <a:ext uri="{FF2B5EF4-FFF2-40B4-BE49-F238E27FC236}">
                  <a16:creationId xmlns:a16="http://schemas.microsoft.com/office/drawing/2014/main" id="{1BD5DA24-8881-4CB6-9D20-F8D1925C0C4D}"/>
                </a:ext>
              </a:extLst>
            </p:cNvPr>
            <p:cNvSpPr/>
            <p:nvPr/>
          </p:nvSpPr>
          <p:spPr>
            <a:xfrm>
              <a:off x="9268309" y="2077981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9" name="Ellipse 148">
              <a:extLst>
                <a:ext uri="{FF2B5EF4-FFF2-40B4-BE49-F238E27FC236}">
                  <a16:creationId xmlns:a16="http://schemas.microsoft.com/office/drawing/2014/main" id="{F37B7238-B41F-4EBC-83A8-949085163E53}"/>
                </a:ext>
              </a:extLst>
            </p:cNvPr>
            <p:cNvSpPr/>
            <p:nvPr/>
          </p:nvSpPr>
          <p:spPr>
            <a:xfrm>
              <a:off x="9268309" y="274698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54" name="Gerader Verbinder 153">
            <a:extLst>
              <a:ext uri="{FF2B5EF4-FFF2-40B4-BE49-F238E27FC236}">
                <a16:creationId xmlns:a16="http://schemas.microsoft.com/office/drawing/2014/main" id="{983C1836-866C-4983-8AD1-869B33AB1232}"/>
              </a:ext>
            </a:extLst>
          </p:cNvPr>
          <p:cNvCxnSpPr>
            <a:cxnSpLocks/>
            <a:stCxn id="6" idx="0"/>
            <a:endCxn id="85" idx="2"/>
          </p:cNvCxnSpPr>
          <p:nvPr/>
        </p:nvCxnSpPr>
        <p:spPr>
          <a:xfrm rot="5400000" flipH="1" flipV="1">
            <a:off x="7169110" y="628413"/>
            <a:ext cx="1011273" cy="252249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Rechteck: abgerundete Ecken 180">
            <a:extLst>
              <a:ext uri="{FF2B5EF4-FFF2-40B4-BE49-F238E27FC236}">
                <a16:creationId xmlns:a16="http://schemas.microsoft.com/office/drawing/2014/main" id="{002B488E-F370-437A-8594-10B1DD0FD1F4}"/>
              </a:ext>
            </a:extLst>
          </p:cNvPr>
          <p:cNvSpPr/>
          <p:nvPr/>
        </p:nvSpPr>
        <p:spPr>
          <a:xfrm>
            <a:off x="8686265" y="4615650"/>
            <a:ext cx="2287845" cy="1375356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/>
              <a:t>Battery Box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74DED79-117A-423A-8FD7-61E5D9694582}"/>
              </a:ext>
            </a:extLst>
          </p:cNvPr>
          <p:cNvSpPr/>
          <p:nvPr/>
        </p:nvSpPr>
        <p:spPr>
          <a:xfrm>
            <a:off x="9268309" y="4859583"/>
            <a:ext cx="914400" cy="64064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4,5 V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51B5F04-5673-462D-BCFB-A3FE21E47672}"/>
              </a:ext>
            </a:extLst>
          </p:cNvPr>
          <p:cNvSpPr txBox="1"/>
          <p:nvPr/>
        </p:nvSpPr>
        <p:spPr>
          <a:xfrm>
            <a:off x="6950982" y="548622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GND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61B5431-803F-4877-8BF5-599AF02FB173}"/>
              </a:ext>
            </a:extLst>
          </p:cNvPr>
          <p:cNvSpPr txBox="1"/>
          <p:nvPr/>
        </p:nvSpPr>
        <p:spPr>
          <a:xfrm>
            <a:off x="6930843" y="5048468"/>
            <a:ext cx="4686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u="none" strike="noStrike">
                <a:effectLst/>
              </a:rPr>
              <a:t>VCC</a:t>
            </a:r>
            <a:r>
              <a:rPr lang="de-DE" sz="1200"/>
              <a:t> 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8DFA95AB-0E89-4F21-B547-DCB278C46396}"/>
              </a:ext>
            </a:extLst>
          </p:cNvPr>
          <p:cNvCxnSpPr>
            <a:cxnSpLocks/>
            <a:stCxn id="150" idx="6"/>
            <a:endCxn id="7" idx="1"/>
          </p:cNvCxnSpPr>
          <p:nvPr/>
        </p:nvCxnSpPr>
        <p:spPr>
          <a:xfrm flipV="1">
            <a:off x="8552432" y="5179907"/>
            <a:ext cx="715877" cy="70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33AB841F-96B6-487D-BF9F-0F0BA4C4C4DC}"/>
              </a:ext>
            </a:extLst>
          </p:cNvPr>
          <p:cNvCxnSpPr>
            <a:cxnSpLocks/>
            <a:stCxn id="7" idx="3"/>
            <a:endCxn id="151" idx="6"/>
          </p:cNvCxnSpPr>
          <p:nvPr/>
        </p:nvCxnSpPr>
        <p:spPr>
          <a:xfrm flipH="1">
            <a:off x="8549070" y="5179907"/>
            <a:ext cx="1633639" cy="452860"/>
          </a:xfrm>
          <a:prstGeom prst="bentConnector3">
            <a:avLst>
              <a:gd name="adj1" fmla="val -1399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Ellipse 149">
            <a:extLst>
              <a:ext uri="{FF2B5EF4-FFF2-40B4-BE49-F238E27FC236}">
                <a16:creationId xmlns:a16="http://schemas.microsoft.com/office/drawing/2014/main" id="{06ECDA3E-D5F8-4FCF-85AF-E1303EF62194}"/>
              </a:ext>
            </a:extLst>
          </p:cNvPr>
          <p:cNvSpPr/>
          <p:nvPr/>
        </p:nvSpPr>
        <p:spPr>
          <a:xfrm>
            <a:off x="8467233" y="51429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630E493C-84B4-4E3C-A918-5E2332184EC8}"/>
              </a:ext>
            </a:extLst>
          </p:cNvPr>
          <p:cNvSpPr/>
          <p:nvPr/>
        </p:nvSpPr>
        <p:spPr>
          <a:xfrm>
            <a:off x="8463871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BBFFF5A-C644-455E-AC44-7CE5452D0CDD}"/>
              </a:ext>
            </a:extLst>
          </p:cNvPr>
          <p:cNvSpPr/>
          <p:nvPr/>
        </p:nvSpPr>
        <p:spPr>
          <a:xfrm>
            <a:off x="8837281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+</a:t>
            </a:r>
            <a:endParaRPr lang="de-D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9A822DD4-AFED-43BE-A49C-CB5B28B82F0B}"/>
              </a:ext>
            </a:extLst>
          </p:cNvPr>
          <p:cNvSpPr/>
          <p:nvPr/>
        </p:nvSpPr>
        <p:spPr>
          <a:xfrm>
            <a:off x="10243780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-</a:t>
            </a:r>
          </a:p>
        </p:txBody>
      </p:sp>
      <p:cxnSp>
        <p:nvCxnSpPr>
          <p:cNvPr id="186" name="Verbinder: gewinkelt 185">
            <a:extLst>
              <a:ext uri="{FF2B5EF4-FFF2-40B4-BE49-F238E27FC236}">
                <a16:creationId xmlns:a16="http://schemas.microsoft.com/office/drawing/2014/main" id="{1BA226D9-BA35-41BC-83CA-A9B13E61426F}"/>
              </a:ext>
            </a:extLst>
          </p:cNvPr>
          <p:cNvCxnSpPr>
            <a:cxnSpLocks/>
            <a:stCxn id="95" idx="4"/>
            <a:endCxn id="124" idx="0"/>
          </p:cNvCxnSpPr>
          <p:nvPr/>
        </p:nvCxnSpPr>
        <p:spPr>
          <a:xfrm rot="5400000">
            <a:off x="1317035" y="3990224"/>
            <a:ext cx="542347" cy="3818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186">
            <a:extLst>
              <a:ext uri="{FF2B5EF4-FFF2-40B4-BE49-F238E27FC236}">
                <a16:creationId xmlns:a16="http://schemas.microsoft.com/office/drawing/2014/main" id="{296CF01F-8C66-44F5-AFCF-5BE10EF07335}"/>
              </a:ext>
            </a:extLst>
          </p:cNvPr>
          <p:cNvCxnSpPr>
            <a:cxnSpLocks/>
            <a:stCxn id="96" idx="4"/>
            <a:endCxn id="125" idx="0"/>
          </p:cNvCxnSpPr>
          <p:nvPr/>
        </p:nvCxnSpPr>
        <p:spPr>
          <a:xfrm rot="5400000">
            <a:off x="2063907" y="3986698"/>
            <a:ext cx="535493" cy="4015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Verbinder: gewinkelt 191">
            <a:extLst>
              <a:ext uri="{FF2B5EF4-FFF2-40B4-BE49-F238E27FC236}">
                <a16:creationId xmlns:a16="http://schemas.microsoft.com/office/drawing/2014/main" id="{C0A3CB44-A2E1-4B17-9A76-49A6D764A3CC}"/>
              </a:ext>
            </a:extLst>
          </p:cNvPr>
          <p:cNvCxnSpPr>
            <a:stCxn id="102" idx="6"/>
            <a:endCxn id="139" idx="2"/>
          </p:cNvCxnSpPr>
          <p:nvPr/>
        </p:nvCxnSpPr>
        <p:spPr>
          <a:xfrm>
            <a:off x="2971193" y="2986567"/>
            <a:ext cx="1393868" cy="1266581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Verbinder: gewinkelt 193">
            <a:extLst>
              <a:ext uri="{FF2B5EF4-FFF2-40B4-BE49-F238E27FC236}">
                <a16:creationId xmlns:a16="http://schemas.microsoft.com/office/drawing/2014/main" id="{55136151-0077-40DA-B7AD-59C3DAC8DC00}"/>
              </a:ext>
            </a:extLst>
          </p:cNvPr>
          <p:cNvCxnSpPr>
            <a:stCxn id="101" idx="6"/>
            <a:endCxn id="141" idx="4"/>
          </p:cNvCxnSpPr>
          <p:nvPr/>
        </p:nvCxnSpPr>
        <p:spPr>
          <a:xfrm>
            <a:off x="2984233" y="2658104"/>
            <a:ext cx="3058200" cy="890419"/>
          </a:xfrm>
          <a:prstGeom prst="bentConnector4">
            <a:avLst>
              <a:gd name="adj1" fmla="val 26879"/>
              <a:gd name="adj2" fmla="val 125673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Verbinder: gewinkelt 195">
            <a:extLst>
              <a:ext uri="{FF2B5EF4-FFF2-40B4-BE49-F238E27FC236}">
                <a16:creationId xmlns:a16="http://schemas.microsoft.com/office/drawing/2014/main" id="{A4049F2E-CCE6-437D-8D49-0FB846B3867A}"/>
              </a:ext>
            </a:extLst>
          </p:cNvPr>
          <p:cNvCxnSpPr>
            <a:stCxn id="91" idx="6"/>
            <a:endCxn id="148" idx="4"/>
          </p:cNvCxnSpPr>
          <p:nvPr/>
        </p:nvCxnSpPr>
        <p:spPr>
          <a:xfrm flipV="1">
            <a:off x="7411025" y="2544679"/>
            <a:ext cx="1899884" cy="100063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Verbinder: gewinkelt 197">
            <a:extLst>
              <a:ext uri="{FF2B5EF4-FFF2-40B4-BE49-F238E27FC236}">
                <a16:creationId xmlns:a16="http://schemas.microsoft.com/office/drawing/2014/main" id="{FBD859FC-C3F0-4A7C-9D3F-D0C1F2FA0B8E}"/>
              </a:ext>
            </a:extLst>
          </p:cNvPr>
          <p:cNvCxnSpPr>
            <a:stCxn id="92" idx="6"/>
            <a:endCxn id="149" idx="0"/>
          </p:cNvCxnSpPr>
          <p:nvPr/>
        </p:nvCxnSpPr>
        <p:spPr>
          <a:xfrm>
            <a:off x="7427494" y="3027510"/>
            <a:ext cx="1883415" cy="98164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Verbinder: gewinkelt 201">
            <a:extLst>
              <a:ext uri="{FF2B5EF4-FFF2-40B4-BE49-F238E27FC236}">
                <a16:creationId xmlns:a16="http://schemas.microsoft.com/office/drawing/2014/main" id="{514EA306-1BD8-4F94-8EC3-012879223506}"/>
              </a:ext>
            </a:extLst>
          </p:cNvPr>
          <p:cNvCxnSpPr>
            <a:cxnSpLocks/>
            <a:stCxn id="142" idx="4"/>
            <a:endCxn id="140" idx="6"/>
          </p:cNvCxnSpPr>
          <p:nvPr/>
        </p:nvCxnSpPr>
        <p:spPr>
          <a:xfrm rot="5400000">
            <a:off x="6107327" y="3666810"/>
            <a:ext cx="671849" cy="495351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Verbinder: gewinkelt 234">
            <a:extLst>
              <a:ext uri="{FF2B5EF4-FFF2-40B4-BE49-F238E27FC236}">
                <a16:creationId xmlns:a16="http://schemas.microsoft.com/office/drawing/2014/main" id="{52113A51-BEE9-4E7A-965A-6D83715CEF22}"/>
              </a:ext>
            </a:extLst>
          </p:cNvPr>
          <p:cNvCxnSpPr>
            <a:cxnSpLocks/>
            <a:stCxn id="261" idx="4"/>
            <a:endCxn id="211" idx="0"/>
          </p:cNvCxnSpPr>
          <p:nvPr/>
        </p:nvCxnSpPr>
        <p:spPr>
          <a:xfrm rot="5400000">
            <a:off x="903753" y="1473217"/>
            <a:ext cx="1378418" cy="3689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Verbinder: gewinkelt 237">
            <a:extLst>
              <a:ext uri="{FF2B5EF4-FFF2-40B4-BE49-F238E27FC236}">
                <a16:creationId xmlns:a16="http://schemas.microsoft.com/office/drawing/2014/main" id="{9EEE615E-9E1C-4EA8-85BF-333F96326E7F}"/>
              </a:ext>
            </a:extLst>
          </p:cNvPr>
          <p:cNvCxnSpPr>
            <a:cxnSpLocks/>
            <a:stCxn id="292" idx="4"/>
            <a:endCxn id="212" idx="0"/>
          </p:cNvCxnSpPr>
          <p:nvPr/>
        </p:nvCxnSpPr>
        <p:spPr>
          <a:xfrm rot="5400000">
            <a:off x="1901122" y="1722145"/>
            <a:ext cx="882012" cy="2236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7" name="Gruppieren 356">
            <a:extLst>
              <a:ext uri="{FF2B5EF4-FFF2-40B4-BE49-F238E27FC236}">
                <a16:creationId xmlns:a16="http://schemas.microsoft.com/office/drawing/2014/main" id="{7023C0FC-5082-49B4-8D74-4F71B9B31C61}"/>
              </a:ext>
            </a:extLst>
          </p:cNvPr>
          <p:cNvGrpSpPr/>
          <p:nvPr/>
        </p:nvGrpSpPr>
        <p:grpSpPr>
          <a:xfrm>
            <a:off x="4402012" y="332298"/>
            <a:ext cx="2583058" cy="1405905"/>
            <a:chOff x="4402012" y="332298"/>
            <a:chExt cx="2583058" cy="1405905"/>
          </a:xfrm>
        </p:grpSpPr>
        <p:sp>
          <p:nvSpPr>
            <p:cNvPr id="224" name="Textfeld 223">
              <a:extLst>
                <a:ext uri="{FF2B5EF4-FFF2-40B4-BE49-F238E27FC236}">
                  <a16:creationId xmlns:a16="http://schemas.microsoft.com/office/drawing/2014/main" id="{201E7BF3-18BD-48B3-82AE-EC683D131EFE}"/>
                </a:ext>
              </a:extLst>
            </p:cNvPr>
            <p:cNvSpPr txBox="1"/>
            <p:nvPr/>
          </p:nvSpPr>
          <p:spPr>
            <a:xfrm>
              <a:off x="6508658" y="432599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219" name="Rechteck: abgerundete Ecken 218">
              <a:extLst>
                <a:ext uri="{FF2B5EF4-FFF2-40B4-BE49-F238E27FC236}">
                  <a16:creationId xmlns:a16="http://schemas.microsoft.com/office/drawing/2014/main" id="{7E89B070-7DCE-4242-B3CD-C18D1A1A20FF}"/>
                </a:ext>
              </a:extLst>
            </p:cNvPr>
            <p:cNvSpPr/>
            <p:nvPr/>
          </p:nvSpPr>
          <p:spPr>
            <a:xfrm>
              <a:off x="4594768" y="332298"/>
              <a:ext cx="1861330" cy="1405905"/>
            </a:xfrm>
            <a:prstGeom prst="roundRect">
              <a:avLst>
                <a:gd name="adj" fmla="val 10569"/>
              </a:avLst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vert="horz" rtlCol="0" anchor="b" anchorCtr="0"/>
            <a:lstStyle/>
            <a:p>
              <a:pPr algn="r"/>
              <a:r>
                <a:rPr lang="de-DE" sz="1600"/>
                <a:t>Light Field</a:t>
              </a:r>
            </a:p>
          </p:txBody>
        </p:sp>
        <p:sp>
          <p:nvSpPr>
            <p:cNvPr id="220" name="Ellipse 219">
              <a:extLst>
                <a:ext uri="{FF2B5EF4-FFF2-40B4-BE49-F238E27FC236}">
                  <a16:creationId xmlns:a16="http://schemas.microsoft.com/office/drawing/2014/main" id="{44AD6899-D60F-4B16-8164-2A3A49C1814A}"/>
                </a:ext>
              </a:extLst>
            </p:cNvPr>
            <p:cNvSpPr/>
            <p:nvPr/>
          </p:nvSpPr>
          <p:spPr>
            <a:xfrm>
              <a:off x="4866020" y="53285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L1</a:t>
              </a:r>
            </a:p>
          </p:txBody>
        </p:sp>
        <p:cxnSp>
          <p:nvCxnSpPr>
            <p:cNvPr id="221" name="Gerader Verbinder 67">
              <a:extLst>
                <a:ext uri="{FF2B5EF4-FFF2-40B4-BE49-F238E27FC236}">
                  <a16:creationId xmlns:a16="http://schemas.microsoft.com/office/drawing/2014/main" id="{69B246DE-A447-44F9-B02D-A3530169E714}"/>
                </a:ext>
              </a:extLst>
            </p:cNvPr>
            <p:cNvCxnSpPr>
              <a:cxnSpLocks/>
              <a:stCxn id="220" idx="6"/>
              <a:endCxn id="226" idx="2"/>
            </p:cNvCxnSpPr>
            <p:nvPr/>
          </p:nvCxnSpPr>
          <p:spPr>
            <a:xfrm flipV="1">
              <a:off x="5374020" y="735179"/>
              <a:ext cx="1250226" cy="280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2" name="Ellipse 221">
              <a:extLst>
                <a:ext uri="{FF2B5EF4-FFF2-40B4-BE49-F238E27FC236}">
                  <a16:creationId xmlns:a16="http://schemas.microsoft.com/office/drawing/2014/main" id="{D49EAE2E-BFB3-4494-99EE-E574410488C2}"/>
                </a:ext>
              </a:extLst>
            </p:cNvPr>
            <p:cNvSpPr/>
            <p:nvPr/>
          </p:nvSpPr>
          <p:spPr>
            <a:xfrm>
              <a:off x="4852037" y="103087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L4</a:t>
              </a:r>
            </a:p>
          </p:txBody>
        </p:sp>
        <p:cxnSp>
          <p:nvCxnSpPr>
            <p:cNvPr id="223" name="Gerader Verbinder 75">
              <a:extLst>
                <a:ext uri="{FF2B5EF4-FFF2-40B4-BE49-F238E27FC236}">
                  <a16:creationId xmlns:a16="http://schemas.microsoft.com/office/drawing/2014/main" id="{A0DF1611-6014-453C-B39A-A513DA24198F}"/>
                </a:ext>
              </a:extLst>
            </p:cNvPr>
            <p:cNvCxnSpPr>
              <a:cxnSpLocks/>
              <a:stCxn id="222" idx="6"/>
              <a:endCxn id="226" idx="2"/>
            </p:cNvCxnSpPr>
            <p:nvPr/>
          </p:nvCxnSpPr>
          <p:spPr>
            <a:xfrm flipV="1">
              <a:off x="5360037" y="735179"/>
              <a:ext cx="1264209" cy="50082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Textfeld 224">
              <a:extLst>
                <a:ext uri="{FF2B5EF4-FFF2-40B4-BE49-F238E27FC236}">
                  <a16:creationId xmlns:a16="http://schemas.microsoft.com/office/drawing/2014/main" id="{F811070C-0059-4CB3-84D5-F71AAC1D35ED}"/>
                </a:ext>
              </a:extLst>
            </p:cNvPr>
            <p:cNvSpPr txBox="1"/>
            <p:nvPr/>
          </p:nvSpPr>
          <p:spPr>
            <a:xfrm>
              <a:off x="4962828" y="792606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26" name="Ellipse 225">
              <a:extLst>
                <a:ext uri="{FF2B5EF4-FFF2-40B4-BE49-F238E27FC236}">
                  <a16:creationId xmlns:a16="http://schemas.microsoft.com/office/drawing/2014/main" id="{0616FCB1-DF6D-4A20-8082-017981E73B56}"/>
                </a:ext>
              </a:extLst>
            </p:cNvPr>
            <p:cNvSpPr/>
            <p:nvPr/>
          </p:nvSpPr>
          <p:spPr>
            <a:xfrm>
              <a:off x="6624246" y="68764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7" name="Gerader Verbinder 226">
              <a:extLst>
                <a:ext uri="{FF2B5EF4-FFF2-40B4-BE49-F238E27FC236}">
                  <a16:creationId xmlns:a16="http://schemas.microsoft.com/office/drawing/2014/main" id="{131B6FA9-19F7-4549-B701-498C8AA0DFAB}"/>
                </a:ext>
              </a:extLst>
            </p:cNvPr>
            <p:cNvCxnSpPr>
              <a:cxnSpLocks/>
              <a:stCxn id="220" idx="2"/>
              <a:endCxn id="229" idx="6"/>
            </p:cNvCxnSpPr>
            <p:nvPr/>
          </p:nvCxnSpPr>
          <p:spPr>
            <a:xfrm flipH="1" flipV="1">
              <a:off x="4488802" y="734294"/>
              <a:ext cx="377218" cy="368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Gerader Verbinder 227">
              <a:extLst>
                <a:ext uri="{FF2B5EF4-FFF2-40B4-BE49-F238E27FC236}">
                  <a16:creationId xmlns:a16="http://schemas.microsoft.com/office/drawing/2014/main" id="{A300AFFF-1486-4B8F-BBE6-CF454CDF46FB}"/>
                </a:ext>
              </a:extLst>
            </p:cNvPr>
            <p:cNvCxnSpPr>
              <a:cxnSpLocks/>
              <a:stCxn id="222" idx="2"/>
              <a:endCxn id="230" idx="6"/>
            </p:cNvCxnSpPr>
            <p:nvPr/>
          </p:nvCxnSpPr>
          <p:spPr>
            <a:xfrm flipH="1" flipV="1">
              <a:off x="4487211" y="1232353"/>
              <a:ext cx="364826" cy="36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9" name="Ellipse 228">
              <a:extLst>
                <a:ext uri="{FF2B5EF4-FFF2-40B4-BE49-F238E27FC236}">
                  <a16:creationId xmlns:a16="http://schemas.microsoft.com/office/drawing/2014/main" id="{836D7BAB-0B57-47A9-B4DC-F2F823DBF560}"/>
                </a:ext>
              </a:extLst>
            </p:cNvPr>
            <p:cNvSpPr/>
            <p:nvPr/>
          </p:nvSpPr>
          <p:spPr>
            <a:xfrm>
              <a:off x="4403603" y="690188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0" name="Ellipse 229">
              <a:extLst>
                <a:ext uri="{FF2B5EF4-FFF2-40B4-BE49-F238E27FC236}">
                  <a16:creationId xmlns:a16="http://schemas.microsoft.com/office/drawing/2014/main" id="{594AF01D-FB7B-4A27-9CCF-FE2F43466433}"/>
                </a:ext>
              </a:extLst>
            </p:cNvPr>
            <p:cNvSpPr/>
            <p:nvPr/>
          </p:nvSpPr>
          <p:spPr>
            <a:xfrm>
              <a:off x="4402012" y="1184819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8" name="Ellipse 247">
              <a:extLst>
                <a:ext uri="{FF2B5EF4-FFF2-40B4-BE49-F238E27FC236}">
                  <a16:creationId xmlns:a16="http://schemas.microsoft.com/office/drawing/2014/main" id="{886B8248-DE0B-490D-940A-6142B272C423}"/>
                </a:ext>
              </a:extLst>
            </p:cNvPr>
            <p:cNvSpPr/>
            <p:nvPr/>
          </p:nvSpPr>
          <p:spPr>
            <a:xfrm>
              <a:off x="4757789" y="41770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49" name="Ellipse 248">
              <a:extLst>
                <a:ext uri="{FF2B5EF4-FFF2-40B4-BE49-F238E27FC236}">
                  <a16:creationId xmlns:a16="http://schemas.microsoft.com/office/drawing/2014/main" id="{3D166AC5-5794-49F7-B96D-680730E584F6}"/>
                </a:ext>
              </a:extLst>
            </p:cNvPr>
            <p:cNvSpPr/>
            <p:nvPr/>
          </p:nvSpPr>
          <p:spPr>
            <a:xfrm>
              <a:off x="4745013" y="920383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50" name="Ellipse 249">
              <a:extLst>
                <a:ext uri="{FF2B5EF4-FFF2-40B4-BE49-F238E27FC236}">
                  <a16:creationId xmlns:a16="http://schemas.microsoft.com/office/drawing/2014/main" id="{829EE611-EB68-4434-8755-B92C55FD1DC1}"/>
                </a:ext>
              </a:extLst>
            </p:cNvPr>
            <p:cNvSpPr/>
            <p:nvPr/>
          </p:nvSpPr>
          <p:spPr>
            <a:xfrm>
              <a:off x="5405913" y="42792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  <p:sp>
          <p:nvSpPr>
            <p:cNvPr id="251" name="Ellipse 250">
              <a:extLst>
                <a:ext uri="{FF2B5EF4-FFF2-40B4-BE49-F238E27FC236}">
                  <a16:creationId xmlns:a16="http://schemas.microsoft.com/office/drawing/2014/main" id="{7C5BB6E0-E43D-4886-A3E1-F87C6F40FCEC}"/>
                </a:ext>
              </a:extLst>
            </p:cNvPr>
            <p:cNvSpPr/>
            <p:nvPr/>
          </p:nvSpPr>
          <p:spPr>
            <a:xfrm>
              <a:off x="5405806" y="999117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</p:grpSp>
      <p:grpSp>
        <p:nvGrpSpPr>
          <p:cNvPr id="257" name="Gruppieren 256">
            <a:extLst>
              <a:ext uri="{FF2B5EF4-FFF2-40B4-BE49-F238E27FC236}">
                <a16:creationId xmlns:a16="http://schemas.microsoft.com/office/drawing/2014/main" id="{943C4F0D-5B2B-4C49-B319-B4BE2BE0D007}"/>
              </a:ext>
            </a:extLst>
          </p:cNvPr>
          <p:cNvGrpSpPr/>
          <p:nvPr/>
        </p:nvGrpSpPr>
        <p:grpSpPr>
          <a:xfrm>
            <a:off x="1552206" y="522876"/>
            <a:ext cx="1830514" cy="430887"/>
            <a:chOff x="4365061" y="4762526"/>
            <a:chExt cx="1830514" cy="430887"/>
          </a:xfrm>
        </p:grpSpPr>
        <p:sp>
          <p:nvSpPr>
            <p:cNvPr id="258" name="Textfeld 257">
              <a:extLst>
                <a:ext uri="{FF2B5EF4-FFF2-40B4-BE49-F238E27FC236}">
                  <a16:creationId xmlns:a16="http://schemas.microsoft.com/office/drawing/2014/main" id="{68260D39-F687-4AF3-81AF-F3D71F8673B6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59" name="Gerader Verbinder 258">
              <a:extLst>
                <a:ext uri="{FF2B5EF4-FFF2-40B4-BE49-F238E27FC236}">
                  <a16:creationId xmlns:a16="http://schemas.microsoft.com/office/drawing/2014/main" id="{62115042-CB8A-4801-BB1E-9E875109363F}"/>
                </a:ext>
              </a:extLst>
            </p:cNvPr>
            <p:cNvCxnSpPr>
              <a:stCxn id="258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Gerader Verbinder 259">
              <a:extLst>
                <a:ext uri="{FF2B5EF4-FFF2-40B4-BE49-F238E27FC236}">
                  <a16:creationId xmlns:a16="http://schemas.microsoft.com/office/drawing/2014/main" id="{1FBA2AC6-0293-419A-8041-F766C7BF676D}"/>
                </a:ext>
              </a:extLst>
            </p:cNvPr>
            <p:cNvCxnSpPr>
              <a:stCxn id="258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1" name="Ellipse 260">
              <a:extLst>
                <a:ext uri="{FF2B5EF4-FFF2-40B4-BE49-F238E27FC236}">
                  <a16:creationId xmlns:a16="http://schemas.microsoft.com/office/drawing/2014/main" id="{62BD2987-BC9F-444E-A261-6CBBB98A3641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2" name="Ellipse 261">
              <a:extLst>
                <a:ext uri="{FF2B5EF4-FFF2-40B4-BE49-F238E27FC236}">
                  <a16:creationId xmlns:a16="http://schemas.microsoft.com/office/drawing/2014/main" id="{EDBDAB9E-9BD2-4B11-8809-B86DB7EA804E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88" name="Gruppieren 287">
            <a:extLst>
              <a:ext uri="{FF2B5EF4-FFF2-40B4-BE49-F238E27FC236}">
                <a16:creationId xmlns:a16="http://schemas.microsoft.com/office/drawing/2014/main" id="{AB3776DC-8AB2-4E3C-8BE1-28642F8B10FE}"/>
              </a:ext>
            </a:extLst>
          </p:cNvPr>
          <p:cNvGrpSpPr/>
          <p:nvPr/>
        </p:nvGrpSpPr>
        <p:grpSpPr>
          <a:xfrm>
            <a:off x="2300646" y="1019281"/>
            <a:ext cx="1830514" cy="430887"/>
            <a:chOff x="4365061" y="4762526"/>
            <a:chExt cx="1830514" cy="430887"/>
          </a:xfrm>
        </p:grpSpPr>
        <p:sp>
          <p:nvSpPr>
            <p:cNvPr id="289" name="Textfeld 288">
              <a:extLst>
                <a:ext uri="{FF2B5EF4-FFF2-40B4-BE49-F238E27FC236}">
                  <a16:creationId xmlns:a16="http://schemas.microsoft.com/office/drawing/2014/main" id="{8982F461-BBE8-4CCF-A1D8-315821EE016D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90" name="Gerader Verbinder 289">
              <a:extLst>
                <a:ext uri="{FF2B5EF4-FFF2-40B4-BE49-F238E27FC236}">
                  <a16:creationId xmlns:a16="http://schemas.microsoft.com/office/drawing/2014/main" id="{6BC8E090-42AA-46B5-8115-FD99B1479A6B}"/>
                </a:ext>
              </a:extLst>
            </p:cNvPr>
            <p:cNvCxnSpPr>
              <a:stCxn id="289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Gerader Verbinder 290">
              <a:extLst>
                <a:ext uri="{FF2B5EF4-FFF2-40B4-BE49-F238E27FC236}">
                  <a16:creationId xmlns:a16="http://schemas.microsoft.com/office/drawing/2014/main" id="{D4794C61-86A5-4096-A024-E4CC4393EE05}"/>
                </a:ext>
              </a:extLst>
            </p:cNvPr>
            <p:cNvCxnSpPr>
              <a:stCxn id="289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2" name="Ellipse 291">
              <a:extLst>
                <a:ext uri="{FF2B5EF4-FFF2-40B4-BE49-F238E27FC236}">
                  <a16:creationId xmlns:a16="http://schemas.microsoft.com/office/drawing/2014/main" id="{AF3BB276-A7C6-4514-A8BF-E7B2D69FC234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3" name="Ellipse 292">
              <a:extLst>
                <a:ext uri="{FF2B5EF4-FFF2-40B4-BE49-F238E27FC236}">
                  <a16:creationId xmlns:a16="http://schemas.microsoft.com/office/drawing/2014/main" id="{512E57B0-9076-4038-8A33-5133BECC0CA7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95" name="Verbinder: gewinkelt 294">
            <a:extLst>
              <a:ext uri="{FF2B5EF4-FFF2-40B4-BE49-F238E27FC236}">
                <a16:creationId xmlns:a16="http://schemas.microsoft.com/office/drawing/2014/main" id="{E42EEC04-FDDA-49E1-BD28-314533E1FCBB}"/>
              </a:ext>
            </a:extLst>
          </p:cNvPr>
          <p:cNvCxnSpPr>
            <a:cxnSpLocks/>
            <a:stCxn id="229" idx="2"/>
            <a:endCxn id="262" idx="6"/>
          </p:cNvCxnSpPr>
          <p:nvPr/>
        </p:nvCxnSpPr>
        <p:spPr>
          <a:xfrm flipH="1">
            <a:off x="3382720" y="734294"/>
            <a:ext cx="1020883" cy="128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Verbinder: gewinkelt 294">
            <a:extLst>
              <a:ext uri="{FF2B5EF4-FFF2-40B4-BE49-F238E27FC236}">
                <a16:creationId xmlns:a16="http://schemas.microsoft.com/office/drawing/2014/main" id="{EBA901C9-B337-4056-B009-67843769270D}"/>
              </a:ext>
            </a:extLst>
          </p:cNvPr>
          <p:cNvCxnSpPr>
            <a:cxnSpLocks/>
            <a:stCxn id="230" idx="2"/>
            <a:endCxn id="293" idx="6"/>
          </p:cNvCxnSpPr>
          <p:nvPr/>
        </p:nvCxnSpPr>
        <p:spPr>
          <a:xfrm flipH="1" flipV="1">
            <a:off x="4131160" y="1231986"/>
            <a:ext cx="270852" cy="3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Textfeld 302">
            <a:extLst>
              <a:ext uri="{FF2B5EF4-FFF2-40B4-BE49-F238E27FC236}">
                <a16:creationId xmlns:a16="http://schemas.microsoft.com/office/drawing/2014/main" id="{3EB67FED-F649-420A-8C22-D6F2B8E3D169}"/>
              </a:ext>
            </a:extLst>
          </p:cNvPr>
          <p:cNvSpPr txBox="1"/>
          <p:nvPr/>
        </p:nvSpPr>
        <p:spPr>
          <a:xfrm>
            <a:off x="3343478" y="756267"/>
            <a:ext cx="3593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u="none" strike="noStrike">
                <a:effectLst/>
              </a:rPr>
              <a:t>…</a:t>
            </a:r>
            <a:r>
              <a:rPr lang="de-DE" sz="1400"/>
              <a:t> </a:t>
            </a:r>
          </a:p>
        </p:txBody>
      </p:sp>
      <p:sp>
        <p:nvSpPr>
          <p:cNvPr id="306" name="Rechteck 305">
            <a:extLst>
              <a:ext uri="{FF2B5EF4-FFF2-40B4-BE49-F238E27FC236}">
                <a16:creationId xmlns:a16="http://schemas.microsoft.com/office/drawing/2014/main" id="{CEC96970-7FBB-45DB-A907-6B61B4817B5B}"/>
              </a:ext>
            </a:extLst>
          </p:cNvPr>
          <p:cNvSpPr/>
          <p:nvPr/>
        </p:nvSpPr>
        <p:spPr>
          <a:xfrm>
            <a:off x="4030572" y="2747711"/>
            <a:ext cx="679032" cy="277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/>
              <a:t>100 µF</a:t>
            </a:r>
          </a:p>
        </p:txBody>
      </p:sp>
      <p:cxnSp>
        <p:nvCxnSpPr>
          <p:cNvPr id="308" name="Verbinder: gewinkelt 307">
            <a:extLst>
              <a:ext uri="{FF2B5EF4-FFF2-40B4-BE49-F238E27FC236}">
                <a16:creationId xmlns:a16="http://schemas.microsoft.com/office/drawing/2014/main" id="{28D9DDE1-127B-4B2C-B1B1-3E4DA6BBA6C9}"/>
              </a:ext>
            </a:extLst>
          </p:cNvPr>
          <p:cNvCxnSpPr>
            <a:cxnSpLocks/>
            <a:stCxn id="306" idx="0"/>
            <a:endCxn id="93" idx="2"/>
          </p:cNvCxnSpPr>
          <p:nvPr/>
        </p:nvCxnSpPr>
        <p:spPr>
          <a:xfrm rot="5400000" flipH="1" flipV="1">
            <a:off x="4881892" y="2136615"/>
            <a:ext cx="99292" cy="11229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Verbinder: gewinkelt 317">
            <a:extLst>
              <a:ext uri="{FF2B5EF4-FFF2-40B4-BE49-F238E27FC236}">
                <a16:creationId xmlns:a16="http://schemas.microsoft.com/office/drawing/2014/main" id="{BBB7BC05-FE2C-4515-87A6-20EE29BE93B5}"/>
              </a:ext>
            </a:extLst>
          </p:cNvPr>
          <p:cNvCxnSpPr>
            <a:stCxn id="306" idx="2"/>
            <a:endCxn id="94" idx="2"/>
          </p:cNvCxnSpPr>
          <p:nvPr/>
        </p:nvCxnSpPr>
        <p:spPr>
          <a:xfrm rot="16200000" flipH="1">
            <a:off x="4892371" y="2502428"/>
            <a:ext cx="105039" cy="11496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Textfeld 318">
            <a:extLst>
              <a:ext uri="{FF2B5EF4-FFF2-40B4-BE49-F238E27FC236}">
                <a16:creationId xmlns:a16="http://schemas.microsoft.com/office/drawing/2014/main" id="{21AC9F00-15DA-471F-B9B0-6DE4A62270D1}"/>
              </a:ext>
            </a:extLst>
          </p:cNvPr>
          <p:cNvSpPr txBox="1"/>
          <p:nvPr/>
        </p:nvSpPr>
        <p:spPr>
          <a:xfrm>
            <a:off x="4122676" y="2479464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+</a:t>
            </a:r>
          </a:p>
        </p:txBody>
      </p:sp>
      <p:sp>
        <p:nvSpPr>
          <p:cNvPr id="320" name="Textfeld 319">
            <a:extLst>
              <a:ext uri="{FF2B5EF4-FFF2-40B4-BE49-F238E27FC236}">
                <a16:creationId xmlns:a16="http://schemas.microsoft.com/office/drawing/2014/main" id="{FB85880A-A197-4D50-86E5-EA8216D0F194}"/>
              </a:ext>
            </a:extLst>
          </p:cNvPr>
          <p:cNvSpPr txBox="1"/>
          <p:nvPr/>
        </p:nvSpPr>
        <p:spPr>
          <a:xfrm>
            <a:off x="4154085" y="2997412"/>
            <a:ext cx="231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-</a:t>
            </a:r>
          </a:p>
        </p:txBody>
      </p:sp>
      <p:grpSp>
        <p:nvGrpSpPr>
          <p:cNvPr id="336" name="Gruppieren 335">
            <a:extLst>
              <a:ext uri="{FF2B5EF4-FFF2-40B4-BE49-F238E27FC236}">
                <a16:creationId xmlns:a16="http://schemas.microsoft.com/office/drawing/2014/main" id="{47DC7F4B-8396-4AE9-9252-1469847461EC}"/>
              </a:ext>
            </a:extLst>
          </p:cNvPr>
          <p:cNvGrpSpPr/>
          <p:nvPr/>
        </p:nvGrpSpPr>
        <p:grpSpPr>
          <a:xfrm>
            <a:off x="729570" y="2033104"/>
            <a:ext cx="2658219" cy="1775740"/>
            <a:chOff x="729570" y="2033104"/>
            <a:chExt cx="2658219" cy="1775740"/>
          </a:xfrm>
        </p:grpSpPr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6D39508-E297-4C32-BDC0-8AEFC925D03B}"/>
                </a:ext>
              </a:extLst>
            </p:cNvPr>
            <p:cNvSpPr txBox="1"/>
            <p:nvPr/>
          </p:nvSpPr>
          <p:spPr>
            <a:xfrm>
              <a:off x="2628112" y="2745084"/>
              <a:ext cx="75693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D10 / TX</a:t>
              </a:r>
              <a:r>
                <a:rPr lang="de-DE" sz="1200"/>
                <a:t> </a:t>
              </a: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2851A96E-A37A-4A2B-8FAF-DF453DDA1185}"/>
                </a:ext>
              </a:extLst>
            </p:cNvPr>
            <p:cNvSpPr txBox="1"/>
            <p:nvPr/>
          </p:nvSpPr>
          <p:spPr>
            <a:xfrm>
              <a:off x="2622836" y="2327147"/>
              <a:ext cx="76495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 / RX</a:t>
              </a:r>
              <a:r>
                <a:rPr lang="de-DE" sz="1200"/>
                <a:t> 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D4EEA753-AE46-41C1-901A-36F444D0EDBA}"/>
                </a:ext>
              </a:extLst>
            </p:cNvPr>
            <p:cNvSpPr txBox="1"/>
            <p:nvPr/>
          </p:nvSpPr>
          <p:spPr>
            <a:xfrm>
              <a:off x="1984762" y="3519516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D7</a:t>
              </a:r>
              <a:r>
                <a:rPr lang="de-DE" sz="1200"/>
                <a:t> 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E025D944-5600-438D-A94D-343A1B94CBAA}"/>
                </a:ext>
              </a:extLst>
            </p:cNvPr>
            <p:cNvSpPr txBox="1"/>
            <p:nvPr/>
          </p:nvSpPr>
          <p:spPr>
            <a:xfrm>
              <a:off x="1174189" y="3520267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D4</a:t>
              </a:r>
              <a:r>
                <a:rPr lang="de-DE" sz="1200"/>
                <a:t> 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B906129C-A6AC-40CF-835E-3B682A763E64}"/>
                </a:ext>
              </a:extLst>
            </p:cNvPr>
            <p:cNvSpPr/>
            <p:nvPr/>
          </p:nvSpPr>
          <p:spPr>
            <a:xfrm>
              <a:off x="1254073" y="2535003"/>
              <a:ext cx="1346200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/>
                <a:t>Arduino</a:t>
              </a:r>
              <a:br>
                <a:rPr lang="de-DE" sz="1600"/>
              </a:br>
              <a:r>
                <a:rPr lang="de-DE" sz="1600"/>
                <a:t>Nano</a:t>
              </a:r>
            </a:p>
          </p:txBody>
        </p: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FE894885-A2BD-4CBB-9D6F-01BB03828C88}"/>
                </a:ext>
              </a:extLst>
            </p:cNvPr>
            <p:cNvCxnSpPr/>
            <p:nvPr/>
          </p:nvCxnSpPr>
          <p:spPr>
            <a:xfrm flipH="1">
              <a:off x="1035480" y="2762833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C5E493A3-9BF5-46A4-9250-A902B1F62F2B}"/>
                </a:ext>
              </a:extLst>
            </p:cNvPr>
            <p:cNvSpPr txBox="1"/>
            <p:nvPr/>
          </p:nvSpPr>
          <p:spPr>
            <a:xfrm>
              <a:off x="777076" y="2352173"/>
              <a:ext cx="4686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</a:t>
              </a:r>
            </a:p>
          </p:txBody>
        </p: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03BB7EED-58E7-422C-9F30-B560A5E657F4}"/>
                </a:ext>
              </a:extLst>
            </p:cNvPr>
            <p:cNvCxnSpPr/>
            <p:nvPr/>
          </p:nvCxnSpPr>
          <p:spPr>
            <a:xfrm flipH="1">
              <a:off x="1035480" y="3233887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050F7774-F9A2-4608-A5F9-14125798BB74}"/>
                </a:ext>
              </a:extLst>
            </p:cNvPr>
            <p:cNvSpPr txBox="1"/>
            <p:nvPr/>
          </p:nvSpPr>
          <p:spPr>
            <a:xfrm>
              <a:off x="729570" y="286448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087F7BC1-CD64-4517-B5C5-12AD5DF71D89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2600273" y="2992203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AF8C1A96-83D5-411E-8AE6-98EA8DDD1EEE}"/>
                </a:ext>
              </a:extLst>
            </p:cNvPr>
            <p:cNvCxnSpPr>
              <a:cxnSpLocks/>
              <a:endCxn id="101" idx="2"/>
            </p:cNvCxnSpPr>
            <p:nvPr/>
          </p:nvCxnSpPr>
          <p:spPr>
            <a:xfrm flipV="1">
              <a:off x="2595067" y="2658104"/>
              <a:ext cx="303967" cy="581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EE16608A-5030-4E4A-BA6B-F881CA6D04B6}"/>
                </a:ext>
              </a:extLst>
            </p:cNvPr>
            <p:cNvCxnSpPr>
              <a:cxnSpLocks/>
              <a:endCxn id="95" idx="0"/>
            </p:cNvCxnSpPr>
            <p:nvPr/>
          </p:nvCxnSpPr>
          <p:spPr>
            <a:xfrm>
              <a:off x="1588664" y="3457287"/>
              <a:ext cx="1453" cy="1749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A8FF85C9-CEE2-476B-A099-B5AB46FB7EE6}"/>
                </a:ext>
              </a:extLst>
            </p:cNvPr>
            <p:cNvCxnSpPr>
              <a:cxnSpLocks/>
              <a:endCxn id="96" idx="0"/>
            </p:cNvCxnSpPr>
            <p:nvPr/>
          </p:nvCxnSpPr>
          <p:spPr>
            <a:xfrm>
              <a:off x="2333660" y="3457287"/>
              <a:ext cx="0" cy="1749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482C2D5F-6B6B-4BBD-9285-E7143BA87DA4}"/>
                </a:ext>
              </a:extLst>
            </p:cNvPr>
            <p:cNvSpPr txBox="1"/>
            <p:nvPr/>
          </p:nvSpPr>
          <p:spPr>
            <a:xfrm>
              <a:off x="1738052" y="3501067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95" name="Ellipse 94">
              <a:extLst>
                <a:ext uri="{FF2B5EF4-FFF2-40B4-BE49-F238E27FC236}">
                  <a16:creationId xmlns:a16="http://schemas.microsoft.com/office/drawing/2014/main" id="{08074963-E126-42BD-8186-1C76C321D90F}"/>
                </a:ext>
              </a:extLst>
            </p:cNvPr>
            <p:cNvSpPr/>
            <p:nvPr/>
          </p:nvSpPr>
          <p:spPr>
            <a:xfrm>
              <a:off x="1547517" y="3632233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Ellipse 95">
              <a:extLst>
                <a:ext uri="{FF2B5EF4-FFF2-40B4-BE49-F238E27FC236}">
                  <a16:creationId xmlns:a16="http://schemas.microsoft.com/office/drawing/2014/main" id="{7A66574B-C055-48D7-A0BF-1C42C07D6071}"/>
                </a:ext>
              </a:extLst>
            </p:cNvPr>
            <p:cNvSpPr/>
            <p:nvPr/>
          </p:nvSpPr>
          <p:spPr>
            <a:xfrm>
              <a:off x="2291060" y="3632232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7" name="Ellipse 96">
              <a:extLst>
                <a:ext uri="{FF2B5EF4-FFF2-40B4-BE49-F238E27FC236}">
                  <a16:creationId xmlns:a16="http://schemas.microsoft.com/office/drawing/2014/main" id="{DD28C4E0-27C9-4290-BD2A-6B18B1E12218}"/>
                </a:ext>
              </a:extLst>
            </p:cNvPr>
            <p:cNvSpPr/>
            <p:nvPr/>
          </p:nvSpPr>
          <p:spPr>
            <a:xfrm>
              <a:off x="1015981" y="2716464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Ellipse 99">
              <a:extLst>
                <a:ext uri="{FF2B5EF4-FFF2-40B4-BE49-F238E27FC236}">
                  <a16:creationId xmlns:a16="http://schemas.microsoft.com/office/drawing/2014/main" id="{67566C98-72BD-412F-95BA-C12E835B11B4}"/>
                </a:ext>
              </a:extLst>
            </p:cNvPr>
            <p:cNvSpPr/>
            <p:nvPr/>
          </p:nvSpPr>
          <p:spPr>
            <a:xfrm>
              <a:off x="1002345" y="3189582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1" name="Ellipse 100">
              <a:extLst>
                <a:ext uri="{FF2B5EF4-FFF2-40B4-BE49-F238E27FC236}">
                  <a16:creationId xmlns:a16="http://schemas.microsoft.com/office/drawing/2014/main" id="{4AD483CC-E77D-484F-91C7-D3B56666D463}"/>
                </a:ext>
              </a:extLst>
            </p:cNvPr>
            <p:cNvSpPr/>
            <p:nvPr/>
          </p:nvSpPr>
          <p:spPr>
            <a:xfrm>
              <a:off x="2899034" y="2617112"/>
              <a:ext cx="85199" cy="8198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" name="Ellipse 101">
              <a:extLst>
                <a:ext uri="{FF2B5EF4-FFF2-40B4-BE49-F238E27FC236}">
                  <a16:creationId xmlns:a16="http://schemas.microsoft.com/office/drawing/2014/main" id="{F96FFF88-BD28-4C50-9411-2E0AE868BE3D}"/>
                </a:ext>
              </a:extLst>
            </p:cNvPr>
            <p:cNvSpPr/>
            <p:nvPr/>
          </p:nvSpPr>
          <p:spPr>
            <a:xfrm>
              <a:off x="2885994" y="2943992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6" name="Textfeld 205">
              <a:extLst>
                <a:ext uri="{FF2B5EF4-FFF2-40B4-BE49-F238E27FC236}">
                  <a16:creationId xmlns:a16="http://schemas.microsoft.com/office/drawing/2014/main" id="{49A3AAE3-B993-4D1B-AFFC-4ABEA9ED7303}"/>
                </a:ext>
              </a:extLst>
            </p:cNvPr>
            <p:cNvSpPr txBox="1"/>
            <p:nvPr/>
          </p:nvSpPr>
          <p:spPr>
            <a:xfrm>
              <a:off x="1900037" y="2051553"/>
              <a:ext cx="47160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</a:t>
              </a:r>
              <a:r>
                <a:rPr lang="de-DE" sz="1200"/>
                <a:t> </a:t>
              </a:r>
            </a:p>
          </p:txBody>
        </p:sp>
        <p:sp>
          <p:nvSpPr>
            <p:cNvPr id="207" name="Textfeld 206">
              <a:extLst>
                <a:ext uri="{FF2B5EF4-FFF2-40B4-BE49-F238E27FC236}">
                  <a16:creationId xmlns:a16="http://schemas.microsoft.com/office/drawing/2014/main" id="{D893886B-D454-47AE-8829-C833FD56F0E0}"/>
                </a:ext>
              </a:extLst>
            </p:cNvPr>
            <p:cNvSpPr txBox="1"/>
            <p:nvPr/>
          </p:nvSpPr>
          <p:spPr>
            <a:xfrm>
              <a:off x="1136277" y="2072824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D8</a:t>
              </a:r>
              <a:r>
                <a:rPr lang="de-DE" sz="1200"/>
                <a:t> </a:t>
              </a:r>
            </a:p>
          </p:txBody>
        </p:sp>
        <p:cxnSp>
          <p:nvCxnSpPr>
            <p:cNvPr id="208" name="Gerader Verbinder 207">
              <a:extLst>
                <a:ext uri="{FF2B5EF4-FFF2-40B4-BE49-F238E27FC236}">
                  <a16:creationId xmlns:a16="http://schemas.microsoft.com/office/drawing/2014/main" id="{662CD42B-8B20-4E84-AC61-C4D55DC88046}"/>
                </a:ext>
              </a:extLst>
            </p:cNvPr>
            <p:cNvCxnSpPr>
              <a:cxnSpLocks/>
              <a:endCxn id="211" idx="4"/>
            </p:cNvCxnSpPr>
            <p:nvPr/>
          </p:nvCxnSpPr>
          <p:spPr>
            <a:xfrm flipV="1">
              <a:off x="1585347" y="2252997"/>
              <a:ext cx="5770" cy="2715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Gerader Verbinder 208">
              <a:extLst>
                <a:ext uri="{FF2B5EF4-FFF2-40B4-BE49-F238E27FC236}">
                  <a16:creationId xmlns:a16="http://schemas.microsoft.com/office/drawing/2014/main" id="{FFC0A241-2F62-4BA9-9840-5B9D6D4A13FA}"/>
                </a:ext>
              </a:extLst>
            </p:cNvPr>
            <p:cNvCxnSpPr>
              <a:cxnSpLocks/>
              <a:endCxn id="212" idx="4"/>
            </p:cNvCxnSpPr>
            <p:nvPr/>
          </p:nvCxnSpPr>
          <p:spPr>
            <a:xfrm flipV="1">
              <a:off x="2341010" y="2252996"/>
              <a:ext cx="0" cy="27155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Textfeld 209">
              <a:extLst>
                <a:ext uri="{FF2B5EF4-FFF2-40B4-BE49-F238E27FC236}">
                  <a16:creationId xmlns:a16="http://schemas.microsoft.com/office/drawing/2014/main" id="{B73E630E-E72C-40FC-9299-E28436AFD6E9}"/>
                </a:ext>
              </a:extLst>
            </p:cNvPr>
            <p:cNvSpPr txBox="1"/>
            <p:nvPr/>
          </p:nvSpPr>
          <p:spPr>
            <a:xfrm>
              <a:off x="1723177" y="2033104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11" name="Ellipse 210">
              <a:extLst>
                <a:ext uri="{FF2B5EF4-FFF2-40B4-BE49-F238E27FC236}">
                  <a16:creationId xmlns:a16="http://schemas.microsoft.com/office/drawing/2014/main" id="{A6CA02AB-1B75-47F4-AD77-157BE9DE952B}"/>
                </a:ext>
              </a:extLst>
            </p:cNvPr>
            <p:cNvSpPr/>
            <p:nvPr/>
          </p:nvSpPr>
          <p:spPr>
            <a:xfrm>
              <a:off x="1548517" y="2164270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2" name="Ellipse 211">
              <a:extLst>
                <a:ext uri="{FF2B5EF4-FFF2-40B4-BE49-F238E27FC236}">
                  <a16:creationId xmlns:a16="http://schemas.microsoft.com/office/drawing/2014/main" id="{CE9108AA-25BD-457C-A277-0EE3D1DD8A7A}"/>
                </a:ext>
              </a:extLst>
            </p:cNvPr>
            <p:cNvSpPr/>
            <p:nvPr/>
          </p:nvSpPr>
          <p:spPr>
            <a:xfrm>
              <a:off x="2298410" y="2164269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2" name="Textfeld 321">
              <a:extLst>
                <a:ext uri="{FF2B5EF4-FFF2-40B4-BE49-F238E27FC236}">
                  <a16:creationId xmlns:a16="http://schemas.microsoft.com/office/drawing/2014/main" id="{A3A74BC2-0CE3-4B79-B163-B4749BAD708B}"/>
                </a:ext>
              </a:extLst>
            </p:cNvPr>
            <p:cNvSpPr txBox="1"/>
            <p:nvPr/>
          </p:nvSpPr>
          <p:spPr>
            <a:xfrm>
              <a:off x="2628111" y="3101958"/>
              <a:ext cx="38824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A0</a:t>
              </a:r>
              <a:r>
                <a:rPr lang="de-DE" sz="1200"/>
                <a:t> </a:t>
              </a:r>
            </a:p>
          </p:txBody>
        </p:sp>
        <p:cxnSp>
          <p:nvCxnSpPr>
            <p:cNvPr id="323" name="Gerader Verbinder 322">
              <a:extLst>
                <a:ext uri="{FF2B5EF4-FFF2-40B4-BE49-F238E27FC236}">
                  <a16:creationId xmlns:a16="http://schemas.microsoft.com/office/drawing/2014/main" id="{1BA75F45-BD57-4212-8969-304C91EE45C1}"/>
                </a:ext>
              </a:extLst>
            </p:cNvPr>
            <p:cNvCxnSpPr>
              <a:cxnSpLocks/>
            </p:cNvCxnSpPr>
            <p:nvPr/>
          </p:nvCxnSpPr>
          <p:spPr>
            <a:xfrm>
              <a:off x="2600272" y="3349077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4" name="Ellipse 323">
              <a:extLst>
                <a:ext uri="{FF2B5EF4-FFF2-40B4-BE49-F238E27FC236}">
                  <a16:creationId xmlns:a16="http://schemas.microsoft.com/office/drawing/2014/main" id="{B5D1ABBC-BC7B-4E8C-99F7-B4A9D3DC1DD8}"/>
                </a:ext>
              </a:extLst>
            </p:cNvPr>
            <p:cNvSpPr/>
            <p:nvPr/>
          </p:nvSpPr>
          <p:spPr>
            <a:xfrm>
              <a:off x="2885993" y="3300866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47" name="Gruppieren 346">
            <a:extLst>
              <a:ext uri="{FF2B5EF4-FFF2-40B4-BE49-F238E27FC236}">
                <a16:creationId xmlns:a16="http://schemas.microsoft.com/office/drawing/2014/main" id="{4C6AA164-59D1-4F45-8621-C1D8CA2D1A88}"/>
              </a:ext>
            </a:extLst>
          </p:cNvPr>
          <p:cNvGrpSpPr/>
          <p:nvPr/>
        </p:nvGrpSpPr>
        <p:grpSpPr>
          <a:xfrm>
            <a:off x="4172378" y="4709817"/>
            <a:ext cx="1611124" cy="1094811"/>
            <a:chOff x="4172378" y="4709817"/>
            <a:chExt cx="1611124" cy="1094811"/>
          </a:xfrm>
        </p:grpSpPr>
        <p:sp>
          <p:nvSpPr>
            <p:cNvPr id="326" name="Ellipse 325">
              <a:extLst>
                <a:ext uri="{FF2B5EF4-FFF2-40B4-BE49-F238E27FC236}">
                  <a16:creationId xmlns:a16="http://schemas.microsoft.com/office/drawing/2014/main" id="{065E33F6-A88C-4C0A-BF54-1C216B5C9C71}"/>
                </a:ext>
              </a:extLst>
            </p:cNvPr>
            <p:cNvSpPr/>
            <p:nvPr/>
          </p:nvSpPr>
          <p:spPr>
            <a:xfrm>
              <a:off x="4869102" y="4890228"/>
              <a:ext cx="914400" cy="914400"/>
            </a:xfrm>
            <a:prstGeom prst="ellipse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Poti</a:t>
              </a:r>
            </a:p>
          </p:txBody>
        </p:sp>
        <p:cxnSp>
          <p:nvCxnSpPr>
            <p:cNvPr id="327" name="Gerader Verbinder 326">
              <a:extLst>
                <a:ext uri="{FF2B5EF4-FFF2-40B4-BE49-F238E27FC236}">
                  <a16:creationId xmlns:a16="http://schemas.microsoft.com/office/drawing/2014/main" id="{00785E56-19A1-4BE9-AB85-0CE4281096C8}"/>
                </a:ext>
              </a:extLst>
            </p:cNvPr>
            <p:cNvCxnSpPr>
              <a:cxnSpLocks/>
              <a:stCxn id="326" idx="1"/>
              <a:endCxn id="331" idx="6"/>
            </p:cNvCxnSpPr>
            <p:nvPr/>
          </p:nvCxnSpPr>
          <p:spPr>
            <a:xfrm flipH="1">
              <a:off x="4680427" y="5024139"/>
              <a:ext cx="322586" cy="164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Textfeld 327">
              <a:extLst>
                <a:ext uri="{FF2B5EF4-FFF2-40B4-BE49-F238E27FC236}">
                  <a16:creationId xmlns:a16="http://schemas.microsoft.com/office/drawing/2014/main" id="{B7BFAC0D-9B4E-4F83-9BC8-B1FF09ECA83D}"/>
                </a:ext>
              </a:extLst>
            </p:cNvPr>
            <p:cNvSpPr txBox="1"/>
            <p:nvPr/>
          </p:nvSpPr>
          <p:spPr>
            <a:xfrm>
              <a:off x="4172378" y="4709817"/>
              <a:ext cx="8133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 Pin 1</a:t>
              </a:r>
              <a:r>
                <a:rPr lang="de-DE" sz="1200"/>
                <a:t> </a:t>
              </a:r>
            </a:p>
          </p:txBody>
        </p:sp>
        <p:cxnSp>
          <p:nvCxnSpPr>
            <p:cNvPr id="329" name="Gerader Verbinder 328">
              <a:extLst>
                <a:ext uri="{FF2B5EF4-FFF2-40B4-BE49-F238E27FC236}">
                  <a16:creationId xmlns:a16="http://schemas.microsoft.com/office/drawing/2014/main" id="{9ACB7ACA-2389-4DBE-A015-D25E6945BE1D}"/>
                </a:ext>
              </a:extLst>
            </p:cNvPr>
            <p:cNvCxnSpPr>
              <a:cxnSpLocks/>
              <a:stCxn id="326" idx="3"/>
              <a:endCxn id="332" idx="6"/>
            </p:cNvCxnSpPr>
            <p:nvPr/>
          </p:nvCxnSpPr>
          <p:spPr>
            <a:xfrm flipH="1" flipV="1">
              <a:off x="4682341" y="5669845"/>
              <a:ext cx="320672" cy="87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Textfeld 329">
              <a:extLst>
                <a:ext uri="{FF2B5EF4-FFF2-40B4-BE49-F238E27FC236}">
                  <a16:creationId xmlns:a16="http://schemas.microsoft.com/office/drawing/2014/main" id="{F4A4E4D2-BD06-43BF-AF9C-2543CB85A178}"/>
                </a:ext>
              </a:extLst>
            </p:cNvPr>
            <p:cNvSpPr txBox="1"/>
            <p:nvPr/>
          </p:nvSpPr>
          <p:spPr>
            <a:xfrm>
              <a:off x="4172378" y="538276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3</a:t>
              </a:r>
            </a:p>
          </p:txBody>
        </p:sp>
        <p:sp>
          <p:nvSpPr>
            <p:cNvPr id="331" name="Ellipse 330">
              <a:extLst>
                <a:ext uri="{FF2B5EF4-FFF2-40B4-BE49-F238E27FC236}">
                  <a16:creationId xmlns:a16="http://schemas.microsoft.com/office/drawing/2014/main" id="{295C72DC-08B7-4BA9-B08B-29F31FAE68E3}"/>
                </a:ext>
              </a:extLst>
            </p:cNvPr>
            <p:cNvSpPr/>
            <p:nvPr/>
          </p:nvSpPr>
          <p:spPr>
            <a:xfrm>
              <a:off x="4595228" y="4986816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2" name="Ellipse 331">
              <a:extLst>
                <a:ext uri="{FF2B5EF4-FFF2-40B4-BE49-F238E27FC236}">
                  <a16:creationId xmlns:a16="http://schemas.microsoft.com/office/drawing/2014/main" id="{E648B3A5-3E7D-429B-9474-2FE3EBA1FA84}"/>
                </a:ext>
              </a:extLst>
            </p:cNvPr>
            <p:cNvSpPr/>
            <p:nvPr/>
          </p:nvSpPr>
          <p:spPr>
            <a:xfrm>
              <a:off x="4597142" y="5624724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3" name="Textfeld 332">
              <a:extLst>
                <a:ext uri="{FF2B5EF4-FFF2-40B4-BE49-F238E27FC236}">
                  <a16:creationId xmlns:a16="http://schemas.microsoft.com/office/drawing/2014/main" id="{53921D51-8FE7-4BB8-9601-0880487CE194}"/>
                </a:ext>
              </a:extLst>
            </p:cNvPr>
            <p:cNvSpPr txBox="1"/>
            <p:nvPr/>
          </p:nvSpPr>
          <p:spPr>
            <a:xfrm>
              <a:off x="4172378" y="5046289"/>
              <a:ext cx="5293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Pin 2</a:t>
              </a:r>
              <a:r>
                <a:rPr lang="de-DE" sz="1200"/>
                <a:t> </a:t>
              </a:r>
            </a:p>
          </p:txBody>
        </p:sp>
        <p:cxnSp>
          <p:nvCxnSpPr>
            <p:cNvPr id="334" name="Gerader Verbinder 333">
              <a:extLst>
                <a:ext uri="{FF2B5EF4-FFF2-40B4-BE49-F238E27FC236}">
                  <a16:creationId xmlns:a16="http://schemas.microsoft.com/office/drawing/2014/main" id="{3810B3C6-F4C8-4771-848D-CC2B4F3148F5}"/>
                </a:ext>
              </a:extLst>
            </p:cNvPr>
            <p:cNvCxnSpPr>
              <a:cxnSpLocks/>
              <a:stCxn id="335" idx="6"/>
              <a:endCxn id="326" idx="2"/>
            </p:cNvCxnSpPr>
            <p:nvPr/>
          </p:nvCxnSpPr>
          <p:spPr>
            <a:xfrm>
              <a:off x="4680428" y="5345946"/>
              <a:ext cx="188674" cy="148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5" name="Ellipse 334">
              <a:extLst>
                <a:ext uri="{FF2B5EF4-FFF2-40B4-BE49-F238E27FC236}">
                  <a16:creationId xmlns:a16="http://schemas.microsoft.com/office/drawing/2014/main" id="{F0A16E9B-808D-44A5-9E0E-0A63D34CF206}"/>
                </a:ext>
              </a:extLst>
            </p:cNvPr>
            <p:cNvSpPr/>
            <p:nvPr/>
          </p:nvSpPr>
          <p:spPr>
            <a:xfrm>
              <a:off x="4595229" y="5303371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48" name="Verbinder: gewinkelt 347">
            <a:extLst>
              <a:ext uri="{FF2B5EF4-FFF2-40B4-BE49-F238E27FC236}">
                <a16:creationId xmlns:a16="http://schemas.microsoft.com/office/drawing/2014/main" id="{EF0E6040-2840-4EFA-938A-3D4603FB882B}"/>
              </a:ext>
            </a:extLst>
          </p:cNvPr>
          <p:cNvCxnSpPr>
            <a:cxnSpLocks/>
            <a:stCxn id="324" idx="6"/>
            <a:endCxn id="335" idx="2"/>
          </p:cNvCxnSpPr>
          <p:nvPr/>
        </p:nvCxnSpPr>
        <p:spPr>
          <a:xfrm>
            <a:off x="2971192" y="3343441"/>
            <a:ext cx="1624037" cy="2002505"/>
          </a:xfrm>
          <a:prstGeom prst="bentConnector3">
            <a:avLst>
              <a:gd name="adj1" fmla="val 18329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Ellipse 358">
            <a:extLst>
              <a:ext uri="{FF2B5EF4-FFF2-40B4-BE49-F238E27FC236}">
                <a16:creationId xmlns:a16="http://schemas.microsoft.com/office/drawing/2014/main" id="{703E9BD2-2A04-4590-A200-E9F45ED8EDFF}"/>
              </a:ext>
            </a:extLst>
          </p:cNvPr>
          <p:cNvSpPr/>
          <p:nvPr/>
        </p:nvSpPr>
        <p:spPr>
          <a:xfrm>
            <a:off x="7447513" y="5139995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0" name="Ellipse 359">
            <a:extLst>
              <a:ext uri="{FF2B5EF4-FFF2-40B4-BE49-F238E27FC236}">
                <a16:creationId xmlns:a16="http://schemas.microsoft.com/office/drawing/2014/main" id="{8D1C5D33-F12C-4A56-9449-B1DED8CA86C4}"/>
              </a:ext>
            </a:extLst>
          </p:cNvPr>
          <p:cNvSpPr/>
          <p:nvPr/>
        </p:nvSpPr>
        <p:spPr>
          <a:xfrm>
            <a:off x="7447513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63" name="Verbinder: gewinkelt 294">
            <a:extLst>
              <a:ext uri="{FF2B5EF4-FFF2-40B4-BE49-F238E27FC236}">
                <a16:creationId xmlns:a16="http://schemas.microsoft.com/office/drawing/2014/main" id="{FD990FEE-FBFA-49F4-A28C-F08116880F56}"/>
              </a:ext>
            </a:extLst>
          </p:cNvPr>
          <p:cNvCxnSpPr>
            <a:cxnSpLocks/>
            <a:stCxn id="150" idx="2"/>
            <a:endCxn id="362" idx="6"/>
          </p:cNvCxnSpPr>
          <p:nvPr/>
        </p:nvCxnSpPr>
        <p:spPr>
          <a:xfrm flipH="1" flipV="1">
            <a:off x="8092796" y="5184000"/>
            <a:ext cx="374437" cy="29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Verbinder: gewinkelt 294">
            <a:extLst>
              <a:ext uri="{FF2B5EF4-FFF2-40B4-BE49-F238E27FC236}">
                <a16:creationId xmlns:a16="http://schemas.microsoft.com/office/drawing/2014/main" id="{3FDBB713-6CC0-4476-8FC2-1D83E9AB4099}"/>
              </a:ext>
            </a:extLst>
          </p:cNvPr>
          <p:cNvCxnSpPr>
            <a:cxnSpLocks/>
            <a:stCxn id="151" idx="2"/>
            <a:endCxn id="360" idx="6"/>
          </p:cNvCxnSpPr>
          <p:nvPr/>
        </p:nvCxnSpPr>
        <p:spPr>
          <a:xfrm flipH="1">
            <a:off x="7532712" y="5632767"/>
            <a:ext cx="931159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Verbinder: gewinkelt 294">
            <a:extLst>
              <a:ext uri="{FF2B5EF4-FFF2-40B4-BE49-F238E27FC236}">
                <a16:creationId xmlns:a16="http://schemas.microsoft.com/office/drawing/2014/main" id="{0CCAC25F-FC2C-4D9D-AAAA-4A772E8A589C}"/>
              </a:ext>
            </a:extLst>
          </p:cNvPr>
          <p:cNvCxnSpPr>
            <a:cxnSpLocks/>
            <a:stCxn id="358" idx="2"/>
            <a:endCxn id="359" idx="6"/>
          </p:cNvCxnSpPr>
          <p:nvPr/>
        </p:nvCxnSpPr>
        <p:spPr>
          <a:xfrm flipH="1">
            <a:off x="7532712" y="5184000"/>
            <a:ext cx="219886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0" name="Gruppieren 379">
            <a:extLst>
              <a:ext uri="{FF2B5EF4-FFF2-40B4-BE49-F238E27FC236}">
                <a16:creationId xmlns:a16="http://schemas.microsoft.com/office/drawing/2014/main" id="{CB27B1ED-6FE1-44AA-8B9C-F2ACCADF34D8}"/>
              </a:ext>
            </a:extLst>
          </p:cNvPr>
          <p:cNvGrpSpPr/>
          <p:nvPr/>
        </p:nvGrpSpPr>
        <p:grpSpPr>
          <a:xfrm>
            <a:off x="7549971" y="4626042"/>
            <a:ext cx="763104" cy="601962"/>
            <a:chOff x="7549971" y="4626042"/>
            <a:chExt cx="763104" cy="601962"/>
          </a:xfrm>
        </p:grpSpPr>
        <p:sp>
          <p:nvSpPr>
            <p:cNvPr id="358" name="Ellipse 357">
              <a:extLst>
                <a:ext uri="{FF2B5EF4-FFF2-40B4-BE49-F238E27FC236}">
                  <a16:creationId xmlns:a16="http://schemas.microsoft.com/office/drawing/2014/main" id="{387CF006-6B21-4E4D-A0FC-3C33DCB1E6E7}"/>
                </a:ext>
              </a:extLst>
            </p:cNvPr>
            <p:cNvSpPr/>
            <p:nvPr/>
          </p:nvSpPr>
          <p:spPr>
            <a:xfrm>
              <a:off x="7752598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2" name="Ellipse 361">
              <a:extLst>
                <a:ext uri="{FF2B5EF4-FFF2-40B4-BE49-F238E27FC236}">
                  <a16:creationId xmlns:a16="http://schemas.microsoft.com/office/drawing/2014/main" id="{DC0BF55A-2EC3-4E68-A56E-FC9B07F383AE}"/>
                </a:ext>
              </a:extLst>
            </p:cNvPr>
            <p:cNvSpPr/>
            <p:nvPr/>
          </p:nvSpPr>
          <p:spPr>
            <a:xfrm>
              <a:off x="8007597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75" name="Gerader Verbinder 374">
              <a:extLst>
                <a:ext uri="{FF2B5EF4-FFF2-40B4-BE49-F238E27FC236}">
                  <a16:creationId xmlns:a16="http://schemas.microsoft.com/office/drawing/2014/main" id="{D623168F-A839-4070-8CA2-D53AD40258BC}"/>
                </a:ext>
              </a:extLst>
            </p:cNvPr>
            <p:cNvCxnSpPr>
              <a:cxnSpLocks/>
              <a:stCxn id="358" idx="0"/>
            </p:cNvCxnSpPr>
            <p:nvPr/>
          </p:nvCxnSpPr>
          <p:spPr>
            <a:xfrm flipV="1">
              <a:off x="7795198" y="5012093"/>
              <a:ext cx="0" cy="12790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Gerader Verbinder 376">
              <a:extLst>
                <a:ext uri="{FF2B5EF4-FFF2-40B4-BE49-F238E27FC236}">
                  <a16:creationId xmlns:a16="http://schemas.microsoft.com/office/drawing/2014/main" id="{EC44BB48-2BF4-434B-8424-65A6D3DBCB82}"/>
                </a:ext>
              </a:extLst>
            </p:cNvPr>
            <p:cNvCxnSpPr>
              <a:cxnSpLocks/>
              <a:stCxn id="362" idx="0"/>
            </p:cNvCxnSpPr>
            <p:nvPr/>
          </p:nvCxnSpPr>
          <p:spPr>
            <a:xfrm flipH="1" flipV="1">
              <a:off x="8049181" y="5020837"/>
              <a:ext cx="1016" cy="1191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9" name="Rechteck 378">
              <a:extLst>
                <a:ext uri="{FF2B5EF4-FFF2-40B4-BE49-F238E27FC236}">
                  <a16:creationId xmlns:a16="http://schemas.microsoft.com/office/drawing/2014/main" id="{F6243A8B-7E8A-43FC-B096-4B27F201CEF3}"/>
                </a:ext>
              </a:extLst>
            </p:cNvPr>
            <p:cNvSpPr/>
            <p:nvPr/>
          </p:nvSpPr>
          <p:spPr>
            <a:xfrm>
              <a:off x="7549971" y="4626042"/>
              <a:ext cx="763104" cy="41498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Master</a:t>
              </a:r>
              <a:br>
                <a:rPr lang="de-DE" sz="1200"/>
              </a:br>
              <a:r>
                <a:rPr lang="de-DE" sz="1200"/>
                <a:t>Switch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7756956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62034-4B99-4FAA-9082-76DDC4D69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DB6185-5C8D-4C25-B749-1BFE3E8F7523}"/>
              </a:ext>
            </a:extLst>
          </p:cNvPr>
          <p:cNvSpPr txBox="1"/>
          <p:nvPr/>
        </p:nvSpPr>
        <p:spPr>
          <a:xfrm>
            <a:off x="781049" y="1806059"/>
            <a:ext cx="852381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>
                <a:hlinkClick r:id="rId2"/>
              </a:rPr>
              <a:t>https://wokwi.com/projects/474422651455561729</a:t>
            </a:r>
            <a:endParaRPr lang="de-DE"/>
          </a:p>
          <a:p>
            <a:endParaRPr lang="de-DE"/>
          </a:p>
          <a:p>
            <a:r>
              <a:rPr lang="de-DE"/>
              <a:t>https://wolles-elektronikkiste.de/dfplayer-mini-ansteuerung-mit-dem-arduino</a:t>
            </a:r>
          </a:p>
        </p:txBody>
      </p:sp>
    </p:spTree>
    <p:extLst>
      <p:ext uri="{BB962C8B-B14F-4D97-AF65-F5344CB8AC3E}">
        <p14:creationId xmlns:p14="http://schemas.microsoft.com/office/powerpoint/2010/main" val="149416648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80FA28-BAE6-4310-B71D-2A4A518EE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04BE294-D68C-4EB3-A08D-4CB9E67838FD}"/>
              </a:ext>
            </a:extLst>
          </p:cNvPr>
          <p:cNvSpPr txBox="1"/>
          <p:nvPr/>
        </p:nvSpPr>
        <p:spPr>
          <a:xfrm>
            <a:off x="3048000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https://sonniss.com/category/sound-libraries/bundles/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B493343-5C6C-4E8A-BB1A-543A3D8AD3EA}"/>
              </a:ext>
            </a:extLst>
          </p:cNvPr>
          <p:cNvSpPr txBox="1"/>
          <p:nvPr/>
        </p:nvSpPr>
        <p:spPr>
          <a:xfrm>
            <a:off x="3208867" y="15171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https://sfxr.me/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EAF9DB3F-BF2A-475E-8432-1FB2D8E9EE9A}"/>
              </a:ext>
            </a:extLst>
          </p:cNvPr>
          <p:cNvSpPr txBox="1"/>
          <p:nvPr/>
        </p:nvSpPr>
        <p:spPr>
          <a:xfrm>
            <a:off x="2937933" y="191873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https://www.myinstants.com/en/search/?name=pacman</a:t>
            </a:r>
          </a:p>
        </p:txBody>
      </p:sp>
    </p:spTree>
    <p:extLst>
      <p:ext uri="{BB962C8B-B14F-4D97-AF65-F5344CB8AC3E}">
        <p14:creationId xmlns:p14="http://schemas.microsoft.com/office/powerpoint/2010/main" val="383846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3088</Words>
  <Application>Microsoft Office PowerPoint</Application>
  <PresentationFormat>Breitbild</PresentationFormat>
  <Paragraphs>1055</Paragraphs>
  <Slides>46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46</vt:i4>
      </vt:variant>
    </vt:vector>
  </HeadingPairs>
  <TitlesOfParts>
    <vt:vector size="55" baseType="lpstr">
      <vt:lpstr>Amazon Ember</vt:lpstr>
      <vt:lpstr>Arial</vt:lpstr>
      <vt:lpstr>Calibri</vt:lpstr>
      <vt:lpstr>Consolas</vt:lpstr>
      <vt:lpstr>Google Sans</vt:lpstr>
      <vt:lpstr>Henny Penny</vt:lpstr>
      <vt:lpstr>Milkyway DEMO</vt:lpstr>
      <vt:lpstr>Symbol</vt:lpstr>
      <vt:lpstr>Office</vt:lpstr>
      <vt:lpstr>Activity Board</vt:lpstr>
      <vt:lpstr>Activity Board Übersicht</vt:lpstr>
      <vt:lpstr>Standard Specifications</vt:lpstr>
      <vt:lpstr>Standard Layout Gadget</vt:lpstr>
      <vt:lpstr>Activity Bus Board</vt:lpstr>
      <vt:lpstr>Activity Bus Board</vt:lpstr>
      <vt:lpstr>Connecting Periphericals and Gadgets via Activity Bus Board</vt:lpstr>
      <vt:lpstr>Power Supply Board</vt:lpstr>
      <vt:lpstr>Power Supply Board</vt:lpstr>
      <vt:lpstr>Power Board Panel Laser Template Controls</vt:lpstr>
      <vt:lpstr>Power Board Panel Laser Template Labels</vt:lpstr>
      <vt:lpstr>Power Board Panel Laser Template Frame</vt:lpstr>
      <vt:lpstr>Sound Module</vt:lpstr>
      <vt:lpstr>Sound Module</vt:lpstr>
      <vt:lpstr>PowerPoint-Präsentation</vt:lpstr>
      <vt:lpstr>Numpad Module</vt:lpstr>
      <vt:lpstr>Numpad Module</vt:lpstr>
      <vt:lpstr>Display Module</vt:lpstr>
      <vt:lpstr>Display Module</vt:lpstr>
      <vt:lpstr>PowerPoint-Präsentation</vt:lpstr>
      <vt:lpstr>SD Modul</vt:lpstr>
      <vt:lpstr>Pegel Wandler</vt:lpstr>
      <vt:lpstr>PCF8574 Masterselect</vt:lpstr>
      <vt:lpstr>PowerPoint-Präsentation</vt:lpstr>
      <vt:lpstr>Backlight Pin (BL)</vt:lpstr>
      <vt:lpstr>Datenleitungen schützen</vt:lpstr>
      <vt:lpstr>Datenleitungen schützen</vt:lpstr>
      <vt:lpstr>Lingo Bingo</vt:lpstr>
      <vt:lpstr>Lingo Bingo Gadget</vt:lpstr>
      <vt:lpstr>Lingo Bingo Controls</vt:lpstr>
      <vt:lpstr>Lingo Bingo Frame</vt:lpstr>
      <vt:lpstr>PowerPoint-Präsentation</vt:lpstr>
      <vt:lpstr>Storybook</vt:lpstr>
      <vt:lpstr>Storybook Gadget</vt:lpstr>
      <vt:lpstr>PowerPoint-Präsentation</vt:lpstr>
      <vt:lpstr>SD Modul</vt:lpstr>
      <vt:lpstr>Pegel Wandler</vt:lpstr>
      <vt:lpstr>PowerPoint-Präsentation</vt:lpstr>
      <vt:lpstr>extras</vt:lpstr>
      <vt:lpstr>PowerPoint-Präsentation</vt:lpstr>
      <vt:lpstr>SD Modul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Soundboard</dc:title>
  <dc:creator>sigi jeske</dc:creator>
  <cp:lastModifiedBy>sigi jeske</cp:lastModifiedBy>
  <cp:revision>416</cp:revision>
  <cp:lastPrinted>2026-10-01T17:34:18Z</cp:lastPrinted>
  <dcterms:created xsi:type="dcterms:W3CDTF">2026-09-05T16:43:31Z</dcterms:created>
  <dcterms:modified xsi:type="dcterms:W3CDTF">2026-10-08T14:17:24Z</dcterms:modified>
</cp:coreProperties>
</file>